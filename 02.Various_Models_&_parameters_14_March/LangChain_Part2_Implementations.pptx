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770BD626-B68B-45DE-B7CF-46FD7D324EBD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5E40F0C-9252-41C0-B41E-E51F85DAEBE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359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EAD335D-4F7E-4C4B-AAE4-B1829DB6760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059E17A-6415-4A56-9ED4-9E81EB7FF68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A80422-64C4-4ADB-9E4A-7139715D02A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CC50BF-E50E-4084-98FA-21F8771A695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9DBA72-7FF6-4FE6-B5A2-24CA6B3A2AE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E4BF324-9AD2-4CD7-B936-59E53F60BBD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F3650E-F5FA-4D6D-8F49-C88DA601A1D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0A61300-B75C-4CEB-8FDB-852B9AC4B9A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8115823-047D-4395-967E-D7B8B28BD47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350166-5E42-455A-BEA8-B94BD523C21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219519-A71C-4003-8F64-2D06B6505B1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D047BD3-21C6-42B6-A8E1-8272AA19310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03661B0-1407-47F3-A4D1-B0D6FB4B38B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093776-A29B-4067-A48A-65FDD645376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5841046-BBE4-4E46-945A-16988415CA3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261FE9E-C59E-4CAF-A90B-BDDF9DFAB61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C389E1-F743-4CAC-9CFC-FBBAE7E5C9C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4D59BA1-C7E4-484F-B28C-B021AED4C5C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6A96E8-3150-433D-B9FE-A4005DD1370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3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010BAE8-A696-42F0-9BA6-D1928502167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019710-CA75-4188-AF80-5F198EBD345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0"/>
            <a:ext cx="9142200" cy="51418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Shape 1"/>
          <p:cNvSpPr/>
          <p:nvPr/>
        </p:nvSpPr>
        <p:spPr>
          <a:xfrm>
            <a:off x="0" y="0"/>
            <a:ext cx="9142200" cy="18270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Shape 2"/>
          <p:cNvSpPr/>
          <p:nvPr/>
        </p:nvSpPr>
        <p:spPr>
          <a:xfrm>
            <a:off x="6400800" y="-731520"/>
            <a:ext cx="4113000" cy="4113000"/>
          </a:xfrm>
          <a:prstGeom prst="ellipse">
            <a:avLst/>
          </a:prstGeom>
          <a:solidFill>
            <a:srgbClr val="e63946">
              <a:alpha val="25000"/>
            </a:srgbClr>
          </a:solidFill>
          <a:ln w="12700">
            <a:solidFill>
              <a:srgbClr val="e63946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3"/>
          <p:cNvSpPr/>
          <p:nvPr/>
        </p:nvSpPr>
        <p:spPr>
          <a:xfrm>
            <a:off x="640080" y="274320"/>
            <a:ext cx="2284200" cy="3639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4"/>
          <p:cNvSpPr/>
          <p:nvPr/>
        </p:nvSpPr>
        <p:spPr>
          <a:xfrm>
            <a:off x="640080" y="274320"/>
            <a:ext cx="22842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PART 2 OF 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87" name="Text 5"/>
          <p:cNvSpPr/>
          <p:nvPr/>
        </p:nvSpPr>
        <p:spPr>
          <a:xfrm>
            <a:off x="640080" y="749880"/>
            <a:ext cx="731340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pc="-1" strike="noStrike">
                <a:solidFill>
                  <a:srgbClr val="ffffff"/>
                </a:solidFill>
                <a:latin typeface="Calibri"/>
                <a:ea typeface="Calibri"/>
              </a:rPr>
              <a:t>LangChain</a:t>
            </a:r>
            <a:endParaRPr b="0" lang="en-IN" sz="5000" spc="-1" strike="noStrike"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640080" y="1444680"/>
            <a:ext cx="73134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4200" spc="-1" strike="noStrike">
                <a:solidFill>
                  <a:srgbClr val="00b4d8"/>
                </a:solidFill>
                <a:latin typeface="Calibri"/>
                <a:ea typeface="Calibri"/>
              </a:rPr>
              <a:t>Models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89" name="Shape 7"/>
          <p:cNvSpPr/>
          <p:nvPr/>
        </p:nvSpPr>
        <p:spPr>
          <a:xfrm>
            <a:off x="640080" y="2240280"/>
            <a:ext cx="7770600" cy="5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8"/>
          <p:cNvSpPr/>
          <p:nvPr/>
        </p:nvSpPr>
        <p:spPr>
          <a:xfrm>
            <a:off x="640080" y="2377440"/>
            <a:ext cx="7770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Temperature  •  OpenAI  •  Anthropic  •  Google  •  Open-Source  •  HuggingFace  •  Embeddings  •  Similarity Search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640080" y="3017520"/>
            <a:ext cx="2284200" cy="501120"/>
          </a:xfrm>
          <a:prstGeom prst="rect">
            <a:avLst/>
          </a:prstGeom>
          <a:solidFill>
            <a:srgbClr val="1a2d3f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10"/>
          <p:cNvSpPr/>
          <p:nvPr/>
        </p:nvSpPr>
        <p:spPr>
          <a:xfrm>
            <a:off x="640080" y="3017520"/>
            <a:ext cx="22842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Slides 18 – 37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3383280" y="3017520"/>
            <a:ext cx="2284200" cy="501120"/>
          </a:xfrm>
          <a:prstGeom prst="rect">
            <a:avLst/>
          </a:prstGeom>
          <a:solidFill>
            <a:srgbClr val="1a2d3f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12"/>
          <p:cNvSpPr/>
          <p:nvPr/>
        </p:nvSpPr>
        <p:spPr>
          <a:xfrm>
            <a:off x="3383280" y="3017520"/>
            <a:ext cx="22842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Parts 3 – 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6126480" y="3017520"/>
            <a:ext cx="2284200" cy="501120"/>
          </a:xfrm>
          <a:prstGeom prst="rect">
            <a:avLst/>
          </a:prstGeom>
          <a:solidFill>
            <a:srgbClr val="1a2d3f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6" name="Text 14"/>
          <p:cNvSpPr/>
          <p:nvPr/>
        </p:nvSpPr>
        <p:spPr>
          <a:xfrm>
            <a:off x="6126480" y="3017520"/>
            <a:ext cx="22842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Code &amp; Concepts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30"/>
          <p:cNvSpPr/>
          <p:nvPr/>
        </p:nvSpPr>
        <p:spPr>
          <a:xfrm>
            <a:off x="0" y="0"/>
            <a:ext cx="162360" cy="51415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Shape 32"/>
          <p:cNvSpPr/>
          <p:nvPr/>
        </p:nvSpPr>
        <p:spPr>
          <a:xfrm>
            <a:off x="0" y="0"/>
            <a:ext cx="9141840" cy="912240"/>
          </a:xfrm>
          <a:prstGeom prst="rect">
            <a:avLst/>
          </a:prstGeom>
          <a:solidFill>
            <a:srgbClr val="1a2e3d"/>
          </a:solidFill>
          <a:ln w="12700">
            <a:solidFill>
              <a:srgbClr val="1a2e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25"/>
          <p:cNvSpPr/>
          <p:nvPr/>
        </p:nvSpPr>
        <p:spPr>
          <a:xfrm>
            <a:off x="365760" y="109800"/>
            <a:ext cx="82274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Temperature Parameter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00" name="Text 29"/>
          <p:cNvSpPr/>
          <p:nvPr/>
        </p:nvSpPr>
        <p:spPr>
          <a:xfrm>
            <a:off x="320040" y="1024200"/>
            <a:ext cx="85017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a2e3d"/>
                </a:solidFill>
                <a:latin typeface="Calibri"/>
                <a:ea typeface="DejaVu Sans"/>
              </a:rPr>
              <a:t>Controls randomness/creativity of model outputs  •  Range: 0 to ~2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1" name="Shape 34"/>
          <p:cNvSpPr/>
          <p:nvPr/>
        </p:nvSpPr>
        <p:spPr>
          <a:xfrm>
            <a:off x="320040" y="1554480"/>
            <a:ext cx="2146680" cy="409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Shape 36"/>
          <p:cNvSpPr/>
          <p:nvPr/>
        </p:nvSpPr>
        <p:spPr>
          <a:xfrm>
            <a:off x="2468880" y="1554480"/>
            <a:ext cx="1369440" cy="4093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Shape 38"/>
          <p:cNvSpPr/>
          <p:nvPr/>
        </p:nvSpPr>
        <p:spPr>
          <a:xfrm>
            <a:off x="3840480" y="1554480"/>
            <a:ext cx="1552320" cy="4093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Shape 40"/>
          <p:cNvSpPr/>
          <p:nvPr/>
        </p:nvSpPr>
        <p:spPr>
          <a:xfrm>
            <a:off x="5394960" y="1554480"/>
            <a:ext cx="1460880" cy="4093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42"/>
          <p:cNvSpPr/>
          <p:nvPr/>
        </p:nvSpPr>
        <p:spPr>
          <a:xfrm>
            <a:off x="6858000" y="1554480"/>
            <a:ext cx="1963800" cy="40932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3"/>
          <p:cNvSpPr/>
          <p:nvPr/>
        </p:nvSpPr>
        <p:spPr>
          <a:xfrm>
            <a:off x="320040" y="1554480"/>
            <a:ext cx="22838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COLD (Deterministic)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7" name="Text 35"/>
          <p:cNvSpPr/>
          <p:nvPr/>
        </p:nvSpPr>
        <p:spPr>
          <a:xfrm>
            <a:off x="6583680" y="1554480"/>
            <a:ext cx="228384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  <a:ea typeface="DejaVu Sans"/>
              </a:rPr>
              <a:t>HOT (Creative)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8" name="Shape 44"/>
          <p:cNvSpPr/>
          <p:nvPr/>
        </p:nvSpPr>
        <p:spPr>
          <a:xfrm>
            <a:off x="320040" y="2194560"/>
            <a:ext cx="4158360" cy="114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" name="Shape 46"/>
          <p:cNvSpPr/>
          <p:nvPr/>
        </p:nvSpPr>
        <p:spPr>
          <a:xfrm>
            <a:off x="320040" y="2194560"/>
            <a:ext cx="107640" cy="1140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37"/>
          <p:cNvSpPr/>
          <p:nvPr/>
        </p:nvSpPr>
        <p:spPr>
          <a:xfrm>
            <a:off x="548640" y="228600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0 –0.3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1" name="Text 39"/>
          <p:cNvSpPr/>
          <p:nvPr/>
        </p:nvSpPr>
        <p:spPr>
          <a:xfrm>
            <a:off x="1691640" y="2304360"/>
            <a:ext cx="2649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Deterministic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2" name="Text 41"/>
          <p:cNvSpPr/>
          <p:nvPr/>
        </p:nvSpPr>
        <p:spPr>
          <a:xfrm>
            <a:off x="548640" y="2788920"/>
            <a:ext cx="37468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Code, math, factual tasks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3" name="Shape 48"/>
          <p:cNvSpPr/>
          <p:nvPr/>
        </p:nvSpPr>
        <p:spPr>
          <a:xfrm>
            <a:off x="4709160" y="2194560"/>
            <a:ext cx="4158360" cy="114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Shape 50"/>
          <p:cNvSpPr/>
          <p:nvPr/>
        </p:nvSpPr>
        <p:spPr>
          <a:xfrm>
            <a:off x="4709160" y="2194560"/>
            <a:ext cx="107640" cy="11408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Text 43"/>
          <p:cNvSpPr/>
          <p:nvPr/>
        </p:nvSpPr>
        <p:spPr>
          <a:xfrm>
            <a:off x="4937760" y="228600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96c7"/>
                </a:solidFill>
                <a:latin typeface="Calibri"/>
                <a:ea typeface="Calibri"/>
              </a:rPr>
              <a:t>0.5 –0.7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16" name="Text 45"/>
          <p:cNvSpPr/>
          <p:nvPr/>
        </p:nvSpPr>
        <p:spPr>
          <a:xfrm>
            <a:off x="6080760" y="2304360"/>
            <a:ext cx="2649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Balanced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7" name="Text 47"/>
          <p:cNvSpPr/>
          <p:nvPr/>
        </p:nvSpPr>
        <p:spPr>
          <a:xfrm>
            <a:off x="4937760" y="2788920"/>
            <a:ext cx="37468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General Q&amp;A and chat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8" name="Shape 51"/>
          <p:cNvSpPr/>
          <p:nvPr/>
        </p:nvSpPr>
        <p:spPr>
          <a:xfrm>
            <a:off x="320040" y="3520440"/>
            <a:ext cx="4158360" cy="114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Shape 52"/>
          <p:cNvSpPr/>
          <p:nvPr/>
        </p:nvSpPr>
        <p:spPr>
          <a:xfrm>
            <a:off x="320040" y="3520440"/>
            <a:ext cx="107640" cy="114084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49"/>
          <p:cNvSpPr/>
          <p:nvPr/>
        </p:nvSpPr>
        <p:spPr>
          <a:xfrm>
            <a:off x="548640" y="361188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77f00"/>
                </a:solidFill>
                <a:latin typeface="Calibri"/>
                <a:ea typeface="Calibri"/>
              </a:rPr>
              <a:t>0.9 –1.2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1" name="Text 51"/>
          <p:cNvSpPr/>
          <p:nvPr/>
        </p:nvSpPr>
        <p:spPr>
          <a:xfrm>
            <a:off x="1691640" y="3630240"/>
            <a:ext cx="2649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Creative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2" name="Text 52"/>
          <p:cNvSpPr/>
          <p:nvPr/>
        </p:nvSpPr>
        <p:spPr>
          <a:xfrm>
            <a:off x="548640" y="4114800"/>
            <a:ext cx="37468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Writing, storytelling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3" name="Shape 53"/>
          <p:cNvSpPr/>
          <p:nvPr/>
        </p:nvSpPr>
        <p:spPr>
          <a:xfrm>
            <a:off x="4709160" y="3520440"/>
            <a:ext cx="4158360" cy="114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4" name="Shape 54"/>
          <p:cNvSpPr/>
          <p:nvPr/>
        </p:nvSpPr>
        <p:spPr>
          <a:xfrm>
            <a:off x="4709160" y="3520440"/>
            <a:ext cx="107640" cy="114084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53"/>
          <p:cNvSpPr/>
          <p:nvPr/>
        </p:nvSpPr>
        <p:spPr>
          <a:xfrm>
            <a:off x="4937760" y="3611880"/>
            <a:ext cx="1095120" cy="36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d62828"/>
                </a:solidFill>
                <a:latin typeface="Calibri"/>
                <a:ea typeface="Calibri"/>
              </a:rPr>
              <a:t>1.5+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26" name="Text 54"/>
          <p:cNvSpPr/>
          <p:nvPr/>
        </p:nvSpPr>
        <p:spPr>
          <a:xfrm>
            <a:off x="6080760" y="3630240"/>
            <a:ext cx="264960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1a2e3d"/>
                </a:solidFill>
                <a:latin typeface="Calibri"/>
                <a:ea typeface="DejaVu Sans"/>
              </a:rPr>
              <a:t>Max Random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7" name="Text 55"/>
          <p:cNvSpPr/>
          <p:nvPr/>
        </p:nvSpPr>
        <p:spPr>
          <a:xfrm>
            <a:off x="4937760" y="4114800"/>
            <a:ext cx="37468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c4a5c"/>
                </a:solidFill>
                <a:latin typeface="Calibri"/>
                <a:ea typeface="DejaVu Sans"/>
              </a:rPr>
              <a:t>Brainstorming, exploration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Temperature Comparison — Code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Low temperature (deterministic)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model_low = ChatOpenAI(model="gpt-4o", temperature=0)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result = model_low.invoke("Suggest 5 names for AI Startup")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print("Temp 0:", result.content)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High temperature (creative)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model_high = ChatOpenAI(model="gpt-4o", temperature=1.5)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result = model_high.invoke("Suggest 5 names for AI Startup")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print("Temp 1.5:", result.content)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5943600" y="1005840"/>
            <a:ext cx="2924280" cy="1644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Text 6"/>
          <p:cNvSpPr/>
          <p:nvPr/>
        </p:nvSpPr>
        <p:spPr>
          <a:xfrm>
            <a:off x="5943600" y="1005840"/>
            <a:ext cx="2924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58a6ff"/>
                </a:solidFill>
                <a:latin typeface="Calibri"/>
                <a:ea typeface="DejaVu Sans"/>
              </a:rPr>
              <a:t>TEMP 0 — Predictable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5" name="Text 7"/>
          <p:cNvSpPr/>
          <p:nvPr/>
        </p:nvSpPr>
        <p:spPr>
          <a:xfrm>
            <a:off x="6035040" y="1389960"/>
            <a:ext cx="274140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3fb950"/>
                </a:solidFill>
                <a:latin typeface="Consolas"/>
                <a:ea typeface="Consolas"/>
              </a:rPr>
              <a:t>J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</p:txBody>
      </p:sp>
      <p:sp>
        <p:nvSpPr>
          <p:cNvPr id="136" name="Shape 8"/>
          <p:cNvSpPr/>
          <p:nvPr/>
        </p:nvSpPr>
        <p:spPr>
          <a:xfrm>
            <a:off x="5943600" y="2788920"/>
            <a:ext cx="2924280" cy="1827000"/>
          </a:xfrm>
          <a:prstGeom prst="rect">
            <a:avLst/>
          </a:prstGeom>
          <a:solidFill>
            <a:srgbClr val="0d1117"/>
          </a:solidFill>
          <a:ln w="12700">
            <a:solidFill>
              <a:srgbClr val="d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Text 9"/>
          <p:cNvSpPr/>
          <p:nvPr/>
        </p:nvSpPr>
        <p:spPr>
          <a:xfrm>
            <a:off x="5943600" y="2788920"/>
            <a:ext cx="29242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4a261"/>
                </a:solidFill>
                <a:latin typeface="Calibri"/>
                <a:ea typeface="DejaVu Sans"/>
              </a:rPr>
              <a:t>TEMP 1.5 — Creative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6035040" y="3173040"/>
            <a:ext cx="27414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Max Completion Tokens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320040" y="1024200"/>
            <a:ext cx="8502120" cy="592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3" name="Text 4"/>
          <p:cNvSpPr/>
          <p:nvPr/>
        </p:nvSpPr>
        <p:spPr>
          <a:xfrm>
            <a:off x="320040" y="1024200"/>
            <a:ext cx="850212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Limits maximum length of model output. </a:t>
            </a:r>
            <a:r>
              <a:rPr b="0" lang="en-US" sz="1300" spc="-1" strike="noStrike">
                <a:solidFill>
                  <a:srgbClr val="2d4059"/>
                </a:solidFill>
                <a:latin typeface="Calibri"/>
                <a:ea typeface="DejaVu Sans"/>
              </a:rPr>
              <a:t>Tokens ≈ words  (not exact)  •  </a:t>
            </a:r>
            <a:r>
              <a:rPr b="1" lang="en-US" sz="1300" spc="-1" strike="noStrike">
                <a:solidFill>
                  <a:srgbClr val="e63946"/>
                </a:solidFill>
                <a:latin typeface="Calibri"/>
                <a:ea typeface="DejaVu Sans"/>
              </a:rPr>
              <a:t>100 tokens ≈ 75 words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320040" y="1755720"/>
            <a:ext cx="2741400" cy="21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Shape 6"/>
          <p:cNvSpPr/>
          <p:nvPr/>
        </p:nvSpPr>
        <p:spPr>
          <a:xfrm>
            <a:off x="320040" y="1755720"/>
            <a:ext cx="2741400" cy="455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7"/>
          <p:cNvSpPr/>
          <p:nvPr/>
        </p:nvSpPr>
        <p:spPr>
          <a:xfrm>
            <a:off x="320040" y="1755720"/>
            <a:ext cx="274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💰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Control Costs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457200" y="2286000"/>
            <a:ext cx="24670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d4059"/>
                </a:solidFill>
                <a:latin typeface="Calibri"/>
                <a:ea typeface="DejaVu Sans"/>
              </a:rPr>
              <a:t>API billing is per token — limit output to avoid surprise bills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48" name="Shape 9"/>
          <p:cNvSpPr/>
          <p:nvPr/>
        </p:nvSpPr>
        <p:spPr>
          <a:xfrm>
            <a:off x="3264480" y="1755720"/>
            <a:ext cx="2741400" cy="21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9" name="Shape 10"/>
          <p:cNvSpPr/>
          <p:nvPr/>
        </p:nvSpPr>
        <p:spPr>
          <a:xfrm>
            <a:off x="3264480" y="1755720"/>
            <a:ext cx="2741400" cy="4554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1"/>
          <p:cNvSpPr/>
          <p:nvPr/>
        </p:nvSpPr>
        <p:spPr>
          <a:xfrm>
            <a:off x="3264480" y="1755720"/>
            <a:ext cx="274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📏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Consistent Length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3401640" y="2286000"/>
            <a:ext cx="24670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d4059"/>
                </a:solidFill>
                <a:latin typeface="Calibri"/>
                <a:ea typeface="DejaVu Sans"/>
              </a:rPr>
              <a:t>Ensure outputs stay within expected bounds for your application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2" name="Shape 13"/>
          <p:cNvSpPr/>
          <p:nvPr/>
        </p:nvSpPr>
        <p:spPr>
          <a:xfrm>
            <a:off x="6208920" y="1755720"/>
            <a:ext cx="2741400" cy="2192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3" name="Shape 14"/>
          <p:cNvSpPr/>
          <p:nvPr/>
        </p:nvSpPr>
        <p:spPr>
          <a:xfrm>
            <a:off x="6208920" y="1755720"/>
            <a:ext cx="2741400" cy="45540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5"/>
          <p:cNvSpPr/>
          <p:nvPr/>
        </p:nvSpPr>
        <p:spPr>
          <a:xfrm>
            <a:off x="6208920" y="1755720"/>
            <a:ext cx="274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⚡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Performance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6346080" y="2286000"/>
            <a:ext cx="24670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d4059"/>
                </a:solidFill>
                <a:latin typeface="Calibri"/>
                <a:ea typeface="DejaVu Sans"/>
              </a:rPr>
              <a:t>Shorter responses return faster — better UX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6" name="Shape 17"/>
          <p:cNvSpPr/>
          <p:nvPr/>
        </p:nvSpPr>
        <p:spPr>
          <a:xfrm>
            <a:off x="320040" y="4096440"/>
            <a:ext cx="8502120" cy="821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8"/>
          <p:cNvSpPr/>
          <p:nvPr/>
        </p:nvSpPr>
        <p:spPr>
          <a:xfrm>
            <a:off x="457200" y="4096440"/>
            <a:ext cx="8227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model = ChatOpenAI(model='gpt-4o', temperature=0, </a:t>
            </a: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max_completion_tokens=10</a:t>
            </a: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Token Limit Example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280"/>
                </a:solidFill>
                <a:latin typeface="Consolas"/>
                <a:ea typeface="Consolas"/>
              </a:rPr>
              <a:t># Limit output to 10 tokens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model = ChatOpenAI(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model="gpt-4o",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temperature=0,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100" spc="-1" strike="noStrike">
                <a:solidFill>
                  <a:srgbClr val="e3b341"/>
                </a:solidFill>
                <a:latin typeface="Consolas"/>
                <a:ea typeface="Consolas"/>
              </a:rPr>
              <a:t>max_completion_tokens=10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response = model.invoke("Write a poem on Cricket")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58a6ff"/>
                </a:solidFill>
                <a:latin typeface="Consolas"/>
                <a:ea typeface="Consolas"/>
              </a:rPr>
              <a:t>print(response.content)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3" name="Shape 5"/>
          <p:cNvSpPr/>
          <p:nvPr/>
        </p:nvSpPr>
        <p:spPr>
          <a:xfrm>
            <a:off x="5943600" y="1005840"/>
            <a:ext cx="2924280" cy="2009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 (cut off at 10 tokens)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5" name="Text 7"/>
          <p:cNvSpPr/>
          <p:nvPr/>
        </p:nvSpPr>
        <p:spPr>
          <a:xfrm>
            <a:off x="6035040" y="1417320"/>
            <a:ext cx="27414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8"/>
          <p:cNvSpPr/>
          <p:nvPr/>
        </p:nvSpPr>
        <p:spPr>
          <a:xfrm>
            <a:off x="5943600" y="3154680"/>
            <a:ext cx="2924280" cy="1689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9"/>
          <p:cNvSpPr/>
          <p:nvPr/>
        </p:nvSpPr>
        <p:spPr>
          <a:xfrm>
            <a:off x="5943600" y="315468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COST TIP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8" name="Text 10"/>
          <p:cNvSpPr/>
          <p:nvPr/>
        </p:nvSpPr>
        <p:spPr>
          <a:xfrm>
            <a:off x="6035040" y="3566160"/>
            <a:ext cx="2741400" cy="114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Use max_completion_tokens to cap output in production to control costs and prevent runaway responses.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Chat Model — Anthropic Claude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72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langchain_anthropic import ChatAnthropic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Claude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claude = ChatAnthropic(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model="claude-3-5-sonnet-20241022"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Invoke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question = "What is the capital of China?"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answer = claude.invoke(question)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print(answer.content)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4" name="Shape 5"/>
          <p:cNvSpPr/>
          <p:nvPr/>
        </p:nvSpPr>
        <p:spPr>
          <a:xfrm>
            <a:off x="5943600" y="1005840"/>
            <a:ext cx="2924280" cy="164412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6" name="Text 7"/>
          <p:cNvSpPr/>
          <p:nvPr/>
        </p:nvSpPr>
        <p:spPr>
          <a:xfrm>
            <a:off x="6035040" y="1417320"/>
            <a:ext cx="274140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Shape 8"/>
          <p:cNvSpPr/>
          <p:nvPr/>
        </p:nvSpPr>
        <p:spPr>
          <a:xfrm>
            <a:off x="5943600" y="2788920"/>
            <a:ext cx="2924280" cy="2055600"/>
          </a:xfrm>
          <a:prstGeom prst="rect">
            <a:avLst/>
          </a:prstGeom>
          <a:solidFill>
            <a:srgbClr val="0d1117"/>
          </a:solidFill>
          <a:ln w="12700">
            <a:solidFill>
              <a:srgbClr val="2d40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9"/>
          <p:cNvSpPr/>
          <p:nvPr/>
        </p:nvSpPr>
        <p:spPr>
          <a:xfrm>
            <a:off x="5943600" y="278892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df2f4"/>
                </a:solidFill>
                <a:latin typeface="Calibri"/>
                <a:ea typeface="DejaVu Sans"/>
              </a:rPr>
              <a:t>ABOUT CLAUDE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9" name="Text 10"/>
          <p:cNvSpPr/>
          <p:nvPr/>
        </p:nvSpPr>
        <p:spPr>
          <a:xfrm>
            <a:off x="6080760" y="32187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langchain_anthropic package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6080760" y="362088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claude-3-5-sonnet 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6080760" y="40233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Same .invoke() pattern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2" name="Text 13"/>
          <p:cNvSpPr/>
          <p:nvPr/>
        </p:nvSpPr>
        <p:spPr>
          <a:xfrm>
            <a:off x="6080760" y="442584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Set ANTHROPIC_API_KEY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Chat Model — Google Gemini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186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langchain_google_genai import ChatGoogleGenerativeAI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Gemini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gemini = ChatGoogleGenerativeAI(model="gemini-1.5-pro")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Invoke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query = "What is the capital of China?"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response = gemini.invoke(query)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print(response.content)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8" name="Shape 5"/>
          <p:cNvSpPr/>
          <p:nvPr/>
        </p:nvSpPr>
        <p:spPr>
          <a:xfrm>
            <a:off x="5943600" y="1005840"/>
            <a:ext cx="2924280" cy="14612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0" name="Text 7"/>
          <p:cNvSpPr/>
          <p:nvPr/>
        </p:nvSpPr>
        <p:spPr>
          <a:xfrm>
            <a:off x="6035040" y="1417320"/>
            <a:ext cx="2741400" cy="86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Shape 8"/>
          <p:cNvSpPr/>
          <p:nvPr/>
        </p:nvSpPr>
        <p:spPr>
          <a:xfrm>
            <a:off x="5943600" y="2606040"/>
            <a:ext cx="2924280" cy="2238480"/>
          </a:xfrm>
          <a:prstGeom prst="rect">
            <a:avLst/>
          </a:prstGeom>
          <a:solidFill>
            <a:srgbClr val="0d1117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9"/>
          <p:cNvSpPr/>
          <p:nvPr/>
        </p:nvSpPr>
        <p:spPr>
          <a:xfrm>
            <a:off x="5943600" y="26060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dc653"/>
                </a:solidFill>
                <a:latin typeface="Calibri"/>
                <a:ea typeface="DejaVu Sans"/>
              </a:rPr>
              <a:t>ABOUT GEMINI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3" name="Text 10"/>
          <p:cNvSpPr/>
          <p:nvPr/>
        </p:nvSpPr>
        <p:spPr>
          <a:xfrm>
            <a:off x="6080760" y="303588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langchain_google_genai pkg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4" name="Text 11"/>
          <p:cNvSpPr/>
          <p:nvPr/>
        </p:nvSpPr>
        <p:spPr>
          <a:xfrm>
            <a:off x="6080760" y="342000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gemini-1.5-pro model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Text 12"/>
          <p:cNvSpPr/>
          <p:nvPr/>
        </p:nvSpPr>
        <p:spPr>
          <a:xfrm>
            <a:off x="6080760" y="38037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Same .invoke() pattern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6" name="Text 13"/>
          <p:cNvSpPr/>
          <p:nvPr/>
        </p:nvSpPr>
        <p:spPr>
          <a:xfrm>
            <a:off x="6080760" y="418788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Set GOOGLE_API_KEY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7" name="Text 14"/>
          <p:cNvSpPr/>
          <p:nvPr/>
        </p:nvSpPr>
        <p:spPr>
          <a:xfrm>
            <a:off x="6080760" y="457200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Google AI Studio key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9142200" cy="51418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Shape 1"/>
          <p:cNvSpPr/>
          <p:nvPr/>
        </p:nvSpPr>
        <p:spPr>
          <a:xfrm>
            <a:off x="-1371600" y="-914400"/>
            <a:ext cx="5484600" cy="5484600"/>
          </a:xfrm>
          <a:prstGeom prst="ellipse">
            <a:avLst/>
          </a:prstGeom>
          <a:solidFill>
            <a:srgbClr val="7b2d8b">
              <a:alpha val="20000"/>
            </a:srgbClr>
          </a:solidFill>
          <a:ln w="12700">
            <a:solidFill>
              <a:srgbClr val="7b2d8b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Shape 2"/>
          <p:cNvSpPr/>
          <p:nvPr/>
        </p:nvSpPr>
        <p:spPr>
          <a:xfrm>
            <a:off x="7315200" y="2743200"/>
            <a:ext cx="3655800" cy="3655800"/>
          </a:xfrm>
          <a:prstGeom prst="ellipse">
            <a:avLst/>
          </a:prstGeom>
          <a:solidFill>
            <a:srgbClr val="e63946">
              <a:alpha val="18000"/>
            </a:srgbClr>
          </a:solidFill>
          <a:ln w="12700">
            <a:solidFill>
              <a:srgbClr val="e63946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1" name="Shape 3"/>
          <p:cNvSpPr/>
          <p:nvPr/>
        </p:nvSpPr>
        <p:spPr>
          <a:xfrm>
            <a:off x="640080" y="1645920"/>
            <a:ext cx="108000" cy="16441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4"/>
          <p:cNvSpPr/>
          <p:nvPr/>
        </p:nvSpPr>
        <p:spPr>
          <a:xfrm>
            <a:off x="914400" y="1554480"/>
            <a:ext cx="6399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6b7a8d"/>
                </a:solidFill>
                <a:latin typeface="Calibri"/>
                <a:ea typeface="DejaVu Sans"/>
              </a:rPr>
              <a:t>Part 4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914400" y="2011680"/>
            <a:ext cx="73134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Open-Source</a:t>
            </a:r>
            <a:endParaRPr b="0" lang="en-IN" sz="5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Models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204" name="Text 6"/>
          <p:cNvSpPr/>
          <p:nvPr/>
        </p:nvSpPr>
        <p:spPr>
          <a:xfrm>
            <a:off x="914400" y="3657600"/>
            <a:ext cx="731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df2f4"/>
                </a:solidFill>
                <a:latin typeface="Calibri"/>
                <a:ea typeface="DejaVu Sans"/>
              </a:rPr>
              <a:t>HuggingFace Hub, local pipelines, open-source vs closed-source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Open-Source Models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320040" y="1024200"/>
            <a:ext cx="85021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2d4059"/>
                </a:solidFill>
                <a:latin typeface="Calibri"/>
                <a:ea typeface="DejaVu Sans"/>
              </a:rPr>
              <a:t>Free, downloadable AI models — Full control over customization, fine-tuning, and local deployment. No API costs!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320040" y="1645920"/>
            <a:ext cx="2741400" cy="191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0" name="Shape 5"/>
          <p:cNvSpPr/>
          <p:nvPr/>
        </p:nvSpPr>
        <p:spPr>
          <a:xfrm>
            <a:off x="320040" y="1645920"/>
            <a:ext cx="2741400" cy="4554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6"/>
          <p:cNvSpPr/>
          <p:nvPr/>
        </p:nvSpPr>
        <p:spPr>
          <a:xfrm>
            <a:off x="320040" y="1645920"/>
            <a:ext cx="274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Llama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457200" y="2176200"/>
            <a:ext cx="2467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d"/>
                </a:solidFill>
                <a:latin typeface="Calibri"/>
                <a:ea typeface="DejaVu Sans"/>
              </a:rPr>
              <a:t>by Meta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3" name="Text 8"/>
          <p:cNvSpPr/>
          <p:nvPr/>
        </p:nvSpPr>
        <p:spPr>
          <a:xfrm>
            <a:off x="457200" y="2514600"/>
            <a:ext cx="2467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Open weights, multiple sizes (7B to 70B+)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4" name="Shape 9"/>
          <p:cNvSpPr/>
          <p:nvPr/>
        </p:nvSpPr>
        <p:spPr>
          <a:xfrm>
            <a:off x="3264480" y="1645920"/>
            <a:ext cx="2741400" cy="191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5" name="Shape 10"/>
          <p:cNvSpPr/>
          <p:nvPr/>
        </p:nvSpPr>
        <p:spPr>
          <a:xfrm>
            <a:off x="3264480" y="1645920"/>
            <a:ext cx="2741400" cy="45540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1"/>
          <p:cNvSpPr/>
          <p:nvPr/>
        </p:nvSpPr>
        <p:spPr>
          <a:xfrm>
            <a:off x="3264480" y="1645920"/>
            <a:ext cx="274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Mistral AI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3401640" y="2176200"/>
            <a:ext cx="2467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d"/>
                </a:solidFill>
                <a:latin typeface="Calibri"/>
                <a:ea typeface="DejaVu Sans"/>
              </a:rPr>
              <a:t>by Mistral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3401640" y="2514600"/>
            <a:ext cx="2467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European, efficient, strong performance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6208920" y="1645920"/>
            <a:ext cx="2741400" cy="191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1015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0" name="Shape 15"/>
          <p:cNvSpPr/>
          <p:nvPr/>
        </p:nvSpPr>
        <p:spPr>
          <a:xfrm>
            <a:off x="6208920" y="1645920"/>
            <a:ext cx="2741400" cy="4554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1" name="Text 16"/>
          <p:cNvSpPr/>
          <p:nvPr/>
        </p:nvSpPr>
        <p:spPr>
          <a:xfrm>
            <a:off x="6208920" y="1645920"/>
            <a:ext cx="274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Falcon / Bloom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6346080" y="2176200"/>
            <a:ext cx="24670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a8d"/>
                </a:solidFill>
                <a:latin typeface="Calibri"/>
                <a:ea typeface="DejaVu Sans"/>
              </a:rPr>
              <a:t>by Community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6346080" y="2514600"/>
            <a:ext cx="24670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Multilingual, research-focused models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320040" y="3739320"/>
            <a:ext cx="8502120" cy="118692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20"/>
          <p:cNvSpPr/>
          <p:nvPr/>
        </p:nvSpPr>
        <p:spPr>
          <a:xfrm>
            <a:off x="548640" y="3749040"/>
            <a:ext cx="18270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🤗 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DejaVu Sans"/>
              </a:rPr>
              <a:t>Repository: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2286000" y="3749040"/>
            <a:ext cx="2741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4a261"/>
                </a:solidFill>
                <a:latin typeface="Calibri"/>
                <a:ea typeface="DejaVu Sans"/>
              </a:rPr>
              <a:t>Hugging Face Hub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5029200" y="3749040"/>
            <a:ext cx="3655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00b4d8"/>
                </a:solidFill>
                <a:latin typeface="Calibri"/>
                <a:ea typeface="DejaVu Sans"/>
              </a:rPr>
              <a:t>huggingface.co/models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548640" y="4224600"/>
            <a:ext cx="82278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Thousands of open-source models available. Browse, download, and deploy locally or via API.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Open-Source vs Closed-Source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320040" y="1005840"/>
            <a:ext cx="2192760" cy="437040"/>
          </a:xfrm>
          <a:prstGeom prst="rect">
            <a:avLst/>
          </a:prstGeom>
          <a:solidFill>
            <a:srgbClr val="2d4059"/>
          </a:solidFill>
          <a:ln w="12700">
            <a:solidFill>
              <a:srgbClr val="2d405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3" name="Text 4"/>
          <p:cNvSpPr/>
          <p:nvPr/>
        </p:nvSpPr>
        <p:spPr>
          <a:xfrm>
            <a:off x="320040" y="1005840"/>
            <a:ext cx="219276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Feature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4" name="Shape 5"/>
          <p:cNvSpPr/>
          <p:nvPr/>
        </p:nvSpPr>
        <p:spPr>
          <a:xfrm>
            <a:off x="2606040" y="1005840"/>
            <a:ext cx="3107160" cy="4370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5" name="Text 6"/>
          <p:cNvSpPr/>
          <p:nvPr/>
        </p:nvSpPr>
        <p:spPr>
          <a:xfrm>
            <a:off x="2606040" y="1005840"/>
            <a:ext cx="310716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Open-Source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5897880" y="1005840"/>
            <a:ext cx="3015720" cy="4370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8"/>
          <p:cNvSpPr/>
          <p:nvPr/>
        </p:nvSpPr>
        <p:spPr>
          <a:xfrm>
            <a:off x="5897880" y="1005840"/>
            <a:ext cx="301572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Closed-Source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8" name="Shape 9"/>
          <p:cNvSpPr/>
          <p:nvPr/>
        </p:nvSpPr>
        <p:spPr>
          <a:xfrm>
            <a:off x="320040" y="1481400"/>
            <a:ext cx="219276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9" name="Text 10"/>
          <p:cNvSpPr/>
          <p:nvPr/>
        </p:nvSpPr>
        <p:spPr>
          <a:xfrm>
            <a:off x="411480" y="148140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Cost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2606040" y="1481400"/>
            <a:ext cx="310716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12"/>
          <p:cNvSpPr/>
          <p:nvPr/>
        </p:nvSpPr>
        <p:spPr>
          <a:xfrm>
            <a:off x="2697480" y="1481400"/>
            <a:ext cx="2924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2d8b"/>
                </a:solidFill>
                <a:latin typeface="Calibri"/>
                <a:ea typeface="DejaVu Sans"/>
              </a:rPr>
              <a:t>Free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2" name="Shape 13"/>
          <p:cNvSpPr/>
          <p:nvPr/>
        </p:nvSpPr>
        <p:spPr>
          <a:xfrm>
            <a:off x="5897880" y="1481400"/>
            <a:ext cx="301572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4"/>
          <p:cNvSpPr/>
          <p:nvPr/>
        </p:nvSpPr>
        <p:spPr>
          <a:xfrm>
            <a:off x="5989320" y="148140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Paid per token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320040" y="1965960"/>
            <a:ext cx="219276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16"/>
          <p:cNvSpPr/>
          <p:nvPr/>
        </p:nvSpPr>
        <p:spPr>
          <a:xfrm>
            <a:off x="411480" y="196596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Control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6" name="Shape 17"/>
          <p:cNvSpPr/>
          <p:nvPr/>
        </p:nvSpPr>
        <p:spPr>
          <a:xfrm>
            <a:off x="2606040" y="1965960"/>
            <a:ext cx="310716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7" name="Text 18"/>
          <p:cNvSpPr/>
          <p:nvPr/>
        </p:nvSpPr>
        <p:spPr>
          <a:xfrm>
            <a:off x="2697480" y="1965960"/>
            <a:ext cx="2924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2d8b"/>
                </a:solidFill>
                <a:latin typeface="Calibri"/>
                <a:ea typeface="DejaVu Sans"/>
              </a:rPr>
              <a:t>Full customization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8" name="Shape 19"/>
          <p:cNvSpPr/>
          <p:nvPr/>
        </p:nvSpPr>
        <p:spPr>
          <a:xfrm>
            <a:off x="5897880" y="1965960"/>
            <a:ext cx="301572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20"/>
          <p:cNvSpPr/>
          <p:nvPr/>
        </p:nvSpPr>
        <p:spPr>
          <a:xfrm>
            <a:off x="5989320" y="196596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Limited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0" name="Shape 21"/>
          <p:cNvSpPr/>
          <p:nvPr/>
        </p:nvSpPr>
        <p:spPr>
          <a:xfrm>
            <a:off x="320040" y="2450520"/>
            <a:ext cx="219276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1" name="Text 22"/>
          <p:cNvSpPr/>
          <p:nvPr/>
        </p:nvSpPr>
        <p:spPr>
          <a:xfrm>
            <a:off x="411480" y="245052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Privacy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2" name="Shape 23"/>
          <p:cNvSpPr/>
          <p:nvPr/>
        </p:nvSpPr>
        <p:spPr>
          <a:xfrm>
            <a:off x="2606040" y="2450520"/>
            <a:ext cx="310716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4"/>
          <p:cNvSpPr/>
          <p:nvPr/>
        </p:nvSpPr>
        <p:spPr>
          <a:xfrm>
            <a:off x="2697480" y="2450520"/>
            <a:ext cx="2924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7b2d8b"/>
                </a:solidFill>
                <a:latin typeface="Calibri"/>
                <a:ea typeface="DejaVu Sans"/>
              </a:rPr>
              <a:t>Runs locally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4" name="Shape 25"/>
          <p:cNvSpPr/>
          <p:nvPr/>
        </p:nvSpPr>
        <p:spPr>
          <a:xfrm>
            <a:off x="5897880" y="2450520"/>
            <a:ext cx="301572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5" name="Text 26"/>
          <p:cNvSpPr/>
          <p:nvPr/>
        </p:nvSpPr>
        <p:spPr>
          <a:xfrm>
            <a:off x="5989320" y="245052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Data sent to provider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6" name="Shape 27"/>
          <p:cNvSpPr/>
          <p:nvPr/>
        </p:nvSpPr>
        <p:spPr>
          <a:xfrm>
            <a:off x="320040" y="2935080"/>
            <a:ext cx="219276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28"/>
          <p:cNvSpPr/>
          <p:nvPr/>
        </p:nvSpPr>
        <p:spPr>
          <a:xfrm>
            <a:off x="411480" y="293508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Hardware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58" name="Shape 29"/>
          <p:cNvSpPr/>
          <p:nvPr/>
        </p:nvSpPr>
        <p:spPr>
          <a:xfrm>
            <a:off x="2606040" y="2935080"/>
            <a:ext cx="310716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30"/>
          <p:cNvSpPr/>
          <p:nvPr/>
        </p:nvSpPr>
        <p:spPr>
          <a:xfrm>
            <a:off x="2697480" y="2935080"/>
            <a:ext cx="2924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Requires GPUs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0" name="Shape 31"/>
          <p:cNvSpPr/>
          <p:nvPr/>
        </p:nvSpPr>
        <p:spPr>
          <a:xfrm>
            <a:off x="5897880" y="2935080"/>
            <a:ext cx="301572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Text 32"/>
          <p:cNvSpPr/>
          <p:nvPr/>
        </p:nvSpPr>
        <p:spPr>
          <a:xfrm>
            <a:off x="5989320" y="293508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57b9d"/>
                </a:solidFill>
                <a:latin typeface="Calibri"/>
                <a:ea typeface="DejaVu Sans"/>
              </a:rPr>
              <a:t>Cloud-based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2" name="Shape 33"/>
          <p:cNvSpPr/>
          <p:nvPr/>
        </p:nvSpPr>
        <p:spPr>
          <a:xfrm>
            <a:off x="320040" y="3420000"/>
            <a:ext cx="219276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 34"/>
          <p:cNvSpPr/>
          <p:nvPr/>
        </p:nvSpPr>
        <p:spPr>
          <a:xfrm>
            <a:off x="411480" y="342000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Performance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4" name="Shape 35"/>
          <p:cNvSpPr/>
          <p:nvPr/>
        </p:nvSpPr>
        <p:spPr>
          <a:xfrm>
            <a:off x="2606040" y="3420000"/>
            <a:ext cx="310716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Text 36"/>
          <p:cNvSpPr/>
          <p:nvPr/>
        </p:nvSpPr>
        <p:spPr>
          <a:xfrm>
            <a:off x="2697480" y="3420000"/>
            <a:ext cx="2924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Variable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6" name="Shape 37"/>
          <p:cNvSpPr/>
          <p:nvPr/>
        </p:nvSpPr>
        <p:spPr>
          <a:xfrm>
            <a:off x="5897880" y="3420000"/>
            <a:ext cx="301572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Text 38"/>
          <p:cNvSpPr/>
          <p:nvPr/>
        </p:nvSpPr>
        <p:spPr>
          <a:xfrm>
            <a:off x="5989320" y="342000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57b9d"/>
                </a:solidFill>
                <a:latin typeface="Calibri"/>
                <a:ea typeface="DejaVu Sans"/>
              </a:rPr>
              <a:t>Generally superior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68" name="Shape 39"/>
          <p:cNvSpPr/>
          <p:nvPr/>
        </p:nvSpPr>
        <p:spPr>
          <a:xfrm>
            <a:off x="320040" y="3904560"/>
            <a:ext cx="219276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Text 40"/>
          <p:cNvSpPr/>
          <p:nvPr/>
        </p:nvSpPr>
        <p:spPr>
          <a:xfrm>
            <a:off x="411480" y="390456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Maintenance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0" name="Shape 41"/>
          <p:cNvSpPr/>
          <p:nvPr/>
        </p:nvSpPr>
        <p:spPr>
          <a:xfrm>
            <a:off x="2606040" y="3904560"/>
            <a:ext cx="310716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42"/>
          <p:cNvSpPr/>
          <p:nvPr/>
        </p:nvSpPr>
        <p:spPr>
          <a:xfrm>
            <a:off x="2697480" y="3904560"/>
            <a:ext cx="2924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Self-managed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2" name="Shape 43"/>
          <p:cNvSpPr/>
          <p:nvPr/>
        </p:nvSpPr>
        <p:spPr>
          <a:xfrm>
            <a:off x="5897880" y="3904560"/>
            <a:ext cx="3015720" cy="455400"/>
          </a:xfrm>
          <a:prstGeom prst="rect">
            <a:avLst/>
          </a:prstGeom>
          <a:solidFill>
            <a:srgbClr val="f0f4f7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44"/>
          <p:cNvSpPr/>
          <p:nvPr/>
        </p:nvSpPr>
        <p:spPr>
          <a:xfrm>
            <a:off x="5989320" y="390456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57b9d"/>
                </a:solidFill>
                <a:latin typeface="Calibri"/>
                <a:ea typeface="DejaVu Sans"/>
              </a:rPr>
              <a:t>Managed service ✓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4" name="Shape 45"/>
          <p:cNvSpPr/>
          <p:nvPr/>
        </p:nvSpPr>
        <p:spPr>
          <a:xfrm>
            <a:off x="320040" y="4389120"/>
            <a:ext cx="219276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Text 46"/>
          <p:cNvSpPr/>
          <p:nvPr/>
        </p:nvSpPr>
        <p:spPr>
          <a:xfrm>
            <a:off x="411480" y="4389120"/>
            <a:ext cx="20098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Setup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6" name="Shape 47"/>
          <p:cNvSpPr/>
          <p:nvPr/>
        </p:nvSpPr>
        <p:spPr>
          <a:xfrm>
            <a:off x="2606040" y="4389120"/>
            <a:ext cx="310716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Text 48"/>
          <p:cNvSpPr/>
          <p:nvPr/>
        </p:nvSpPr>
        <p:spPr>
          <a:xfrm>
            <a:off x="2697480" y="4389120"/>
            <a:ext cx="29242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a1a2e"/>
                </a:solidFill>
                <a:latin typeface="Calibri"/>
                <a:ea typeface="DejaVu Sans"/>
              </a:rPr>
              <a:t>Complex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78" name="Shape 49"/>
          <p:cNvSpPr/>
          <p:nvPr/>
        </p:nvSpPr>
        <p:spPr>
          <a:xfrm>
            <a:off x="5897880" y="4389120"/>
            <a:ext cx="3015720" cy="45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Text 50"/>
          <p:cNvSpPr/>
          <p:nvPr/>
        </p:nvSpPr>
        <p:spPr>
          <a:xfrm>
            <a:off x="5989320" y="4389120"/>
            <a:ext cx="28328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457b9d"/>
                </a:solidFill>
                <a:latin typeface="Calibri"/>
                <a:ea typeface="DejaVu Sans"/>
              </a:rPr>
              <a:t>Simple API calls ✓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HuggingFace API Implementation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83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ChatHuggingFace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HuggingFaceEndpoint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Create endpoint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endpoint = HuggingFaceEndpoint(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repo_id="TinyLlama/TinyLlama-1.1B-Chat-v1.0",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task="text-generation"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Create chat model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chat = ChatHuggingFace(llm=endpoint)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result = chat.invoke("What is Quantum Computing?")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print(result.content)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5" name="Shape 5"/>
          <p:cNvSpPr/>
          <p:nvPr/>
        </p:nvSpPr>
        <p:spPr>
          <a:xfrm>
            <a:off x="5943600" y="1005840"/>
            <a:ext cx="2924280" cy="1827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6035040" y="1417320"/>
            <a:ext cx="27414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Shape 8"/>
          <p:cNvSpPr/>
          <p:nvPr/>
        </p:nvSpPr>
        <p:spPr>
          <a:xfrm>
            <a:off x="5943600" y="2971800"/>
            <a:ext cx="2924280" cy="1872720"/>
          </a:xfrm>
          <a:prstGeom prst="rect">
            <a:avLst/>
          </a:prstGeom>
          <a:solidFill>
            <a:srgbClr val="0d1117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Text 9"/>
          <p:cNvSpPr/>
          <p:nvPr/>
        </p:nvSpPr>
        <p:spPr>
          <a:xfrm>
            <a:off x="5943600" y="297180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7b2d8b"/>
                </a:solidFill>
                <a:latin typeface="Calibri"/>
                <a:ea typeface="DejaVu Sans"/>
              </a:rPr>
              <a:t>HOW IT WORKS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0" name="Text 10"/>
          <p:cNvSpPr/>
          <p:nvPr/>
        </p:nvSpPr>
        <p:spPr>
          <a:xfrm>
            <a:off x="6080760" y="340164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1. Connect to HF API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6080760" y="37857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2. Cloud inference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2" name="Text 12"/>
          <p:cNvSpPr/>
          <p:nvPr/>
        </p:nvSpPr>
        <p:spPr>
          <a:xfrm>
            <a:off x="6080760" y="416952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3. HUGGINGFACEHUB_ACCESS_TOKEN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93" name="Text 13"/>
          <p:cNvSpPr/>
          <p:nvPr/>
        </p:nvSpPr>
        <p:spPr>
          <a:xfrm>
            <a:off x="6080760" y="455364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4. No GPU needed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Running Models Locally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97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ChatHuggingFace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HuggingFacePipeline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import os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Optional: Set cache directory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os.environ['HF_HOME'] = 'D:/models_cache'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Create local pipeline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pipeline = HuggingFacePipeline.from_model_id(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model_id="TinyLlama/TinyLlama-1.1B-Chat-v1.0",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task="text-generation",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pipeline_kwargs={"temperature": 0.5, "max_new_tokens": 100}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chat = ChatHuggingFace(llm=pipeline)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result = chat.invoke("Explain Climate Change")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9" name="Shape 5"/>
          <p:cNvSpPr/>
          <p:nvPr/>
        </p:nvSpPr>
        <p:spPr>
          <a:xfrm>
            <a:off x="5943600" y="1005840"/>
            <a:ext cx="2924280" cy="13698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1" name="Text 7"/>
          <p:cNvSpPr/>
          <p:nvPr/>
        </p:nvSpPr>
        <p:spPr>
          <a:xfrm>
            <a:off x="6035040" y="1417320"/>
            <a:ext cx="27414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Shape 8"/>
          <p:cNvSpPr/>
          <p:nvPr/>
        </p:nvSpPr>
        <p:spPr>
          <a:xfrm>
            <a:off x="5943600" y="2514600"/>
            <a:ext cx="2924280" cy="2329920"/>
          </a:xfrm>
          <a:prstGeom prst="rect">
            <a:avLst/>
          </a:prstGeom>
          <a:solidFill>
            <a:srgbClr val="0d1117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 9"/>
          <p:cNvSpPr/>
          <p:nvPr/>
        </p:nvSpPr>
        <p:spPr>
          <a:xfrm>
            <a:off x="5943600" y="251460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e63946"/>
                </a:solidFill>
                <a:latin typeface="Calibri"/>
                <a:ea typeface="DejaVu Sans"/>
              </a:rPr>
              <a:t>LOCAL BENEFITS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4" name="Text 10"/>
          <p:cNvSpPr/>
          <p:nvPr/>
        </p:nvSpPr>
        <p:spPr>
          <a:xfrm>
            <a:off x="6080760" y="294444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Complete privacy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5" name="Text 11"/>
          <p:cNvSpPr/>
          <p:nvPr/>
        </p:nvSpPr>
        <p:spPr>
          <a:xfrm>
            <a:off x="6080760" y="33285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No API costs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6" name="Text 12"/>
          <p:cNvSpPr/>
          <p:nvPr/>
        </p:nvSpPr>
        <p:spPr>
          <a:xfrm>
            <a:off x="6080760" y="371232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Offline capable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7" name="Text 13"/>
          <p:cNvSpPr/>
          <p:nvPr/>
        </p:nvSpPr>
        <p:spPr>
          <a:xfrm>
            <a:off x="6080760" y="409644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Full model control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8" name="Text 14"/>
          <p:cNvSpPr/>
          <p:nvPr/>
        </p:nvSpPr>
        <p:spPr>
          <a:xfrm>
            <a:off x="6080760" y="44805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Set HF_HOME for cache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0"/>
            <a:ext cx="9142200" cy="51418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Shape 1"/>
          <p:cNvSpPr/>
          <p:nvPr/>
        </p:nvSpPr>
        <p:spPr>
          <a:xfrm>
            <a:off x="5486400" y="0"/>
            <a:ext cx="4570200" cy="45702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1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Shape 2"/>
          <p:cNvSpPr/>
          <p:nvPr/>
        </p:nvSpPr>
        <p:spPr>
          <a:xfrm>
            <a:off x="-1828800" y="2743200"/>
            <a:ext cx="4570200" cy="4570200"/>
          </a:xfrm>
          <a:prstGeom prst="ellipse">
            <a:avLst/>
          </a:prstGeom>
          <a:solidFill>
            <a:srgbClr val="0f1923">
              <a:alpha val="20000"/>
            </a:srgbClr>
          </a:solidFill>
          <a:ln w="12700">
            <a:solidFill>
              <a:srgbClr val="0f1923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Shape 3"/>
          <p:cNvSpPr/>
          <p:nvPr/>
        </p:nvSpPr>
        <p:spPr>
          <a:xfrm>
            <a:off x="640080" y="1645920"/>
            <a:ext cx="108000" cy="1644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 4"/>
          <p:cNvSpPr/>
          <p:nvPr/>
        </p:nvSpPr>
        <p:spPr>
          <a:xfrm>
            <a:off x="914400" y="1554480"/>
            <a:ext cx="63990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edf2f4"/>
                </a:solidFill>
                <a:latin typeface="Calibri"/>
                <a:ea typeface="DejaVu Sans"/>
              </a:rPr>
              <a:t>Part 5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14" name="Text 5"/>
          <p:cNvSpPr/>
          <p:nvPr/>
        </p:nvSpPr>
        <p:spPr>
          <a:xfrm>
            <a:off x="914400" y="2011680"/>
            <a:ext cx="73134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Embedding</a:t>
            </a:r>
            <a:endParaRPr b="0" lang="en-IN" sz="5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Models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315" name="Text 6"/>
          <p:cNvSpPr/>
          <p:nvPr/>
        </p:nvSpPr>
        <p:spPr>
          <a:xfrm>
            <a:off x="914400" y="3657600"/>
            <a:ext cx="73134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edf2f4"/>
                </a:solidFill>
                <a:latin typeface="Calibri"/>
                <a:ea typeface="DejaVu Sans"/>
              </a:rPr>
              <a:t>Text to vectors, semantic meaning, OpenAI &amp; HuggingFace embeddings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What are Embedding Models?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19" name="Shape 3"/>
          <p:cNvSpPr/>
          <p:nvPr/>
        </p:nvSpPr>
        <p:spPr>
          <a:xfrm>
            <a:off x="320040" y="1024200"/>
            <a:ext cx="2375640" cy="100404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Text 4"/>
          <p:cNvSpPr/>
          <p:nvPr/>
        </p:nvSpPr>
        <p:spPr>
          <a:xfrm>
            <a:off x="320040" y="1024200"/>
            <a:ext cx="237564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63360" bIns="6336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"Paris is a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DejaVu Sans"/>
              </a:rPr>
              <a:t>beautiful city"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1" name="Text 5"/>
          <p:cNvSpPr/>
          <p:nvPr/>
        </p:nvSpPr>
        <p:spPr>
          <a:xfrm>
            <a:off x="2743200" y="1298520"/>
            <a:ext cx="729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6b7a8d"/>
                </a:solidFill>
                <a:latin typeface="Calibri"/>
                <a:ea typeface="DejaVu Sans"/>
              </a:rPr>
              <a:t>→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22" name="Shape 6"/>
          <p:cNvSpPr/>
          <p:nvPr/>
        </p:nvSpPr>
        <p:spPr>
          <a:xfrm>
            <a:off x="3474720" y="1024200"/>
            <a:ext cx="2101320" cy="1004040"/>
          </a:xfrm>
          <a:prstGeom prst="rect">
            <a:avLst/>
          </a:prstGeom>
          <a:solidFill>
            <a:srgbClr val="0f1923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Text 7"/>
          <p:cNvSpPr/>
          <p:nvPr/>
        </p:nvSpPr>
        <p:spPr>
          <a:xfrm>
            <a:off x="3474720" y="1024200"/>
            <a:ext cx="21013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Embedding</a:t>
            </a:r>
            <a:endParaRPr b="0" lang="en-IN" sz="13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b4d8"/>
                </a:solidFill>
                <a:latin typeface="Calibri"/>
                <a:ea typeface="DejaVu Sans"/>
              </a:rPr>
              <a:t>Model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4" name="Text 8"/>
          <p:cNvSpPr/>
          <p:nvPr/>
        </p:nvSpPr>
        <p:spPr>
          <a:xfrm>
            <a:off x="5669280" y="1298520"/>
            <a:ext cx="729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6b7a8d"/>
                </a:solidFill>
                <a:latin typeface="Calibri"/>
                <a:ea typeface="DejaVu Sans"/>
              </a:rPr>
              <a:t>→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325" name="Shape 9"/>
          <p:cNvSpPr/>
          <p:nvPr/>
        </p:nvSpPr>
        <p:spPr>
          <a:xfrm>
            <a:off x="6400800" y="1024200"/>
            <a:ext cx="2421360" cy="100404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 10"/>
          <p:cNvSpPr/>
          <p:nvPr/>
        </p:nvSpPr>
        <p:spPr>
          <a:xfrm>
            <a:off x="6400800" y="1024200"/>
            <a:ext cx="24213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[0.043, -0.024,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4a261"/>
                </a:solidFill>
                <a:latin typeface="Consolas"/>
                <a:ea typeface="Consolas"/>
              </a:rPr>
              <a:t>0.087, -0.012...]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27" name="Text 11"/>
          <p:cNvSpPr/>
          <p:nvPr/>
        </p:nvSpPr>
        <p:spPr>
          <a:xfrm>
            <a:off x="320040" y="2240280"/>
            <a:ext cx="38386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Key Properties: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28" name="Shape 12"/>
          <p:cNvSpPr/>
          <p:nvPr/>
        </p:nvSpPr>
        <p:spPr>
          <a:xfrm>
            <a:off x="411480" y="2697480"/>
            <a:ext cx="199440" cy="199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Text 13"/>
          <p:cNvSpPr/>
          <p:nvPr/>
        </p:nvSpPr>
        <p:spPr>
          <a:xfrm>
            <a:off x="731520" y="2633400"/>
            <a:ext cx="3381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Convert text to numerical vector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0" name="Shape 14"/>
          <p:cNvSpPr/>
          <p:nvPr/>
        </p:nvSpPr>
        <p:spPr>
          <a:xfrm>
            <a:off x="411480" y="3200400"/>
            <a:ext cx="199440" cy="199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Text 15"/>
          <p:cNvSpPr/>
          <p:nvPr/>
        </p:nvSpPr>
        <p:spPr>
          <a:xfrm>
            <a:off x="731520" y="3136320"/>
            <a:ext cx="3381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Capture semantic meaning &amp; context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2" name="Shape 16"/>
          <p:cNvSpPr/>
          <p:nvPr/>
        </p:nvSpPr>
        <p:spPr>
          <a:xfrm>
            <a:off x="411480" y="3703320"/>
            <a:ext cx="199440" cy="1994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Text 17"/>
          <p:cNvSpPr/>
          <p:nvPr/>
        </p:nvSpPr>
        <p:spPr>
          <a:xfrm>
            <a:off x="731520" y="3639240"/>
            <a:ext cx="3381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Enable similarity comparisons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4" name="Text 18"/>
          <p:cNvSpPr/>
          <p:nvPr/>
        </p:nvSpPr>
        <p:spPr>
          <a:xfrm>
            <a:off x="4663440" y="2240280"/>
            <a:ext cx="411300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Use Cases: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35" name="Shape 19"/>
          <p:cNvSpPr/>
          <p:nvPr/>
        </p:nvSpPr>
        <p:spPr>
          <a:xfrm>
            <a:off x="4663440" y="2697480"/>
            <a:ext cx="4113000" cy="43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6" name="Shape 20"/>
          <p:cNvSpPr/>
          <p:nvPr/>
        </p:nvSpPr>
        <p:spPr>
          <a:xfrm>
            <a:off x="4663440" y="2697480"/>
            <a:ext cx="89640" cy="437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7" name="Text 21"/>
          <p:cNvSpPr/>
          <p:nvPr/>
        </p:nvSpPr>
        <p:spPr>
          <a:xfrm>
            <a:off x="4846320" y="2697480"/>
            <a:ext cx="38386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Semantic Search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38" name="Shape 22"/>
          <p:cNvSpPr/>
          <p:nvPr/>
        </p:nvSpPr>
        <p:spPr>
          <a:xfrm>
            <a:off x="4663440" y="3246120"/>
            <a:ext cx="4113000" cy="43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9" name="Shape 23"/>
          <p:cNvSpPr/>
          <p:nvPr/>
        </p:nvSpPr>
        <p:spPr>
          <a:xfrm>
            <a:off x="4663440" y="3246120"/>
            <a:ext cx="89640" cy="4370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 24"/>
          <p:cNvSpPr/>
          <p:nvPr/>
        </p:nvSpPr>
        <p:spPr>
          <a:xfrm>
            <a:off x="4846320" y="3246120"/>
            <a:ext cx="38386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Document Similarity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1" name="Shape 25"/>
          <p:cNvSpPr/>
          <p:nvPr/>
        </p:nvSpPr>
        <p:spPr>
          <a:xfrm>
            <a:off x="4663440" y="3794760"/>
            <a:ext cx="4113000" cy="43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2" name="Shape 26"/>
          <p:cNvSpPr/>
          <p:nvPr/>
        </p:nvSpPr>
        <p:spPr>
          <a:xfrm>
            <a:off x="4663440" y="3794760"/>
            <a:ext cx="89640" cy="4370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3" name="Text 27"/>
          <p:cNvSpPr/>
          <p:nvPr/>
        </p:nvSpPr>
        <p:spPr>
          <a:xfrm>
            <a:off x="4846320" y="3794760"/>
            <a:ext cx="38386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Recommendation Systems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44" name="Shape 28"/>
          <p:cNvSpPr/>
          <p:nvPr/>
        </p:nvSpPr>
        <p:spPr>
          <a:xfrm>
            <a:off x="4663440" y="4343400"/>
            <a:ext cx="4113000" cy="43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12218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5" name="Shape 29"/>
          <p:cNvSpPr/>
          <p:nvPr/>
        </p:nvSpPr>
        <p:spPr>
          <a:xfrm>
            <a:off x="4663440" y="4343400"/>
            <a:ext cx="89640" cy="437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6" name="Text 30"/>
          <p:cNvSpPr/>
          <p:nvPr/>
        </p:nvSpPr>
        <p:spPr>
          <a:xfrm>
            <a:off x="4846320" y="4343400"/>
            <a:ext cx="3838680" cy="43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RAG (Retrieval-Augmented Generation)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8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49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OpenAI Embeddings — Single Query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50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1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OpenAIEmbeddings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embedder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embedder = OpenAIEmbeddings(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model="text-embedding-3-large",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dimensions=32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Generate embedding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text = "Paris is a beautiful city"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vector = embedder.embed_query(text)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print(f"Dimensions: {len(vector)}")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print(f"Sample: {vector[:5]}")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2" name="Shape 5"/>
          <p:cNvSpPr/>
          <p:nvPr/>
        </p:nvSpPr>
        <p:spPr>
          <a:xfrm>
            <a:off x="5943600" y="1005840"/>
            <a:ext cx="2924280" cy="182700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4" name="Text 7"/>
          <p:cNvSpPr/>
          <p:nvPr/>
        </p:nvSpPr>
        <p:spPr>
          <a:xfrm>
            <a:off x="6035040" y="1417320"/>
            <a:ext cx="27414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Dimensions: 32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Sample: [0.043,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-0.024, 0.087,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-0.012, 0.056]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5" name="Shape 8"/>
          <p:cNvSpPr/>
          <p:nvPr/>
        </p:nvSpPr>
        <p:spPr>
          <a:xfrm>
            <a:off x="5943600" y="2971800"/>
            <a:ext cx="2924280" cy="18727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56" name="Text 9"/>
          <p:cNvSpPr/>
          <p:nvPr/>
        </p:nvSpPr>
        <p:spPr>
          <a:xfrm>
            <a:off x="5943600" y="297180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KEY NOTES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57" name="Text 10"/>
          <p:cNvSpPr/>
          <p:nvPr/>
        </p:nvSpPr>
        <p:spPr>
          <a:xfrm>
            <a:off x="6080760" y="340164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text-embedding-3-large model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8" name="Text 11"/>
          <p:cNvSpPr/>
          <p:nvPr/>
        </p:nvSpPr>
        <p:spPr>
          <a:xfrm>
            <a:off x="6080760" y="380376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dimensions=32 (compact)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59" name="Text 12"/>
          <p:cNvSpPr/>
          <p:nvPr/>
        </p:nvSpPr>
        <p:spPr>
          <a:xfrm>
            <a:off x="6080760" y="420624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embed_query for single text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0" name="Text 13"/>
          <p:cNvSpPr/>
          <p:nvPr/>
        </p:nvSpPr>
        <p:spPr>
          <a:xfrm>
            <a:off x="6080760" y="4608720"/>
            <a:ext cx="26499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• </a:t>
            </a: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Returns float list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2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Embedding Multiple Documents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5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OpenAIEmbeddings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embedder = OpenAIEmbeddings(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model="text-embedding-3-large", dimensions=32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Multiple documents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docs = [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"New Delhi is the capital of India",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"New York is the capital of America",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"Bezing is the capital of China"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vectors = embedder.embed_documents(docs)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66" name="Shape 5"/>
          <p:cNvSpPr/>
          <p:nvPr/>
        </p:nvSpPr>
        <p:spPr>
          <a:xfrm>
            <a:off x="5943600" y="1005840"/>
            <a:ext cx="2924280" cy="1918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67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6035040" y="1417320"/>
            <a:ext cx="2741400" cy="127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9" name="Shape 8"/>
          <p:cNvSpPr/>
          <p:nvPr/>
        </p:nvSpPr>
        <p:spPr>
          <a:xfrm>
            <a:off x="5943600" y="3063240"/>
            <a:ext cx="2924280" cy="1781280"/>
          </a:xfrm>
          <a:prstGeom prst="rect">
            <a:avLst/>
          </a:prstGeom>
          <a:solidFill>
            <a:srgbClr val="0d1117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0" name="Text 9"/>
          <p:cNvSpPr/>
          <p:nvPr/>
        </p:nvSpPr>
        <p:spPr>
          <a:xfrm>
            <a:off x="5943600" y="30632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457b9d"/>
                </a:solidFill>
                <a:latin typeface="Calibri"/>
                <a:ea typeface="DejaVu Sans"/>
              </a:rPr>
              <a:t>DIFFERENCE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6035040" y="3474720"/>
            <a:ext cx="27414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embed_query()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→ </a:t>
            </a: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single text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embed_documents()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→ </a:t>
            </a:r>
            <a:r>
              <a:rPr b="0" lang="en-US" sz="1100" spc="-1" strike="noStrike">
                <a:solidFill>
                  <a:srgbClr val="edf2f4"/>
                </a:solidFill>
                <a:latin typeface="Consolas"/>
                <a:ea typeface="Consolas"/>
              </a:rPr>
              <a:t>list of texts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4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HuggingFace Embeddings (Local)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75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6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langchain_huggingface import HuggingFaceEmbeddings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Initialize local embedder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embedder = HuggingFaceEmbeddings(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model_name="sentence-transformers/all-MiniLM-L6-v2"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b7280"/>
                </a:solidFill>
                <a:latin typeface="Consolas"/>
                <a:ea typeface="Consolas"/>
              </a:rPr>
              <a:t># Generate embedding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e3b341"/>
                </a:solidFill>
                <a:latin typeface="Consolas"/>
                <a:ea typeface="Consolas"/>
              </a:rPr>
              <a:t>text = "Gen AI is very Interesting"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vector = embedder.embed_query(text)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ffffff"/>
                </a:solidFill>
                <a:latin typeface="Consolas"/>
                <a:ea typeface="Consolas"/>
              </a:rPr>
              <a:t> </a:t>
            </a: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print(f"Dimensions: {len(vector)}")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58a6ff"/>
                </a:solidFill>
                <a:latin typeface="Consolas"/>
                <a:ea typeface="Consolas"/>
              </a:rPr>
              <a:t>print(f"Sample: {vector[:5]}")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77" name="Shape 5"/>
          <p:cNvSpPr/>
          <p:nvPr/>
        </p:nvSpPr>
        <p:spPr>
          <a:xfrm>
            <a:off x="5943600" y="1005840"/>
            <a:ext cx="2924280" cy="1918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78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79" name="Text 7"/>
          <p:cNvSpPr/>
          <p:nvPr/>
        </p:nvSpPr>
        <p:spPr>
          <a:xfrm>
            <a:off x="6035040" y="1417320"/>
            <a:ext cx="2741400" cy="12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Dimensions: 384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Sample: [0.023,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-0.156, 0.089,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-0.034, 0.112]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80" name="Shape 8"/>
          <p:cNvSpPr/>
          <p:nvPr/>
        </p:nvSpPr>
        <p:spPr>
          <a:xfrm>
            <a:off x="5943600" y="3063240"/>
            <a:ext cx="2924280" cy="1781280"/>
          </a:xfrm>
          <a:prstGeom prst="rect">
            <a:avLst/>
          </a:prstGeom>
          <a:solidFill>
            <a:srgbClr val="0d1117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1" name="Text 9"/>
          <p:cNvSpPr/>
          <p:nvPr/>
        </p:nvSpPr>
        <p:spPr>
          <a:xfrm>
            <a:off x="5943600" y="30632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7b2d8b"/>
                </a:solidFill>
                <a:latin typeface="Calibri"/>
                <a:ea typeface="DejaVu Sans"/>
              </a:rPr>
              <a:t>ALL-MiniLM-L6-v2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82" name="Text 10"/>
          <p:cNvSpPr/>
          <p:nvPr/>
        </p:nvSpPr>
        <p:spPr>
          <a:xfrm>
            <a:off x="6080760" y="3493080"/>
            <a:ext cx="2649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384 dimensions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3" name="Text 11"/>
          <p:cNvSpPr/>
          <p:nvPr/>
        </p:nvSpPr>
        <p:spPr>
          <a:xfrm>
            <a:off x="6080760" y="3840480"/>
            <a:ext cx="2649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Runs locally (free!)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4" name="Text 12"/>
          <p:cNvSpPr/>
          <p:nvPr/>
        </p:nvSpPr>
        <p:spPr>
          <a:xfrm>
            <a:off x="6080760" y="4187880"/>
            <a:ext cx="2649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Sentence transformers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385" name="Text 13"/>
          <p:cNvSpPr/>
          <p:nvPr/>
        </p:nvSpPr>
        <p:spPr>
          <a:xfrm>
            <a:off x="6080760" y="4535280"/>
            <a:ext cx="26499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✓  </a:t>
            </a:r>
            <a:r>
              <a:rPr b="0" lang="en-US" sz="1100" spc="-1" strike="noStrike">
                <a:solidFill>
                  <a:srgbClr val="edf2f4"/>
                </a:solidFill>
                <a:latin typeface="Calibri"/>
                <a:ea typeface="DejaVu Sans"/>
              </a:rPr>
              <a:t>Great for similarity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0"/>
          <p:cNvSpPr/>
          <p:nvPr/>
        </p:nvSpPr>
        <p:spPr>
          <a:xfrm>
            <a:off x="0" y="0"/>
            <a:ext cx="9142200" cy="514188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7" name="Shape 1"/>
          <p:cNvSpPr/>
          <p:nvPr/>
        </p:nvSpPr>
        <p:spPr>
          <a:xfrm>
            <a:off x="0" y="0"/>
            <a:ext cx="3655800" cy="51418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8" name="Shape 2"/>
          <p:cNvSpPr/>
          <p:nvPr/>
        </p:nvSpPr>
        <p:spPr>
          <a:xfrm>
            <a:off x="914400" y="914400"/>
            <a:ext cx="3655800" cy="36558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89" name="Shape 3"/>
          <p:cNvSpPr/>
          <p:nvPr/>
        </p:nvSpPr>
        <p:spPr>
          <a:xfrm>
            <a:off x="4114800" y="1645920"/>
            <a:ext cx="108000" cy="16441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0" name="Text 4"/>
          <p:cNvSpPr/>
          <p:nvPr/>
        </p:nvSpPr>
        <p:spPr>
          <a:xfrm>
            <a:off x="4389120" y="1554480"/>
            <a:ext cx="45702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6b7a8d"/>
                </a:solidFill>
                <a:latin typeface="Calibri"/>
                <a:ea typeface="DejaVu Sans"/>
              </a:rPr>
              <a:t>Part 6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91" name="Text 5"/>
          <p:cNvSpPr/>
          <p:nvPr/>
        </p:nvSpPr>
        <p:spPr>
          <a:xfrm>
            <a:off x="4389120" y="2011680"/>
            <a:ext cx="457020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Document</a:t>
            </a:r>
            <a:endParaRPr b="0" lang="en-IN" sz="3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  <a:ea typeface="Calibri"/>
              </a:rPr>
              <a:t>Similarity Search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392" name="Text 6"/>
          <p:cNvSpPr/>
          <p:nvPr/>
        </p:nvSpPr>
        <p:spPr>
          <a:xfrm>
            <a:off x="4389120" y="3657600"/>
            <a:ext cx="45702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df2f4"/>
                </a:solidFill>
                <a:latin typeface="Calibri"/>
                <a:ea typeface="DejaVu Sans"/>
              </a:rPr>
              <a:t>Cosine similarity, finding matches, practical implementation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95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Document Similarity Search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396" name="Shape 3"/>
          <p:cNvSpPr/>
          <p:nvPr/>
        </p:nvSpPr>
        <p:spPr>
          <a:xfrm>
            <a:off x="320040" y="1024200"/>
            <a:ext cx="8502120" cy="54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50760" dir="8100000" dist="25455" kx="0" ky="0" rotWithShape="0" sx="100000" sy="100000">
              <a:srgbClr val="000000">
                <a:alpha val="7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7" name="Text 4"/>
          <p:cNvSpPr/>
          <p:nvPr/>
        </p:nvSpPr>
        <p:spPr>
          <a:xfrm>
            <a:off x="320040" y="1024200"/>
            <a:ext cx="85021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1520" rIns="101520" tIns="101520" bIns="10152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Goal: </a:t>
            </a:r>
            <a:r>
              <a:rPr b="0" lang="en-US" sz="1300" spc="-1" strike="noStrike">
                <a:solidFill>
                  <a:srgbClr val="2d4059"/>
                </a:solidFill>
                <a:latin typeface="Calibri"/>
                <a:ea typeface="DejaVu Sans"/>
              </a:rPr>
              <a:t>Find the most relevant document for a given user query — Foundation for RAG applications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98" name="Shape 5"/>
          <p:cNvSpPr/>
          <p:nvPr/>
        </p:nvSpPr>
        <p:spPr>
          <a:xfrm>
            <a:off x="320040" y="1737360"/>
            <a:ext cx="4158720" cy="118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99" name="Shape 6"/>
          <p:cNvSpPr/>
          <p:nvPr/>
        </p:nvSpPr>
        <p:spPr>
          <a:xfrm>
            <a:off x="457200" y="1938600"/>
            <a:ext cx="638280" cy="638280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0" name="Text 7"/>
          <p:cNvSpPr/>
          <p:nvPr/>
        </p:nvSpPr>
        <p:spPr>
          <a:xfrm>
            <a:off x="457200" y="1938600"/>
            <a:ext cx="638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1" name="Text 8"/>
          <p:cNvSpPr/>
          <p:nvPr/>
        </p:nvSpPr>
        <p:spPr>
          <a:xfrm>
            <a:off x="1216080" y="187452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Generate Embeddings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2" name="Text 9"/>
          <p:cNvSpPr/>
          <p:nvPr/>
        </p:nvSpPr>
        <p:spPr>
          <a:xfrm>
            <a:off x="1216080" y="2240280"/>
            <a:ext cx="31071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d4059"/>
                </a:solidFill>
                <a:latin typeface="Calibri"/>
                <a:ea typeface="DejaVu Sans"/>
              </a:rPr>
              <a:t>Embed all documents in collection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3" name="Shape 10"/>
          <p:cNvSpPr/>
          <p:nvPr/>
        </p:nvSpPr>
        <p:spPr>
          <a:xfrm>
            <a:off x="4709160" y="1737360"/>
            <a:ext cx="4158720" cy="118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4" name="Shape 11"/>
          <p:cNvSpPr/>
          <p:nvPr/>
        </p:nvSpPr>
        <p:spPr>
          <a:xfrm>
            <a:off x="4846320" y="1938600"/>
            <a:ext cx="638280" cy="6382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05" name="Text 12"/>
          <p:cNvSpPr/>
          <p:nvPr/>
        </p:nvSpPr>
        <p:spPr>
          <a:xfrm>
            <a:off x="4846320" y="1938600"/>
            <a:ext cx="638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06" name="Text 13"/>
          <p:cNvSpPr/>
          <p:nvPr/>
        </p:nvSpPr>
        <p:spPr>
          <a:xfrm>
            <a:off x="5605200" y="187452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Embed the Query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07" name="Text 14"/>
          <p:cNvSpPr/>
          <p:nvPr/>
        </p:nvSpPr>
        <p:spPr>
          <a:xfrm>
            <a:off x="5605200" y="2240280"/>
            <a:ext cx="31071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d4059"/>
                </a:solidFill>
                <a:latin typeface="Calibri"/>
                <a:ea typeface="DejaVu Sans"/>
              </a:rPr>
              <a:t>Embed incoming user question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08" name="Shape 15"/>
          <p:cNvSpPr/>
          <p:nvPr/>
        </p:nvSpPr>
        <p:spPr>
          <a:xfrm>
            <a:off x="320040" y="3108960"/>
            <a:ext cx="4158720" cy="118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09" name="Shape 16"/>
          <p:cNvSpPr/>
          <p:nvPr/>
        </p:nvSpPr>
        <p:spPr>
          <a:xfrm>
            <a:off x="457200" y="3310200"/>
            <a:ext cx="638280" cy="6382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0" name="Text 17"/>
          <p:cNvSpPr/>
          <p:nvPr/>
        </p:nvSpPr>
        <p:spPr>
          <a:xfrm>
            <a:off x="457200" y="3310200"/>
            <a:ext cx="638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1" name="Text 18"/>
          <p:cNvSpPr/>
          <p:nvPr/>
        </p:nvSpPr>
        <p:spPr>
          <a:xfrm>
            <a:off x="1216080" y="324612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Cosine Similarity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2" name="Text 19"/>
          <p:cNvSpPr/>
          <p:nvPr/>
        </p:nvSpPr>
        <p:spPr>
          <a:xfrm>
            <a:off x="1216080" y="3611880"/>
            <a:ext cx="31071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d4059"/>
                </a:solidFill>
                <a:latin typeface="Calibri"/>
                <a:ea typeface="DejaVu Sans"/>
              </a:rPr>
              <a:t>Calculate similarity scores vs all docs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413" name="Shape 20"/>
          <p:cNvSpPr/>
          <p:nvPr/>
        </p:nvSpPr>
        <p:spPr>
          <a:xfrm>
            <a:off x="4709160" y="3108960"/>
            <a:ext cx="4158720" cy="1186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14" name="Shape 21"/>
          <p:cNvSpPr/>
          <p:nvPr/>
        </p:nvSpPr>
        <p:spPr>
          <a:xfrm>
            <a:off x="4846320" y="3310200"/>
            <a:ext cx="638280" cy="63828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5" name="Text 22"/>
          <p:cNvSpPr/>
          <p:nvPr/>
        </p:nvSpPr>
        <p:spPr>
          <a:xfrm>
            <a:off x="4846320" y="3310200"/>
            <a:ext cx="638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16" name="Text 23"/>
          <p:cNvSpPr/>
          <p:nvPr/>
        </p:nvSpPr>
        <p:spPr>
          <a:xfrm>
            <a:off x="5605200" y="3246120"/>
            <a:ext cx="3107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Return Best Match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17" name="Text 24"/>
          <p:cNvSpPr/>
          <p:nvPr/>
        </p:nvSpPr>
        <p:spPr>
          <a:xfrm>
            <a:off x="5605200" y="3611880"/>
            <a:ext cx="31071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2d4059"/>
                </a:solidFill>
                <a:latin typeface="Calibri"/>
                <a:ea typeface="DejaVu Sans"/>
              </a:rPr>
              <a:t>Return doc with highest similarity score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  <a:ea typeface="Calibri"/>
              </a:rPr>
              <a:t>Cosine Similarity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21" name="Shape 3"/>
          <p:cNvSpPr/>
          <p:nvPr/>
        </p:nvSpPr>
        <p:spPr>
          <a:xfrm>
            <a:off x="320040" y="1024200"/>
            <a:ext cx="8502120" cy="77544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2" name="Text 4"/>
          <p:cNvSpPr/>
          <p:nvPr/>
        </p:nvSpPr>
        <p:spPr>
          <a:xfrm>
            <a:off x="548640" y="1024200"/>
            <a:ext cx="118692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DejaVu Sans"/>
              </a:rPr>
              <a:t>Formula: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23" name="Text 5"/>
          <p:cNvSpPr/>
          <p:nvPr/>
        </p:nvSpPr>
        <p:spPr>
          <a:xfrm>
            <a:off x="1828800" y="1024200"/>
            <a:ext cx="676476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b4d8"/>
                </a:solidFill>
                <a:latin typeface="Consolas"/>
                <a:ea typeface="Consolas"/>
              </a:rPr>
              <a:t>cos(θ) = (A·B) / (||A|| × ||B||)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24" name="Shape 6"/>
          <p:cNvSpPr/>
          <p:nvPr/>
        </p:nvSpPr>
        <p:spPr>
          <a:xfrm>
            <a:off x="320040" y="1993320"/>
            <a:ext cx="775440" cy="77544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5" name="Text 7"/>
          <p:cNvSpPr/>
          <p:nvPr/>
        </p:nvSpPr>
        <p:spPr>
          <a:xfrm>
            <a:off x="320040" y="1993320"/>
            <a:ext cx="7754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-1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6" name="Text 8"/>
          <p:cNvSpPr/>
          <p:nvPr/>
        </p:nvSpPr>
        <p:spPr>
          <a:xfrm>
            <a:off x="-137160" y="2834640"/>
            <a:ext cx="16898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4059"/>
                </a:solidFill>
                <a:latin typeface="Calibri"/>
                <a:ea typeface="DejaVu Sans"/>
              </a:rPr>
              <a:t>Opposite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27" name="Shape 9"/>
          <p:cNvSpPr/>
          <p:nvPr/>
        </p:nvSpPr>
        <p:spPr>
          <a:xfrm>
            <a:off x="3200400" y="1993320"/>
            <a:ext cx="775440" cy="77544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88888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Text 10"/>
          <p:cNvSpPr/>
          <p:nvPr/>
        </p:nvSpPr>
        <p:spPr>
          <a:xfrm>
            <a:off x="3200400" y="1993320"/>
            <a:ext cx="7754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9" name="Text 11"/>
          <p:cNvSpPr/>
          <p:nvPr/>
        </p:nvSpPr>
        <p:spPr>
          <a:xfrm>
            <a:off x="2743200" y="2834640"/>
            <a:ext cx="16898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4059"/>
                </a:solidFill>
                <a:latin typeface="Calibri"/>
                <a:ea typeface="DejaVu Sans"/>
              </a:rPr>
              <a:t>No relation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0" name="Shape 12"/>
          <p:cNvSpPr/>
          <p:nvPr/>
        </p:nvSpPr>
        <p:spPr>
          <a:xfrm>
            <a:off x="6080760" y="1993320"/>
            <a:ext cx="775440" cy="775440"/>
          </a:xfrm>
          <a:prstGeom prst="ellipse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Text 13"/>
          <p:cNvSpPr/>
          <p:nvPr/>
        </p:nvSpPr>
        <p:spPr>
          <a:xfrm>
            <a:off x="6080760" y="1993320"/>
            <a:ext cx="775440" cy="77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DejaVu Sans"/>
              </a:rPr>
              <a:t>+1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2" name="Text 14"/>
          <p:cNvSpPr/>
          <p:nvPr/>
        </p:nvSpPr>
        <p:spPr>
          <a:xfrm>
            <a:off x="5623560" y="2834640"/>
            <a:ext cx="168984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2d4059"/>
                </a:solidFill>
                <a:latin typeface="Calibri"/>
                <a:ea typeface="DejaVu Sans"/>
              </a:rPr>
              <a:t>Identical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33" name="Shape 15"/>
          <p:cNvSpPr/>
          <p:nvPr/>
        </p:nvSpPr>
        <p:spPr>
          <a:xfrm>
            <a:off x="1097280" y="2350080"/>
            <a:ext cx="2101320" cy="529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4" name="Shape 16"/>
          <p:cNvSpPr/>
          <p:nvPr/>
        </p:nvSpPr>
        <p:spPr>
          <a:xfrm>
            <a:off x="3977640" y="2350080"/>
            <a:ext cx="2101320" cy="529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5" name="Text 17"/>
          <p:cNvSpPr/>
          <p:nvPr/>
        </p:nvSpPr>
        <p:spPr>
          <a:xfrm>
            <a:off x="320040" y="3337560"/>
            <a:ext cx="85021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1a2e"/>
                </a:solidFill>
                <a:latin typeface="Calibri"/>
                <a:ea typeface="DejaVu Sans"/>
              </a:rPr>
              <a:t>Widely used in: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36" name="Shape 18"/>
          <p:cNvSpPr/>
          <p:nvPr/>
        </p:nvSpPr>
        <p:spPr>
          <a:xfrm>
            <a:off x="320040" y="3749040"/>
            <a:ext cx="27414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37" name="Shape 19"/>
          <p:cNvSpPr/>
          <p:nvPr/>
        </p:nvSpPr>
        <p:spPr>
          <a:xfrm>
            <a:off x="320040" y="3749040"/>
            <a:ext cx="2741400" cy="89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Text 20"/>
          <p:cNvSpPr/>
          <p:nvPr/>
        </p:nvSpPr>
        <p:spPr>
          <a:xfrm>
            <a:off x="320040" y="3840480"/>
            <a:ext cx="27414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Semantic Search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9" name="Shape 21"/>
          <p:cNvSpPr/>
          <p:nvPr/>
        </p:nvSpPr>
        <p:spPr>
          <a:xfrm>
            <a:off x="3264480" y="3749040"/>
            <a:ext cx="27414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0" name="Shape 22"/>
          <p:cNvSpPr/>
          <p:nvPr/>
        </p:nvSpPr>
        <p:spPr>
          <a:xfrm>
            <a:off x="3264480" y="3749040"/>
            <a:ext cx="2741400" cy="8964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1" name="Text 23"/>
          <p:cNvSpPr/>
          <p:nvPr/>
        </p:nvSpPr>
        <p:spPr>
          <a:xfrm>
            <a:off x="3264480" y="3840480"/>
            <a:ext cx="27414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Recommendation Systems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2" name="Shape 24"/>
          <p:cNvSpPr/>
          <p:nvPr/>
        </p:nvSpPr>
        <p:spPr>
          <a:xfrm>
            <a:off x="6208920" y="3749040"/>
            <a:ext cx="2741400" cy="68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8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43" name="Shape 25"/>
          <p:cNvSpPr/>
          <p:nvPr/>
        </p:nvSpPr>
        <p:spPr>
          <a:xfrm>
            <a:off x="6208920" y="3749040"/>
            <a:ext cx="2741400" cy="896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Text 26"/>
          <p:cNvSpPr/>
          <p:nvPr/>
        </p:nvSpPr>
        <p:spPr>
          <a:xfrm>
            <a:off x="6208920" y="3840480"/>
            <a:ext cx="27414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1a1a2e"/>
                </a:solidFill>
                <a:latin typeface="Calibri"/>
                <a:ea typeface="DejaVu Sans"/>
              </a:rPr>
              <a:t>Document Clustering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45" name="Text 27"/>
          <p:cNvSpPr/>
          <p:nvPr/>
        </p:nvSpPr>
        <p:spPr>
          <a:xfrm>
            <a:off x="320040" y="4544640"/>
            <a:ext cx="850212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6b7a8d"/>
                </a:solidFill>
                <a:latin typeface="Calibri"/>
                <a:ea typeface="DejaVu Sans"/>
              </a:rPr>
              <a:t>Closer to 1 = More Similar  •  Range: -1 to 1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7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48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Similarity Search — Implementation Part 1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49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langchain_openai import OpenAIEmbeddings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sklearn.metrics.pairwise import cosine_similarity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from dotenv import load_dotenv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load_dotenv()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embedder = OpenAIEmbeddings(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model="text-embedding-3-large", dimensions=300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Document collection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docs = [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"Rohit is an aggressive batsman",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"Sehwag is a calm captain",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"Nehra is a fast bowler"</a:t>
            </a: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query = "Tell me about Sehwag"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1" name="Shape 5"/>
          <p:cNvSpPr/>
          <p:nvPr/>
        </p:nvSpPr>
        <p:spPr>
          <a:xfrm>
            <a:off x="5943600" y="1005840"/>
            <a:ext cx="292428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2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2dc653"/>
                </a:solidFill>
                <a:latin typeface="Calibri"/>
                <a:ea typeface="DejaVu Sans"/>
              </a:rPr>
              <a:t>SETUP BREAKDOWN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3" name="Text 7"/>
          <p:cNvSpPr/>
          <p:nvPr/>
        </p:nvSpPr>
        <p:spPr>
          <a:xfrm>
            <a:off x="6080760" y="1463040"/>
            <a:ext cx="729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1. Import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4" name="Text 8"/>
          <p:cNvSpPr/>
          <p:nvPr/>
        </p:nvSpPr>
        <p:spPr>
          <a:xfrm>
            <a:off x="6858000" y="1463040"/>
            <a:ext cx="1827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OpenAIEmbeddings + cosine_similarity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5" name="Text 9"/>
          <p:cNvSpPr/>
          <p:nvPr/>
        </p:nvSpPr>
        <p:spPr>
          <a:xfrm>
            <a:off x="6080760" y="2103120"/>
            <a:ext cx="729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2. Init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6" name="Text 10"/>
          <p:cNvSpPr/>
          <p:nvPr/>
        </p:nvSpPr>
        <p:spPr>
          <a:xfrm>
            <a:off x="6858000" y="2103120"/>
            <a:ext cx="1827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embedder with 300 dimensions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7" name="Text 11"/>
          <p:cNvSpPr/>
          <p:nvPr/>
        </p:nvSpPr>
        <p:spPr>
          <a:xfrm>
            <a:off x="6080760" y="2743200"/>
            <a:ext cx="729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3. Docs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58" name="Text 12"/>
          <p:cNvSpPr/>
          <p:nvPr/>
        </p:nvSpPr>
        <p:spPr>
          <a:xfrm>
            <a:off x="6858000" y="2743200"/>
            <a:ext cx="1827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3 cricket player descriptions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59" name="Text 13"/>
          <p:cNvSpPr/>
          <p:nvPr/>
        </p:nvSpPr>
        <p:spPr>
          <a:xfrm>
            <a:off x="6080760" y="3383280"/>
            <a:ext cx="729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4. Query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60" name="Text 14"/>
          <p:cNvSpPr/>
          <p:nvPr/>
        </p:nvSpPr>
        <p:spPr>
          <a:xfrm>
            <a:off x="6858000" y="3383280"/>
            <a:ext cx="1827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User question about Kohli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61" name="Text 15"/>
          <p:cNvSpPr/>
          <p:nvPr/>
        </p:nvSpPr>
        <p:spPr>
          <a:xfrm>
            <a:off x="6080760" y="4023360"/>
            <a:ext cx="7297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Next →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62" name="Text 16"/>
          <p:cNvSpPr/>
          <p:nvPr/>
        </p:nvSpPr>
        <p:spPr>
          <a:xfrm>
            <a:off x="6858000" y="4023360"/>
            <a:ext cx="182700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Generate embeddings &amp; search!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Shape 0"/>
          <p:cNvSpPr/>
          <p:nvPr/>
        </p:nvSpPr>
        <p:spPr>
          <a:xfrm>
            <a:off x="0" y="0"/>
            <a:ext cx="162720" cy="51418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Shape 1"/>
          <p:cNvSpPr/>
          <p:nvPr/>
        </p:nvSpPr>
        <p:spPr>
          <a:xfrm>
            <a:off x="0" y="0"/>
            <a:ext cx="9142200" cy="912600"/>
          </a:xfrm>
          <a:prstGeom prst="rect">
            <a:avLst/>
          </a:prstGeom>
          <a:solidFill>
            <a:srgbClr val="070d14"/>
          </a:solidFill>
          <a:ln w="12700">
            <a:solidFill>
              <a:srgbClr val="070d1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Text 2"/>
          <p:cNvSpPr/>
          <p:nvPr/>
        </p:nvSpPr>
        <p:spPr>
          <a:xfrm>
            <a:off x="365760" y="109800"/>
            <a:ext cx="822780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  <a:ea typeface="Calibri"/>
              </a:rPr>
              <a:t>Similarity Search — Implementation Part 2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466" name="Shape 3"/>
          <p:cNvSpPr/>
          <p:nvPr/>
        </p:nvSpPr>
        <p:spPr>
          <a:xfrm>
            <a:off x="320040" y="1005840"/>
            <a:ext cx="5484600" cy="38386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7" name="Text 4"/>
          <p:cNvSpPr/>
          <p:nvPr/>
        </p:nvSpPr>
        <p:spPr>
          <a:xfrm>
            <a:off x="457200" y="1097280"/>
            <a:ext cx="530172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Generate embeddings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doc_vectors = embedder.embed_documents(docs)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query_vector = embedder.embed_query(query)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Calculate similarity scores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scores = cosine_similarity([query_vector], doc_vectors)[0]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6b7280"/>
                </a:solidFill>
                <a:latin typeface="Consolas"/>
                <a:ea typeface="Consolas"/>
              </a:rPr>
              <a:t># Find best match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indexed_scores = list(enumerate(scores))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sorted_results = sorted(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    </a:t>
            </a: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indexed_scores, key=lambda x: x[1], reverse=True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best_idx, best_score = sorted_results[0]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print(f"Best match: {docs[best_idx]}")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58a6ff"/>
                </a:solidFill>
                <a:latin typeface="Consolas"/>
                <a:ea typeface="Consolas"/>
              </a:rPr>
              <a:t>print(f"Similarity: {best_score:.3f}")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68" name="Shape 5"/>
          <p:cNvSpPr/>
          <p:nvPr/>
        </p:nvSpPr>
        <p:spPr>
          <a:xfrm>
            <a:off x="5943600" y="1005840"/>
            <a:ext cx="2924280" cy="2009880"/>
          </a:xfrm>
          <a:prstGeom prst="rect">
            <a:avLst/>
          </a:prstGeom>
          <a:solidFill>
            <a:srgbClr val="0d1117"/>
          </a:solidFill>
          <a:ln w="12700">
            <a:solidFill>
              <a:srgbClr val="3fb9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9" name="Text 6"/>
          <p:cNvSpPr/>
          <p:nvPr/>
        </p:nvSpPr>
        <p:spPr>
          <a:xfrm>
            <a:off x="5943600" y="100584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3fb950"/>
                </a:solidFill>
                <a:latin typeface="Calibri"/>
                <a:ea typeface="DejaVu Sans"/>
              </a:rPr>
              <a:t>OUTPUT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70" name="Text 7"/>
          <p:cNvSpPr/>
          <p:nvPr/>
        </p:nvSpPr>
        <p:spPr>
          <a:xfrm>
            <a:off x="6035040" y="1417320"/>
            <a:ext cx="274140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Query: Tell me about Sehwag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Best match: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3b341"/>
                </a:solidFill>
                <a:latin typeface="Consolas"/>
                <a:ea typeface="Consolas"/>
              </a:rPr>
              <a:t>Sehwag is a calm captain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3fb950"/>
                </a:solidFill>
                <a:latin typeface="Consolas"/>
                <a:ea typeface="Consolas"/>
              </a:rPr>
              <a:t>Similarity: 0.71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1" name="Shape 8"/>
          <p:cNvSpPr/>
          <p:nvPr/>
        </p:nvSpPr>
        <p:spPr>
          <a:xfrm>
            <a:off x="5943600" y="3154680"/>
            <a:ext cx="2924280" cy="1689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Text 9"/>
          <p:cNvSpPr/>
          <p:nvPr/>
        </p:nvSpPr>
        <p:spPr>
          <a:xfrm>
            <a:off x="5943600" y="3154680"/>
            <a:ext cx="2924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00b4d8"/>
                </a:solidFill>
                <a:latin typeface="Calibri"/>
                <a:ea typeface="DejaVu Sans"/>
              </a:rPr>
              <a:t>HOW IT WORKS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73" name="Text 10"/>
          <p:cNvSpPr/>
          <p:nvPr/>
        </p:nvSpPr>
        <p:spPr>
          <a:xfrm>
            <a:off x="6080760" y="3584520"/>
            <a:ext cx="2649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1. Embed all 3 docs + query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4" name="Text 11"/>
          <p:cNvSpPr/>
          <p:nvPr/>
        </p:nvSpPr>
        <p:spPr>
          <a:xfrm>
            <a:off x="6080760" y="3904560"/>
            <a:ext cx="2649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2. Cosine similarity scores all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5" name="Text 12"/>
          <p:cNvSpPr/>
          <p:nvPr/>
        </p:nvSpPr>
        <p:spPr>
          <a:xfrm>
            <a:off x="6080760" y="4224600"/>
            <a:ext cx="2649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3. Sort by score (desc)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76" name="Text 13"/>
          <p:cNvSpPr/>
          <p:nvPr/>
        </p:nvSpPr>
        <p:spPr>
          <a:xfrm>
            <a:off x="6080760" y="4544640"/>
            <a:ext cx="2649960" cy="29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edf2f4"/>
                </a:solidFill>
                <a:latin typeface="Calibri"/>
                <a:ea typeface="DejaVu Sans"/>
              </a:rPr>
              <a:t>4. 0.071 = 71% similar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2026-03-12T15:51:33Z</dcterms:created>
  <dc:creator>PptxGenJS</dc:creator>
  <dc:description/>
  <dc:language>en-IN</dc:language>
  <cp:lastModifiedBy/>
  <dcterms:modified xsi:type="dcterms:W3CDTF">2026-03-22T10:35:24Z</dcterms:modified>
  <cp:revision>11</cp:revision>
  <dc:subject>PptxGenJS Presentation</dc:subject>
  <dc:title>LangChain Models - Part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