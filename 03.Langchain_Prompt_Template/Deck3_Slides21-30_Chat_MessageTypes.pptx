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Building a Simple Chatbot — The Memory Problem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029200" cy="27249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5029200" cy="320040"/>
          </a:xfrm>
          <a:prstGeom prst="rect">
            <a:avLst/>
          </a:prstGeom>
          <a:solidFill>
            <a:srgbClr val="111C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simple_chatbot.py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4828032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= ChatOpenAI()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user_msg = input("You: ")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user_msg.lower() == "exit":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bot.invoke(user_msg)  # No history!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print(f"AI: {reply.content}")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4206240"/>
            <a:ext cx="5029200" cy="749808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206240"/>
            <a:ext cx="64008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0624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🚫  Problem: No Memory of Previous Messages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Each bot.invoke() call is treated completely independently — the LLM sees only the latest message, not the conversation so far.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1389888"/>
            <a:ext cx="33375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389888"/>
            <a:ext cx="333756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596128" y="138988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Without Memory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96128" y="1883664"/>
            <a:ext cx="2487168" cy="566928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93852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You: Hi, my name is Sarah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2596896"/>
            <a:ext cx="2487168" cy="566928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6517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AI: Hello! How can I help you today?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96128" y="3310128"/>
            <a:ext cx="2487168" cy="566928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3364992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You: What's my name?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4023360"/>
            <a:ext cx="2487168" cy="56692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4078224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AI: I'm sorry, I don't know your name.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32120" y="4736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</a:rPr>
              <a:t>😔 The bot forgets everything between calls!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Solution: Maintain Chat History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029200" cy="31821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5029200" cy="320040"/>
          </a:xfrm>
          <a:prstGeom prst="rect">
            <a:avLst/>
          </a:prstGeom>
          <a:solidFill>
            <a:srgbClr val="111C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chatbot_with_memory.py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4828032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          = ChatOpenAI()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dialogue_log  = []   # accumulate ALL messages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user_text = input("You: ")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user_text.lower() == "exit":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Add user message to history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dialogue_log.append(user_text)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② Send ENTIRE history to LLM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bot.invoke(dialogue_log)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Store AI response in history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dialogue_log.append(reply.content)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print(f"AI: {reply.content}")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Bot can now reference earlier turns!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486400" y="1389888"/>
            <a:ext cx="3337560" cy="3182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1389888"/>
            <a:ext cx="33375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596128" y="138988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With 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96128" y="1883664"/>
            <a:ext cx="2487168" cy="530352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1929384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You: Hi, my name is Sarah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2542032"/>
            <a:ext cx="2487168" cy="530352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587752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AI: Hello Sarah! How can I help you?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3200400"/>
            <a:ext cx="2487168" cy="530352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246120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You: What's my name?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3858768"/>
            <a:ext cx="2487168" cy="530352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904488"/>
            <a:ext cx="23408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AI: Your name is Sarah! 😊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2120" y="46268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😊 Bot remembers the entire conversation!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5029200" cy="34747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6634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Key: Send the FULL dialogue_log list with every invoke() call — LLMs are stateless, the app provides the context.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Message Types in LangChain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8988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Typed message objects replace plain strings — they tell the LLM exactly who said what in the conversation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608" y="1938528"/>
            <a:ext cx="2788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938528"/>
            <a:ext cx="2788920" cy="5120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938528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⚙️  SystemMessage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2336" y="2523744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Sets the AI's persona, rules, and behaviour constraints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294436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🕐 Used once at the very start of the conversation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3310128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01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medical assistant"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3785616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8561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"Reply only in formal English"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" y="4261104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6110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an expert Python developer"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36976" y="1938528"/>
            <a:ext cx="2788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36976" y="1938528"/>
            <a:ext cx="2788920" cy="5120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346704" y="1938528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👤  HumanMessage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46704" y="2523744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Represents each user input — questions or instructions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46704" y="294436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🕐 Created for every turn the user speaks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46704" y="3310128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33101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photosynthesis"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46704" y="3785616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378561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 the BERT paper"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46704" y="4261104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3401568" y="426110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"Debug this Python code"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81344" y="1938528"/>
            <a:ext cx="2788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1938528"/>
            <a:ext cx="2788920" cy="5120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291072" y="1938528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🤖  AIMessage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91072" y="2523744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Stores the model's responses for ongoing context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294436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🕐 Appended after every AI reply to maintain history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91072" y="3310128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345936" y="33101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"Photosynthesis is the process by..."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91072" y="3785616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378561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"BERT stands for Bidirectional..."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91072" y="4261104"/>
            <a:ext cx="2633472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345936" y="426110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error on line 3 is..."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Typed Messages Beat Plain Strings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413308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4133088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89888"/>
            <a:ext cx="3950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Plain String History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3977640" cy="18105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38528"/>
            <a:ext cx="382219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[]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history.append("Hi, I'm Alex")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history.append("Hello, how can I help?")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history.append("What's my name?")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history.append("I don't know your name.")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can't tell who said what!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794760"/>
            <a:ext cx="391363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LLM cannot distinguish user from AI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 role information is conveyed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Ambiguous in multi-turn scenarios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Breaks role-play and system-level constraints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389888"/>
            <a:ext cx="4133088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389888"/>
            <a:ext cx="4133088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389888"/>
            <a:ext cx="3950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Typed Message History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9744" y="1901952"/>
            <a:ext cx="3977640" cy="18105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1938528"/>
            <a:ext cx="382219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[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SystemMessage("You are a helpful assistant"),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HumanMessage("Hi, I'm Alex"),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AIMessage("Hello Alex, how can I help?"),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HumanMessage("What's my name?"),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knows exactly who said what!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3794760"/>
            <a:ext cx="391363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Each message has a clear role label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LLM respects system-level instructions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Proper multi-turn context maintained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Consistent with how APIs expect input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Using Message Types in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074920" cy="35844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5074920" cy="320040"/>
          </a:xfrm>
          <a:prstGeom prst="rect">
            <a:avLst/>
          </a:prstGeom>
          <a:solidFill>
            <a:srgbClr val="111C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typed_messages_demo.py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4864608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(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SystemMessage, HumanMessage, AIMessage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ai_bot = ChatOpenAI()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an initial conversation with context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dialogue = [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SystemMessage(content="You are a helpful AI tutor"),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HumanMessage(content="Tell me about LangChain"),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AIMessage(content="LangChain is a framework for 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"building LLM-powered applications..."),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HumanMessage(content="What are its key features?"),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Send full typed history to LLM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ai_bot.invoke(dialogue)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Store response with its label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dialogue.append(AIMessage(content=response.content))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print(dialogue)   # All messages properly labelled!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3898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Message flow in dialogue list: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828800"/>
            <a:ext cx="3246120" cy="438912"/>
          </a:xfrm>
          <a:prstGeom prst="rect">
            <a:avLst/>
          </a:prstGeom>
          <a:solidFill>
            <a:srgbClr val="1D4ED8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828800"/>
            <a:ext cx="54864" cy="4389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687568" y="182880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SystemMessage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96912" y="182880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Sets AI persona once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6208" y="2267712"/>
            <a:ext cx="36576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7840" y="2359152"/>
            <a:ext cx="3246120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235915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687568" y="23591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HumanMessage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96912" y="2359152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First user question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2798064"/>
            <a:ext cx="36576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2889504"/>
            <a:ext cx="3246120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2889504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687568" y="288950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AIMessage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96912" y="2889504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AI's first reply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36208" y="3328416"/>
            <a:ext cx="36576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5577840" y="3419856"/>
            <a:ext cx="3246120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3419856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341985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HumanMessage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96912" y="3419856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Follow-up question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3858768"/>
            <a:ext cx="36576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Shape 29"/>
          <p:cNvSpPr/>
          <p:nvPr/>
        </p:nvSpPr>
        <p:spPr>
          <a:xfrm>
            <a:off x="5577840" y="3950208"/>
            <a:ext cx="3246120" cy="43891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3950208"/>
            <a:ext cx="54864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687568" y="395020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→ invoke()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96912" y="395020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Full list sent to LLM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36208" y="4389120"/>
            <a:ext cx="36576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5577840" y="4480560"/>
            <a:ext cx="3246120" cy="438912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7840" y="4480560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687568" y="44805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AIMessage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96912" y="448056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New reply appended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 Chatbot with Typed Message Labels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36393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8503920" cy="320040"/>
          </a:xfrm>
          <a:prstGeom prst="rect">
            <a:avLst/>
          </a:prstGeom>
          <a:solidFill>
            <a:srgbClr val="111C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</a:rPr>
              <a:t>production_chatbot.py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302752" cy="3182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SystemMessage, HumanMessage, AIMessage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ai_engine   = ChatOpenAI(model="gpt-4o-mini", temperature=0.7)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SYSTEM_ROLE = "You are a knowledgeable and friendly AI assistant"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Initialise conversation with system persona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dialogue = [SystemMessage(content=SYSTEM_ROLE)]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print("Chatbot ready — type 'quit' to exit.\n")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input("You: ").strip()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user_input: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user_input.lower() == "quit":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print("Goodbye!")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dialogue.append(HumanMessage(content=user_input))   # ① Log user turn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 = ai_engine.invoke(dialogue)               # ② Full context sent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ai_text   = response.content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dialogue.append(AIMessage(content=ai_text))          # ③ Log AI reply</a:t>
            </a: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endParaRPr lang="en-US" sz="9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print(f"AI: {ai_text}\n")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20040" y="5102352"/>
            <a:ext cx="850392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Gets Sent to the LLM Each Turn?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Each invoke() call sends the ENTIRE growing conversation — context accumulates with every turn: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847088"/>
            <a:ext cx="2816352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8470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Turn 1 — sends: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2688336" cy="438912"/>
          </a:xfrm>
          <a:prstGeom prst="rect">
            <a:avLst/>
          </a:prstGeom>
          <a:solidFill>
            <a:srgbClr val="1D4ED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304288"/>
            <a:ext cx="54864" cy="4389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30428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SystemMessage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92808" y="230428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You are a helpful tutor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688336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83464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HumanMessage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92808" y="2834640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What is Python?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64408" y="1847088"/>
            <a:ext cx="2816352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355848" y="18470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Turn 2 — sends: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304288"/>
            <a:ext cx="2688336" cy="438912"/>
          </a:xfrm>
          <a:prstGeom prst="rect">
            <a:avLst/>
          </a:prstGeom>
          <a:solidFill>
            <a:srgbClr val="1D4ED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2304288"/>
            <a:ext cx="54864" cy="4389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230428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SystemMessage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230428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You are a helpful tutor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834640"/>
            <a:ext cx="2688336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2834640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283464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HumanMessage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2834640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What is Python?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37560" y="3364992"/>
            <a:ext cx="2688336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3364992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447288" y="3364992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AIMessage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33649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Python is a programming language...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3895344"/>
            <a:ext cx="2688336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895344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447288" y="3895344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HumanMessage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3895344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What about libraries?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36208" y="1847088"/>
            <a:ext cx="2816352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18470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Turn 3 — sends: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304288"/>
            <a:ext cx="2688336" cy="438912"/>
          </a:xfrm>
          <a:prstGeom prst="rect">
            <a:avLst/>
          </a:prstGeom>
          <a:solidFill>
            <a:srgbClr val="1D4ED8">
              <a:alpha val="1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2304288"/>
            <a:ext cx="54864" cy="4389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230428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SystemMessage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36408" y="230428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…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09360" y="2834640"/>
            <a:ext cx="2688336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09360" y="2834640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088" y="283464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HumanMessage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36408" y="2834640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…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09360" y="3364992"/>
            <a:ext cx="2688336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09360" y="3364992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6419088" y="3364992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AIMessage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36408" y="33649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…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09360" y="3895344"/>
            <a:ext cx="2688336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09360" y="3895344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6419088" y="3895344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HumanMessage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36408" y="3895344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…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09360" y="4425696"/>
            <a:ext cx="2688336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09360" y="4425696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6419088" y="4425696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AIMessage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836408" y="442569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Libraries include NumPy...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09360" y="4956048"/>
            <a:ext cx="2688336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09360" y="4956048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9" name="Text 57"/>
          <p:cNvSpPr/>
          <p:nvPr/>
        </p:nvSpPr>
        <p:spPr>
          <a:xfrm>
            <a:off x="6419088" y="495604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HumanMessage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836408" y="4956048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Give me an example?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4553712"/>
            <a:ext cx="2688336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373368" y="4553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Context keeps growing! ↑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64" name="Text 62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⚠️  Token cost grows each turn. For long conversations consider summarisation strategies to manage context window limits.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PromptTemplate vs ChatPromptTemplate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4315968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4315968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389888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📝  PromptTemplate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1938528"/>
            <a:ext cx="40233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Single-turn messages only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One template string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Simple placeholder substitution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Returns StringPromptValue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Best for one-shot prompts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Use with basic chain: tpl |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3566160"/>
            <a:ext cx="4023360" cy="12984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3602736"/>
            <a:ext cx="388620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tpl = PromptTemplate(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template="Summarise {doc}"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tpl.invoke({"doc":"BERT"})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82896" y="1389888"/>
            <a:ext cx="4315968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82896" y="1389888"/>
            <a:ext cx="4315968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0056" y="1389888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💬  ChatPromptTemplate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0056" y="1938528"/>
            <a:ext cx="40233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Multi-turn conversation structure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Ordered list of message templates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Dynamic placeholders in any message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Returns ChatPromptValue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Best for chatbots &amp; assistants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Works with chains, agents,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0056" y="3566160"/>
            <a:ext cx="4023360" cy="12984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084064" y="3602736"/>
            <a:ext cx="388620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tpl = ChatPromptTemplate([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SystemMessage("You are a {role}"),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HumanMessage("Explain {topic}")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tpl.invoke({...})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5047488"/>
            <a:ext cx="850392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Message Types: Complete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80467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SystemMessage, HumanMessage, AIMessage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228600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13632" y="228600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When to 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53328" y="2286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 Content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85039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743200"/>
            <a:ext cx="54864" cy="58521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SystemMessage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2743200"/>
            <a:ext cx="16642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Sets AI behaviour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13632" y="2743200"/>
            <a:ext cx="1993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Once at start of conversation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834640"/>
            <a:ext cx="256032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83464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medical expert"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401568"/>
            <a:ext cx="8503920" cy="5852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401568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01568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HumanMessage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84832" y="3401568"/>
            <a:ext cx="16642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User input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13632" y="3401568"/>
            <a:ext cx="1993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Each time the user speaks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3493008"/>
            <a:ext cx="256032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49300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this concept to me"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059936"/>
            <a:ext cx="85039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4059936"/>
            <a:ext cx="54864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59936"/>
            <a:ext cx="1463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AIMessage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84832" y="4059936"/>
            <a:ext cx="16642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 response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13632" y="4059936"/>
            <a:ext cx="1993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After every AI reply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53328" y="4151376"/>
            <a:ext cx="2560320" cy="4023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4151376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concept refers to..."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Pattern: [SystemMessage(role)] + [HumanMessage, AIMessage, HumanMessage, ...] — always send the full list to LLM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4C1D95">
              <a:alpha val="12000"/>
            </a:srgbClr>
          </a:solidFill>
          <a:ln w="12700">
            <a:solidFill>
              <a:srgbClr val="4C1D95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Templates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Context Management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28600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01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ChatPromptTemplate  •  MessagesPlaceholder  •  Best Practices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6111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Coming up: Slides 30–38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2026-03-14T03:18:16Z</dcterms:created>
  <dcterms:modified xsi:type="dcterms:W3CDTF">2026-03-14T03:18:16Z</dcterms:modified>
</cp:coreProperties>
</file>