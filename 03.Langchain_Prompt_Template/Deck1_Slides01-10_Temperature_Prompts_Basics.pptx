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IN" sz="18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2000" spc="-1" strike="noStrike">
                <a:latin typeface="Arial"/>
              </a:rPr>
              <a:t>Click to edit the notes format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1400" spc="-1" strike="noStrike">
                <a:latin typeface="Times New Roman"/>
              </a:rPr>
              <a:t>&lt;header&gt;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IN" sz="1400" spc="-1" strike="noStrike">
                <a:latin typeface="Times New Roman"/>
              </a:rPr>
              <a:t>&lt;date/time&gt;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IN" sz="1400" spc="-1" strike="noStrike">
                <a:latin typeface="Times New Roman"/>
              </a:defRPr>
            </a:lvl1pPr>
          </a:lstStyle>
          <a:p>
            <a:r>
              <a:rPr b="0" lang="en-IN" sz="1400" spc="-1" strike="noStrike">
                <a:latin typeface="Times New Roman"/>
              </a:rPr>
              <a:t>&lt;footer&gt;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1A2C1536-6E9F-4D83-B5FF-3B9FDF9834B1}" type="slidenum">
              <a:rPr b="0" lang="en-IN" sz="1400" spc="-1" strike="noStrike">
                <a:latin typeface="Times New Roman"/>
              </a:rPr>
              <a:t>&lt;number&gt;</a:t>
            </a:fld>
            <a:endParaRPr b="0" lang="en-IN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3946924-DFA6-46A5-90AE-9230189BD7E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D7D4954-4AEB-43D5-9F40-B283475BF5AB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E5E4B6C-23A9-4FF4-8BDD-A323C0398AB5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A339512-E933-4F70-8B08-5BEDCF755FE7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AE8F199-178B-4CD2-B25E-6546F7E3429D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1D0DC4A-87EA-4C83-99B9-C13E22B45F1D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1D66656-4987-49B1-AC03-0B8E5AD31E1F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2C2EEDE-A30F-48DB-9445-BCCBE43CDAEB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543CACF-7DA1-4529-B23C-7536B900FD7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C37967B-855D-4EAB-8EC4-453CE716288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IN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IN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6217920" y="-1097280"/>
            <a:ext cx="5028840" cy="5028840"/>
          </a:xfrm>
          <a:prstGeom prst="ellipse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1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1"/>
          <p:cNvSpPr/>
          <p:nvPr/>
        </p:nvSpPr>
        <p:spPr>
          <a:xfrm>
            <a:off x="7498080" y="2926080"/>
            <a:ext cx="2559960" cy="2559960"/>
          </a:xfrm>
          <a:prstGeom prst="ellipse">
            <a:avLst/>
          </a:prstGeom>
          <a:solidFill>
            <a:srgbClr val="2dd4bf">
              <a:alpha val="10000"/>
            </a:srgbClr>
          </a:solidFill>
          <a:ln w="12700">
            <a:solidFill>
              <a:srgbClr val="2dd4bf">
                <a:alpha val="14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hape 2"/>
          <p:cNvSpPr/>
          <p:nvPr/>
        </p:nvSpPr>
        <p:spPr>
          <a:xfrm>
            <a:off x="0" y="0"/>
            <a:ext cx="182520" cy="51433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Shape 3"/>
          <p:cNvSpPr/>
          <p:nvPr/>
        </p:nvSpPr>
        <p:spPr>
          <a:xfrm>
            <a:off x="502920" y="457200"/>
            <a:ext cx="2011320" cy="3470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" name="Text 4"/>
          <p:cNvSpPr/>
          <p:nvPr/>
        </p:nvSpPr>
        <p:spPr>
          <a:xfrm>
            <a:off x="502920" y="457200"/>
            <a:ext cx="2011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Calibri"/>
              </a:rPr>
              <a:t>PART 1 OF 4  •  SLIDES 1–10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49" name="Text 5"/>
          <p:cNvSpPr/>
          <p:nvPr/>
        </p:nvSpPr>
        <p:spPr>
          <a:xfrm>
            <a:off x="502920" y="100584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pc="-1" strike="noStrike">
                <a:solidFill>
                  <a:srgbClr val="2dd4bf"/>
                </a:solidFill>
                <a:latin typeface="Calibri"/>
                <a:ea typeface="Calibri"/>
              </a:rPr>
              <a:t>Complete Guide to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50" name="Text 6"/>
          <p:cNvSpPr/>
          <p:nvPr/>
        </p:nvSpPr>
        <p:spPr>
          <a:xfrm>
            <a:off x="502920" y="1463040"/>
            <a:ext cx="8229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5200" spc="-1" strike="noStrike">
                <a:solidFill>
                  <a:srgbClr val="ffffff"/>
                </a:solidFill>
                <a:latin typeface="Calibri"/>
                <a:ea typeface="Calibri"/>
              </a:rPr>
              <a:t>LangChain Prompts</a:t>
            </a:r>
            <a:endParaRPr b="0" lang="en-IN" sz="5200" spc="-1" strike="noStrike">
              <a:latin typeface="Arial"/>
            </a:endParaRPr>
          </a:p>
        </p:txBody>
      </p:sp>
      <p:sp>
        <p:nvSpPr>
          <p:cNvPr id="51" name="Text 7"/>
          <p:cNvSpPr/>
          <p:nvPr/>
        </p:nvSpPr>
        <p:spPr>
          <a:xfrm>
            <a:off x="502920" y="257868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ccfbf1"/>
                </a:solidFill>
                <a:latin typeface="Calibri"/>
                <a:ea typeface="Calibri"/>
              </a:rPr>
              <a:t>Building Dynamic AI Applications with Prompt Engineering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52" name="Shape 8"/>
          <p:cNvSpPr/>
          <p:nvPr/>
        </p:nvSpPr>
        <p:spPr>
          <a:xfrm>
            <a:off x="502920" y="3200400"/>
            <a:ext cx="2194200" cy="453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" name="Text 9"/>
          <p:cNvSpPr/>
          <p:nvPr/>
        </p:nvSpPr>
        <p:spPr>
          <a:xfrm>
            <a:off x="502920" y="3364920"/>
            <a:ext cx="7314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64748b"/>
                </a:solidFill>
                <a:latin typeface="Calibri"/>
              </a:rPr>
              <a:t>LangChain  •  OpenAI  •  Streamlit  •  Python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54" name="Shape 10"/>
          <p:cNvSpPr/>
          <p:nvPr/>
        </p:nvSpPr>
        <p:spPr>
          <a:xfrm>
            <a:off x="0" y="4773240"/>
            <a:ext cx="9143640" cy="370080"/>
          </a:xfrm>
          <a:prstGeom prst="rect">
            <a:avLst/>
          </a:prstGeom>
          <a:solidFill>
            <a:srgbClr val="06111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" name="Text 11"/>
          <p:cNvSpPr/>
          <p:nvPr/>
        </p:nvSpPr>
        <p:spPr>
          <a:xfrm>
            <a:off x="365760" y="4773240"/>
            <a:ext cx="8412120" cy="37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</a:rPr>
              <a:t>LangChain Prompt Engineering — Complete Series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Shape 0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" name="Text 1"/>
          <p:cNvSpPr/>
          <p:nvPr/>
        </p:nvSpPr>
        <p:spPr>
          <a:xfrm>
            <a:off x="411480" y="0"/>
            <a:ext cx="8320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What We'll Cover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58" name="Shape 2"/>
          <p:cNvSpPr/>
          <p:nvPr/>
        </p:nvSpPr>
        <p:spPr>
          <a:xfrm>
            <a:off x="320040" y="1024200"/>
            <a:ext cx="4205880" cy="8409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9" name="Shape 3"/>
          <p:cNvSpPr/>
          <p:nvPr/>
        </p:nvSpPr>
        <p:spPr>
          <a:xfrm>
            <a:off x="320040" y="1024200"/>
            <a:ext cx="63720" cy="8409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Text 4"/>
          <p:cNvSpPr/>
          <p:nvPr/>
        </p:nvSpPr>
        <p:spPr>
          <a:xfrm>
            <a:off x="457200" y="1078920"/>
            <a:ext cx="438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0d9488"/>
                </a:solidFill>
                <a:latin typeface="Calibri"/>
              </a:rPr>
              <a:t>01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61" name="Text 5"/>
          <p:cNvSpPr/>
          <p:nvPr/>
        </p:nvSpPr>
        <p:spPr>
          <a:xfrm>
            <a:off x="457200" y="1298520"/>
            <a:ext cx="3931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🌡️ </a:t>
            </a: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Temperature Parameter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62" name="Text 6"/>
          <p:cNvSpPr/>
          <p:nvPr/>
        </p:nvSpPr>
        <p:spPr>
          <a:xfrm>
            <a:off x="457200" y="1591200"/>
            <a:ext cx="3931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Control output randomness — from deterministic to creative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63" name="Shape 7"/>
          <p:cNvSpPr/>
          <p:nvPr/>
        </p:nvSpPr>
        <p:spPr>
          <a:xfrm>
            <a:off x="4800600" y="1024200"/>
            <a:ext cx="4205880" cy="8409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4" name="Shape 8"/>
          <p:cNvSpPr/>
          <p:nvPr/>
        </p:nvSpPr>
        <p:spPr>
          <a:xfrm>
            <a:off x="4800600" y="1024200"/>
            <a:ext cx="63720" cy="8409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Text 9"/>
          <p:cNvSpPr/>
          <p:nvPr/>
        </p:nvSpPr>
        <p:spPr>
          <a:xfrm>
            <a:off x="4937760" y="1078920"/>
            <a:ext cx="438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0d9488"/>
                </a:solidFill>
                <a:latin typeface="Calibri"/>
              </a:rPr>
              <a:t>02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66" name="Text 10"/>
          <p:cNvSpPr/>
          <p:nvPr/>
        </p:nvSpPr>
        <p:spPr>
          <a:xfrm>
            <a:off x="4937760" y="1298520"/>
            <a:ext cx="3931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💬 </a:t>
            </a: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Understanding Prompts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67" name="Text 11"/>
          <p:cNvSpPr/>
          <p:nvPr/>
        </p:nvSpPr>
        <p:spPr>
          <a:xfrm>
            <a:off x="4937760" y="1591200"/>
            <a:ext cx="3931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Text, image and multimodal inputs explained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68" name="Shape 12"/>
          <p:cNvSpPr/>
          <p:nvPr/>
        </p:nvSpPr>
        <p:spPr>
          <a:xfrm>
            <a:off x="320040" y="2011680"/>
            <a:ext cx="4205880" cy="8409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9" name="Shape 13"/>
          <p:cNvSpPr/>
          <p:nvPr/>
        </p:nvSpPr>
        <p:spPr>
          <a:xfrm>
            <a:off x="320040" y="2011680"/>
            <a:ext cx="63720" cy="8409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0" name="Text 14"/>
          <p:cNvSpPr/>
          <p:nvPr/>
        </p:nvSpPr>
        <p:spPr>
          <a:xfrm>
            <a:off x="457200" y="2066400"/>
            <a:ext cx="438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0d9488"/>
                </a:solidFill>
                <a:latin typeface="Calibri"/>
              </a:rPr>
              <a:t>03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71" name="Text 15"/>
          <p:cNvSpPr/>
          <p:nvPr/>
        </p:nvSpPr>
        <p:spPr>
          <a:xfrm>
            <a:off x="457200" y="2286000"/>
            <a:ext cx="3931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⚡ </a:t>
            </a: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Static vs Dynamic Prompts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72" name="Text 16"/>
          <p:cNvSpPr/>
          <p:nvPr/>
        </p:nvSpPr>
        <p:spPr>
          <a:xfrm>
            <a:off x="457200" y="2578680"/>
            <a:ext cx="3931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Why raw strings fail in real production apps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73" name="Shape 17"/>
          <p:cNvSpPr/>
          <p:nvPr/>
        </p:nvSpPr>
        <p:spPr>
          <a:xfrm>
            <a:off x="4800600" y="2011680"/>
            <a:ext cx="4205880" cy="8409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4" name="Shape 18"/>
          <p:cNvSpPr/>
          <p:nvPr/>
        </p:nvSpPr>
        <p:spPr>
          <a:xfrm>
            <a:off x="4800600" y="2011680"/>
            <a:ext cx="63720" cy="8409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" name="Text 19"/>
          <p:cNvSpPr/>
          <p:nvPr/>
        </p:nvSpPr>
        <p:spPr>
          <a:xfrm>
            <a:off x="4937760" y="2066400"/>
            <a:ext cx="438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0d9488"/>
                </a:solidFill>
                <a:latin typeface="Calibri"/>
              </a:rPr>
              <a:t>04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76" name="Text 20"/>
          <p:cNvSpPr/>
          <p:nvPr/>
        </p:nvSpPr>
        <p:spPr>
          <a:xfrm>
            <a:off x="4937760" y="2286000"/>
            <a:ext cx="3931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🔧 </a:t>
            </a: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Prompt Templates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77" name="Text 21"/>
          <p:cNvSpPr/>
          <p:nvPr/>
        </p:nvSpPr>
        <p:spPr>
          <a:xfrm>
            <a:off x="4937760" y="2578680"/>
            <a:ext cx="3931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PromptTemplate: validation, reuse, and chains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78" name="Shape 22"/>
          <p:cNvSpPr/>
          <p:nvPr/>
        </p:nvSpPr>
        <p:spPr>
          <a:xfrm>
            <a:off x="320040" y="2999160"/>
            <a:ext cx="4205880" cy="8409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9" name="Shape 23"/>
          <p:cNvSpPr/>
          <p:nvPr/>
        </p:nvSpPr>
        <p:spPr>
          <a:xfrm>
            <a:off x="320040" y="2999160"/>
            <a:ext cx="63720" cy="8409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Text 24"/>
          <p:cNvSpPr/>
          <p:nvPr/>
        </p:nvSpPr>
        <p:spPr>
          <a:xfrm>
            <a:off x="457200" y="3054240"/>
            <a:ext cx="438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0d9488"/>
                </a:solidFill>
                <a:latin typeface="Calibri"/>
              </a:rPr>
              <a:t>05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81" name="Text 25"/>
          <p:cNvSpPr/>
          <p:nvPr/>
        </p:nvSpPr>
        <p:spPr>
          <a:xfrm>
            <a:off x="457200" y="3273480"/>
            <a:ext cx="3931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🤖 </a:t>
            </a: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Building Chat Applications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82" name="Text 26"/>
          <p:cNvSpPr/>
          <p:nvPr/>
        </p:nvSpPr>
        <p:spPr>
          <a:xfrm>
            <a:off x="457200" y="3566160"/>
            <a:ext cx="3931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Add memory with proper chat history management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83" name="Shape 27"/>
          <p:cNvSpPr/>
          <p:nvPr/>
        </p:nvSpPr>
        <p:spPr>
          <a:xfrm>
            <a:off x="4800600" y="2999160"/>
            <a:ext cx="4205880" cy="8409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4" name="Shape 28"/>
          <p:cNvSpPr/>
          <p:nvPr/>
        </p:nvSpPr>
        <p:spPr>
          <a:xfrm>
            <a:off x="4800600" y="2999160"/>
            <a:ext cx="63720" cy="8409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5" name="Text 29"/>
          <p:cNvSpPr/>
          <p:nvPr/>
        </p:nvSpPr>
        <p:spPr>
          <a:xfrm>
            <a:off x="4937760" y="3054240"/>
            <a:ext cx="438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0d9488"/>
                </a:solidFill>
                <a:latin typeface="Calibri"/>
              </a:rPr>
              <a:t>06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86" name="Text 30"/>
          <p:cNvSpPr/>
          <p:nvPr/>
        </p:nvSpPr>
        <p:spPr>
          <a:xfrm>
            <a:off x="4937760" y="3273480"/>
            <a:ext cx="3931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📨 </a:t>
            </a: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Message Types &amp; Chat History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87" name="Text 31"/>
          <p:cNvSpPr/>
          <p:nvPr/>
        </p:nvSpPr>
        <p:spPr>
          <a:xfrm>
            <a:off x="4937760" y="3566160"/>
            <a:ext cx="3931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SystemMessage, HumanMessage, AIMessage in depth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88" name="Shape 32"/>
          <p:cNvSpPr/>
          <p:nvPr/>
        </p:nvSpPr>
        <p:spPr>
          <a:xfrm>
            <a:off x="320040" y="3986640"/>
            <a:ext cx="4205880" cy="8409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9" name="Shape 33"/>
          <p:cNvSpPr/>
          <p:nvPr/>
        </p:nvSpPr>
        <p:spPr>
          <a:xfrm>
            <a:off x="320040" y="3986640"/>
            <a:ext cx="63720" cy="8409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0" name="Text 34"/>
          <p:cNvSpPr/>
          <p:nvPr/>
        </p:nvSpPr>
        <p:spPr>
          <a:xfrm>
            <a:off x="457200" y="4041720"/>
            <a:ext cx="438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0d9488"/>
                </a:solidFill>
                <a:latin typeface="Calibri"/>
              </a:rPr>
              <a:t>07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91" name="Text 35"/>
          <p:cNvSpPr/>
          <p:nvPr/>
        </p:nvSpPr>
        <p:spPr>
          <a:xfrm>
            <a:off x="457200" y="4260960"/>
            <a:ext cx="3931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🗂️ </a:t>
            </a: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ChatPromptTemplate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92" name="Text 36"/>
          <p:cNvSpPr/>
          <p:nvPr/>
        </p:nvSpPr>
        <p:spPr>
          <a:xfrm>
            <a:off x="457200" y="4553640"/>
            <a:ext cx="3931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Multi-turn conversation templates with placeholders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93" name="Shape 37"/>
          <p:cNvSpPr/>
          <p:nvPr/>
        </p:nvSpPr>
        <p:spPr>
          <a:xfrm>
            <a:off x="4800600" y="3986640"/>
            <a:ext cx="4205880" cy="8409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4" name="Shape 38"/>
          <p:cNvSpPr/>
          <p:nvPr/>
        </p:nvSpPr>
        <p:spPr>
          <a:xfrm>
            <a:off x="4800600" y="3986640"/>
            <a:ext cx="63720" cy="8409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5" name="Text 39"/>
          <p:cNvSpPr/>
          <p:nvPr/>
        </p:nvSpPr>
        <p:spPr>
          <a:xfrm>
            <a:off x="4937760" y="4041720"/>
            <a:ext cx="438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0d9488"/>
                </a:solidFill>
                <a:latin typeface="Calibri"/>
              </a:rPr>
              <a:t>08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96" name="Text 40"/>
          <p:cNvSpPr/>
          <p:nvPr/>
        </p:nvSpPr>
        <p:spPr>
          <a:xfrm>
            <a:off x="4937760" y="4260960"/>
            <a:ext cx="3931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📦 </a:t>
            </a: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MessagesPlaceholder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97" name="Text 41"/>
          <p:cNvSpPr/>
          <p:nvPr/>
        </p:nvSpPr>
        <p:spPr>
          <a:xfrm>
            <a:off x="4937760" y="4553640"/>
            <a:ext cx="3931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Inject saved history into new conversation turns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Shape 0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Text 1"/>
          <p:cNvSpPr/>
          <p:nvPr/>
        </p:nvSpPr>
        <p:spPr>
          <a:xfrm>
            <a:off x="411480" y="0"/>
            <a:ext cx="8320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Understanding the Temperature Parameter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100" name="Text 2"/>
          <p:cNvSpPr/>
          <p:nvPr/>
        </p:nvSpPr>
        <p:spPr>
          <a:xfrm>
            <a:off x="411480" y="932760"/>
            <a:ext cx="8320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64748b"/>
                </a:solidFill>
                <a:latin typeface="Calibri"/>
              </a:rPr>
              <a:t>Controls how random or predictable the LLM's output will be — from fully deterministic to highly creative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01" name="Shape 3"/>
          <p:cNvSpPr/>
          <p:nvPr/>
        </p:nvSpPr>
        <p:spPr>
          <a:xfrm>
            <a:off x="411480" y="1353240"/>
            <a:ext cx="1188360" cy="2556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Shape 4"/>
          <p:cNvSpPr/>
          <p:nvPr/>
        </p:nvSpPr>
        <p:spPr>
          <a:xfrm>
            <a:off x="1600200" y="1353240"/>
            <a:ext cx="1188360" cy="2556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Shape 5"/>
          <p:cNvSpPr/>
          <p:nvPr/>
        </p:nvSpPr>
        <p:spPr>
          <a:xfrm>
            <a:off x="2788920" y="1353240"/>
            <a:ext cx="1188360" cy="255600"/>
          </a:xfrm>
          <a:prstGeom prst="rect">
            <a:avLst/>
          </a:prstGeom>
          <a:solidFill>
            <a:srgbClr val="34d3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Shape 6"/>
          <p:cNvSpPr/>
          <p:nvPr/>
        </p:nvSpPr>
        <p:spPr>
          <a:xfrm>
            <a:off x="3977640" y="1353240"/>
            <a:ext cx="1188360" cy="255600"/>
          </a:xfrm>
          <a:prstGeom prst="rect">
            <a:avLst/>
          </a:prstGeom>
          <a:solidFill>
            <a:srgbClr val="a3e6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5" name="Shape 7"/>
          <p:cNvSpPr/>
          <p:nvPr/>
        </p:nvSpPr>
        <p:spPr>
          <a:xfrm>
            <a:off x="5166360" y="1353240"/>
            <a:ext cx="1188360" cy="255600"/>
          </a:xfrm>
          <a:prstGeom prst="rect">
            <a:avLst/>
          </a:prstGeom>
          <a:solidFill>
            <a:srgbClr val="fcd3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Shape 8"/>
          <p:cNvSpPr/>
          <p:nvPr/>
        </p:nvSpPr>
        <p:spPr>
          <a:xfrm>
            <a:off x="6355080" y="1353240"/>
            <a:ext cx="1188360" cy="255600"/>
          </a:xfrm>
          <a:prstGeom prst="rect">
            <a:avLst/>
          </a:prstGeom>
          <a:solidFill>
            <a:srgbClr val="f9731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Shape 9"/>
          <p:cNvSpPr/>
          <p:nvPr/>
        </p:nvSpPr>
        <p:spPr>
          <a:xfrm>
            <a:off x="7543800" y="1353240"/>
            <a:ext cx="1188360" cy="25560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Text 10"/>
          <p:cNvSpPr/>
          <p:nvPr/>
        </p:nvSpPr>
        <p:spPr>
          <a:xfrm>
            <a:off x="347400" y="1645920"/>
            <a:ext cx="456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d9488"/>
                </a:solidFill>
                <a:latin typeface="Calibri"/>
              </a:rPr>
              <a:t>0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09" name="Text 11"/>
          <p:cNvSpPr/>
          <p:nvPr/>
        </p:nvSpPr>
        <p:spPr>
          <a:xfrm>
            <a:off x="274320" y="1901880"/>
            <a:ext cx="1188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0d9488"/>
                </a:solidFill>
                <a:latin typeface="Calibri"/>
              </a:rPr>
              <a:t>Deterministic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110" name="Text 12"/>
          <p:cNvSpPr/>
          <p:nvPr/>
        </p:nvSpPr>
        <p:spPr>
          <a:xfrm>
            <a:off x="4160520" y="1645920"/>
            <a:ext cx="548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59e0b"/>
                </a:solidFill>
                <a:latin typeface="Calibri"/>
              </a:rPr>
              <a:t>1.0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11" name="Text 13"/>
          <p:cNvSpPr/>
          <p:nvPr/>
        </p:nvSpPr>
        <p:spPr>
          <a:xfrm>
            <a:off x="3977640" y="1901880"/>
            <a:ext cx="1096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59e0b"/>
                </a:solidFill>
                <a:latin typeface="Calibri"/>
              </a:rPr>
              <a:t>Balanced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112" name="Text 14"/>
          <p:cNvSpPr/>
          <p:nvPr/>
        </p:nvSpPr>
        <p:spPr>
          <a:xfrm>
            <a:off x="8183880" y="1645920"/>
            <a:ext cx="548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ef4444"/>
                </a:solidFill>
                <a:latin typeface="Calibri"/>
              </a:rPr>
              <a:t>2.0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13" name="Text 15"/>
          <p:cNvSpPr/>
          <p:nvPr/>
        </p:nvSpPr>
        <p:spPr>
          <a:xfrm>
            <a:off x="8001000" y="1901880"/>
            <a:ext cx="10054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ef4444"/>
                </a:solidFill>
                <a:latin typeface="Calibri"/>
              </a:rPr>
              <a:t>Creative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114" name="Shape 16"/>
          <p:cNvSpPr/>
          <p:nvPr/>
        </p:nvSpPr>
        <p:spPr>
          <a:xfrm>
            <a:off x="320040" y="2240280"/>
            <a:ext cx="4205880" cy="26056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5" name="Shape 17"/>
          <p:cNvSpPr/>
          <p:nvPr/>
        </p:nvSpPr>
        <p:spPr>
          <a:xfrm>
            <a:off x="320040" y="2240280"/>
            <a:ext cx="4205880" cy="502560"/>
          </a:xfrm>
          <a:prstGeom prst="rect">
            <a:avLst/>
          </a:prstGeom>
          <a:solidFill>
            <a:srgbClr val="2b6cb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6" name="Text 18"/>
          <p:cNvSpPr/>
          <p:nvPr/>
        </p:nvSpPr>
        <p:spPr>
          <a:xfrm>
            <a:off x="457200" y="2240280"/>
            <a:ext cx="3977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Temperature = 0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17" name="Text 19"/>
          <p:cNvSpPr/>
          <p:nvPr/>
        </p:nvSpPr>
        <p:spPr>
          <a:xfrm>
            <a:off x="457200" y="2541960"/>
            <a:ext cx="3977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bfdbfe"/>
                </a:solidFill>
                <a:latin typeface="Calibri"/>
              </a:rPr>
              <a:t>Deterministic Mode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18" name="Text 20"/>
          <p:cNvSpPr/>
          <p:nvPr/>
        </p:nvSpPr>
        <p:spPr>
          <a:xfrm>
            <a:off x="484560" y="2834640"/>
            <a:ext cx="3913200" cy="193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700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Exact same output for the same input, every run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700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Consistent and reproducible results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700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Best for: factual Q&amp;A, data extraction, classification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700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Recommended for production systems needing reliability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19" name="Shape 21"/>
          <p:cNvSpPr/>
          <p:nvPr/>
        </p:nvSpPr>
        <p:spPr>
          <a:xfrm>
            <a:off x="4846320" y="2240280"/>
            <a:ext cx="4205880" cy="26056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20" name="Shape 22"/>
          <p:cNvSpPr/>
          <p:nvPr/>
        </p:nvSpPr>
        <p:spPr>
          <a:xfrm>
            <a:off x="4846320" y="2240280"/>
            <a:ext cx="4205880" cy="50256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1" name="Text 23"/>
          <p:cNvSpPr/>
          <p:nvPr/>
        </p:nvSpPr>
        <p:spPr>
          <a:xfrm>
            <a:off x="4983480" y="2240280"/>
            <a:ext cx="3977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Temperature = 1.5–2.0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22" name="Text 24"/>
          <p:cNvSpPr/>
          <p:nvPr/>
        </p:nvSpPr>
        <p:spPr>
          <a:xfrm>
            <a:off x="4983480" y="2541960"/>
            <a:ext cx="3977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bfdbfe"/>
                </a:solidFill>
                <a:latin typeface="Calibri"/>
              </a:rPr>
              <a:t>Creative Mode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23" name="Text 25"/>
          <p:cNvSpPr/>
          <p:nvPr/>
        </p:nvSpPr>
        <p:spPr>
          <a:xfrm>
            <a:off x="5010840" y="2834640"/>
            <a:ext cx="3913200" cy="193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700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Different output each run even with identical input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700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Imaginative, varied, and surprising responses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700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Best for: creative writing, brainstorming, storytelling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700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Great for marketing copy and generative content apps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Shape 0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5" name="Text 1"/>
          <p:cNvSpPr/>
          <p:nvPr/>
        </p:nvSpPr>
        <p:spPr>
          <a:xfrm>
            <a:off x="411480" y="0"/>
            <a:ext cx="8320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Temperature in Action — Code Example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126" name="Shape 2"/>
          <p:cNvSpPr/>
          <p:nvPr/>
        </p:nvSpPr>
        <p:spPr>
          <a:xfrm>
            <a:off x="320040" y="960120"/>
            <a:ext cx="5211720" cy="3245760"/>
          </a:xfrm>
          <a:prstGeom prst="rect">
            <a:avLst/>
          </a:prstGeom>
          <a:solidFill>
            <a:srgbClr val="1e293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27" name="Shape 3"/>
          <p:cNvSpPr/>
          <p:nvPr/>
        </p:nvSpPr>
        <p:spPr>
          <a:xfrm>
            <a:off x="320040" y="960120"/>
            <a:ext cx="5211720" cy="328680"/>
          </a:xfrm>
          <a:prstGeom prst="rect">
            <a:avLst/>
          </a:prstGeom>
          <a:solidFill>
            <a:srgbClr val="111c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Text 4"/>
          <p:cNvSpPr/>
          <p:nvPr/>
        </p:nvSpPr>
        <p:spPr>
          <a:xfrm>
            <a:off x="457200" y="960120"/>
            <a:ext cx="2742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7dd3fc"/>
                </a:solidFill>
                <a:latin typeface="Calibri"/>
              </a:rPr>
              <a:t>temperature_demo.py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29" name="Text 5"/>
          <p:cNvSpPr/>
          <p:nvPr/>
        </p:nvSpPr>
        <p:spPr>
          <a:xfrm>
            <a:off x="457200" y="1353240"/>
            <a:ext cx="4983120" cy="278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from </a:t>
            </a: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langchain_openai </a:t>
            </a:r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import </a:t>
            </a: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ChatOpenAI</a:t>
            </a:r>
            <a:endParaRPr b="0" lang="en-IN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from </a:t>
            </a: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dotenv </a:t>
            </a:r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import </a:t>
            </a: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load_dotenv</a:t>
            </a:r>
            <a:endParaRPr b="0" lang="en-IN" sz="1000" spc="-1" strike="noStrike">
              <a:latin typeface="Arial"/>
            </a:endParaRPr>
          </a:p>
          <a:p>
            <a:endParaRPr b="0" lang="en-IN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86efac"/>
                </a:solidFill>
                <a:latin typeface="Consolas"/>
                <a:ea typeface="Consolas"/>
              </a:rPr>
              <a:t>load_dotenv()</a:t>
            </a:r>
            <a:endParaRPr b="0" lang="en-IN" sz="1000" spc="-1" strike="noStrike">
              <a:latin typeface="Arial"/>
            </a:endParaRPr>
          </a:p>
          <a:p>
            <a:endParaRPr b="0" lang="en-IN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6b7280"/>
                </a:solidFill>
                <a:latin typeface="Consolas"/>
                <a:ea typeface="Consolas"/>
              </a:rPr>
              <a:t># temperature=0 → identical output every run</a:t>
            </a:r>
            <a:endParaRPr b="0" lang="en-IN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7dd3fc"/>
                </a:solidFill>
                <a:latin typeface="Consolas"/>
                <a:ea typeface="Consolas"/>
              </a:rPr>
              <a:t>ai_model</a:t>
            </a: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 = ChatOpenAI(model=</a:t>
            </a:r>
            <a:r>
              <a:rPr b="0" lang="en-US" sz="1000" spc="-1" strike="noStrike">
                <a:solidFill>
                  <a:srgbClr val="86efac"/>
                </a:solidFill>
                <a:latin typeface="Consolas"/>
                <a:ea typeface="Consolas"/>
              </a:rPr>
              <a:t>'gpt-4'</a:t>
            </a: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, temperature=</a:t>
            </a:r>
            <a:r>
              <a:rPr b="0" lang="en-US" sz="1000" spc="-1" strike="noStrike">
                <a:solidFill>
                  <a:srgbClr val="fca5a5"/>
                </a:solidFill>
                <a:latin typeface="Consolas"/>
                <a:ea typeface="Consolas"/>
              </a:rPr>
              <a:t>0</a:t>
            </a: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)</a:t>
            </a:r>
            <a:endParaRPr b="0" lang="en-IN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7dd3fc"/>
                </a:solidFill>
                <a:latin typeface="Consolas"/>
                <a:ea typeface="Consolas"/>
              </a:rPr>
              <a:t>reply</a:t>
            </a: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 = ai_model.invoke(</a:t>
            </a:r>
            <a:endParaRPr b="0" lang="en-IN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86efac"/>
                </a:solidFill>
                <a:latin typeface="Consolas"/>
                <a:ea typeface="Consolas"/>
              </a:rPr>
              <a:t>'Compose a 5-line poem about the cricket'</a:t>
            </a:r>
            <a:endParaRPr b="0" lang="en-IN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86efac"/>
                </a:solidFill>
                <a:latin typeface="Consolas"/>
                <a:ea typeface="Consolas"/>
              </a:rPr>
              <a:t>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fde68a"/>
                </a:solidFill>
                <a:latin typeface="Consolas"/>
                <a:ea typeface="Consolas"/>
              </a:rPr>
              <a:t>print</a:t>
            </a:r>
            <a:r>
              <a:rPr b="0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(reply.content)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30" name="Shape 6"/>
          <p:cNvSpPr/>
          <p:nvPr/>
        </p:nvSpPr>
        <p:spPr>
          <a:xfrm>
            <a:off x="5669280" y="960120"/>
            <a:ext cx="3200040" cy="32457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1" name="Shape 7"/>
          <p:cNvSpPr/>
          <p:nvPr/>
        </p:nvSpPr>
        <p:spPr>
          <a:xfrm>
            <a:off x="5669280" y="960120"/>
            <a:ext cx="3200040" cy="3286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Text 8"/>
          <p:cNvSpPr/>
          <p:nvPr/>
        </p:nvSpPr>
        <p:spPr>
          <a:xfrm>
            <a:off x="5779080" y="960120"/>
            <a:ext cx="30171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Output  (same every run)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33" name="Text 9"/>
          <p:cNvSpPr/>
          <p:nvPr/>
        </p:nvSpPr>
        <p:spPr>
          <a:xfrm>
            <a:off x="5779080" y="1371600"/>
            <a:ext cx="2998800" cy="23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1e293b"/>
                </a:solidFill>
                <a:latin typeface="Georgia"/>
                <a:ea typeface="Georgia"/>
              </a:rPr>
              <a:t>T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1e293b"/>
                </a:solidFill>
                <a:latin typeface="Georgia"/>
                <a:ea typeface="Georgia"/>
              </a:rPr>
              <a:t>.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34" name="Shape 10"/>
          <p:cNvSpPr/>
          <p:nvPr/>
        </p:nvSpPr>
        <p:spPr>
          <a:xfrm>
            <a:off x="320040" y="4343400"/>
            <a:ext cx="8503560" cy="594000"/>
          </a:xfrm>
          <a:prstGeom prst="rect">
            <a:avLst/>
          </a:prstGeom>
          <a:solidFill>
            <a:srgbClr val="ccfbf1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5" name="Shape 11"/>
          <p:cNvSpPr/>
          <p:nvPr/>
        </p:nvSpPr>
        <p:spPr>
          <a:xfrm>
            <a:off x="320040" y="4343400"/>
            <a:ext cx="63720" cy="594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6" name="Text 12"/>
          <p:cNvSpPr/>
          <p:nvPr/>
        </p:nvSpPr>
        <p:spPr>
          <a:xfrm>
            <a:off x="475560" y="4343400"/>
            <a:ext cx="82749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💡  </a:t>
            </a: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Key Insight: temperature=0 is ideal for production apps requiring consistent, reliable output. Raise it gradually for creative tasks — try 0.7 for balanced, 1.2+ for highly imaginative results.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0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8" name="Text 1"/>
          <p:cNvSpPr/>
          <p:nvPr/>
        </p:nvSpPr>
        <p:spPr>
          <a:xfrm>
            <a:off x="411480" y="0"/>
            <a:ext cx="8320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What Are Prompts?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139" name="Shape 2"/>
          <p:cNvSpPr/>
          <p:nvPr/>
        </p:nvSpPr>
        <p:spPr>
          <a:xfrm>
            <a:off x="320040" y="932760"/>
            <a:ext cx="8503560" cy="50256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Text 3"/>
          <p:cNvSpPr/>
          <p:nvPr/>
        </p:nvSpPr>
        <p:spPr>
          <a:xfrm>
            <a:off x="411480" y="932760"/>
            <a:ext cx="8320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ffffff"/>
                </a:solidFill>
                <a:latin typeface="Calibri"/>
              </a:rPr>
              <a:t>A prompt is the instruction you send to an LLM to direct and shape its response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41" name="Shape 4"/>
          <p:cNvSpPr/>
          <p:nvPr/>
        </p:nvSpPr>
        <p:spPr>
          <a:xfrm>
            <a:off x="292680" y="1572840"/>
            <a:ext cx="2788560" cy="33372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2" name="Shape 5"/>
          <p:cNvSpPr/>
          <p:nvPr/>
        </p:nvSpPr>
        <p:spPr>
          <a:xfrm>
            <a:off x="292680" y="1572840"/>
            <a:ext cx="2788560" cy="548280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Text 6"/>
          <p:cNvSpPr/>
          <p:nvPr/>
        </p:nvSpPr>
        <p:spPr>
          <a:xfrm>
            <a:off x="402480" y="1572840"/>
            <a:ext cx="26330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Calibri"/>
              </a:rPr>
              <a:t>📝  </a:t>
            </a:r>
            <a:r>
              <a:rPr b="1" lang="en-US" sz="1350" spc="-1" strike="noStrike">
                <a:solidFill>
                  <a:srgbClr val="ffffff"/>
                </a:solidFill>
                <a:latin typeface="Calibri"/>
              </a:rPr>
              <a:t>Text-Based</a:t>
            </a:r>
            <a:endParaRPr b="0" lang="en-IN" sz="1350" spc="-1" strike="noStrike">
              <a:latin typeface="Arial"/>
            </a:endParaRPr>
          </a:p>
        </p:txBody>
      </p:sp>
      <p:sp>
        <p:nvSpPr>
          <p:cNvPr id="144" name="Text 7"/>
          <p:cNvSpPr/>
          <p:nvPr/>
        </p:nvSpPr>
        <p:spPr>
          <a:xfrm>
            <a:off x="402480" y="1938600"/>
            <a:ext cx="26330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64748b"/>
                </a:solidFill>
                <a:latin typeface="Calibri"/>
              </a:rPr>
              <a:t>Most common prompt type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45" name="Shape 8"/>
          <p:cNvSpPr/>
          <p:nvPr/>
        </p:nvSpPr>
        <p:spPr>
          <a:xfrm>
            <a:off x="402480" y="2240280"/>
            <a:ext cx="2605680" cy="45684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6" name="Text 9"/>
          <p:cNvSpPr/>
          <p:nvPr/>
        </p:nvSpPr>
        <p:spPr>
          <a:xfrm>
            <a:off x="457200" y="2240280"/>
            <a:ext cx="2486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7dd3fc"/>
                </a:solidFill>
                <a:latin typeface="Consolas"/>
                <a:ea typeface="Consolas"/>
              </a:rPr>
              <a:t>"Summarize this article for me"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147" name="Shape 10"/>
          <p:cNvSpPr/>
          <p:nvPr/>
        </p:nvSpPr>
        <p:spPr>
          <a:xfrm>
            <a:off x="402480" y="2807280"/>
            <a:ext cx="2605680" cy="45684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8" name="Text 11"/>
          <p:cNvSpPr/>
          <p:nvPr/>
        </p:nvSpPr>
        <p:spPr>
          <a:xfrm>
            <a:off x="457200" y="2807280"/>
            <a:ext cx="2486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7dd3fc"/>
                </a:solidFill>
                <a:latin typeface="Consolas"/>
                <a:ea typeface="Consolas"/>
              </a:rPr>
              <a:t>"Explain quantum computing simply"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149" name="Shape 12"/>
          <p:cNvSpPr/>
          <p:nvPr/>
        </p:nvSpPr>
        <p:spPr>
          <a:xfrm>
            <a:off x="402480" y="3374280"/>
            <a:ext cx="2605680" cy="45684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0" name="Text 13"/>
          <p:cNvSpPr/>
          <p:nvPr/>
        </p:nvSpPr>
        <p:spPr>
          <a:xfrm>
            <a:off x="457200" y="3374280"/>
            <a:ext cx="2486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7dd3fc"/>
                </a:solidFill>
                <a:latin typeface="Consolas"/>
                <a:ea typeface="Consolas"/>
              </a:rPr>
              <a:t>"Write a Python function to sort a list"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151" name="Shape 14"/>
          <p:cNvSpPr/>
          <p:nvPr/>
        </p:nvSpPr>
        <p:spPr>
          <a:xfrm>
            <a:off x="402480" y="4005000"/>
            <a:ext cx="2605680" cy="804240"/>
          </a:xfrm>
          <a:prstGeom prst="rect">
            <a:avLst/>
          </a:prstGeom>
          <a:solidFill>
            <a:srgbClr val="1d4ed8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2" name="Text 15"/>
          <p:cNvSpPr/>
          <p:nvPr/>
        </p:nvSpPr>
        <p:spPr>
          <a:xfrm>
            <a:off x="457200" y="4005000"/>
            <a:ext cx="248688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1e293b"/>
                </a:solidFill>
                <a:latin typeface="Calibri"/>
              </a:rPr>
              <a:t>💡 </a:t>
            </a:r>
            <a:r>
              <a:rPr b="0" lang="en-US" sz="950" spc="-1" strike="noStrike">
                <a:solidFill>
                  <a:srgbClr val="1e293b"/>
                </a:solidFill>
                <a:latin typeface="Calibri"/>
              </a:rPr>
              <a:t>Works with all LLMs. Plain natural language instructions.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153" name="Shape 16"/>
          <p:cNvSpPr/>
          <p:nvPr/>
        </p:nvSpPr>
        <p:spPr>
          <a:xfrm>
            <a:off x="3237120" y="1572840"/>
            <a:ext cx="2788560" cy="33372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4" name="Shape 17"/>
          <p:cNvSpPr/>
          <p:nvPr/>
        </p:nvSpPr>
        <p:spPr>
          <a:xfrm>
            <a:off x="3237120" y="1572840"/>
            <a:ext cx="2788560" cy="54828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5" name="Text 18"/>
          <p:cNvSpPr/>
          <p:nvPr/>
        </p:nvSpPr>
        <p:spPr>
          <a:xfrm>
            <a:off x="3346560" y="1572840"/>
            <a:ext cx="26330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Calibri"/>
              </a:rPr>
              <a:t>🖼️  </a:t>
            </a:r>
            <a:r>
              <a:rPr b="1" lang="en-US" sz="1350" spc="-1" strike="noStrike">
                <a:solidFill>
                  <a:srgbClr val="ffffff"/>
                </a:solidFill>
                <a:latin typeface="Calibri"/>
              </a:rPr>
              <a:t>Image-Based</a:t>
            </a:r>
            <a:endParaRPr b="0" lang="en-IN" sz="1350" spc="-1" strike="noStrike">
              <a:latin typeface="Arial"/>
            </a:endParaRPr>
          </a:p>
        </p:txBody>
      </p:sp>
      <p:sp>
        <p:nvSpPr>
          <p:cNvPr id="156" name="Text 19"/>
          <p:cNvSpPr/>
          <p:nvPr/>
        </p:nvSpPr>
        <p:spPr>
          <a:xfrm>
            <a:off x="3346560" y="1938600"/>
            <a:ext cx="26330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64748b"/>
                </a:solidFill>
                <a:latin typeface="Calibri"/>
              </a:rPr>
              <a:t>Vision-capable models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57" name="Shape 20"/>
          <p:cNvSpPr/>
          <p:nvPr/>
        </p:nvSpPr>
        <p:spPr>
          <a:xfrm>
            <a:off x="3346560" y="2240280"/>
            <a:ext cx="2605680" cy="45684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8" name="Text 21"/>
          <p:cNvSpPr/>
          <p:nvPr/>
        </p:nvSpPr>
        <p:spPr>
          <a:xfrm>
            <a:off x="3401640" y="2240280"/>
            <a:ext cx="2486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7dd3fc"/>
                </a:solidFill>
                <a:latin typeface="Consolas"/>
                <a:ea typeface="Consolas"/>
              </a:rPr>
              <a:t>"What objects are in this image?"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159" name="Shape 22"/>
          <p:cNvSpPr/>
          <p:nvPr/>
        </p:nvSpPr>
        <p:spPr>
          <a:xfrm>
            <a:off x="3346560" y="2807280"/>
            <a:ext cx="2605680" cy="45684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0" name="Text 23"/>
          <p:cNvSpPr/>
          <p:nvPr/>
        </p:nvSpPr>
        <p:spPr>
          <a:xfrm>
            <a:off x="3401640" y="2807280"/>
            <a:ext cx="2486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7dd3fc"/>
                </a:solidFill>
                <a:latin typeface="Consolas"/>
                <a:ea typeface="Consolas"/>
              </a:rPr>
              <a:t>"Describe this architecture diagram"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161" name="Shape 24"/>
          <p:cNvSpPr/>
          <p:nvPr/>
        </p:nvSpPr>
        <p:spPr>
          <a:xfrm>
            <a:off x="3346560" y="3374280"/>
            <a:ext cx="2605680" cy="45684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2" name="Text 25"/>
          <p:cNvSpPr/>
          <p:nvPr/>
        </p:nvSpPr>
        <p:spPr>
          <a:xfrm>
            <a:off x="3401640" y="3374280"/>
            <a:ext cx="2486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7dd3fc"/>
                </a:solidFill>
                <a:latin typeface="Consolas"/>
                <a:ea typeface="Consolas"/>
              </a:rPr>
              <a:t>"Extract the text from this screenshot"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163" name="Shape 26"/>
          <p:cNvSpPr/>
          <p:nvPr/>
        </p:nvSpPr>
        <p:spPr>
          <a:xfrm>
            <a:off x="3346560" y="4005000"/>
            <a:ext cx="2605680" cy="804240"/>
          </a:xfrm>
          <a:prstGeom prst="rect">
            <a:avLst/>
          </a:prstGeom>
          <a:solidFill>
            <a:srgbClr val="7c3aed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4" name="Text 27"/>
          <p:cNvSpPr/>
          <p:nvPr/>
        </p:nvSpPr>
        <p:spPr>
          <a:xfrm>
            <a:off x="3401640" y="4005000"/>
            <a:ext cx="248688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1e293b"/>
                </a:solidFill>
                <a:latin typeface="Calibri"/>
              </a:rPr>
              <a:t>💡 </a:t>
            </a:r>
            <a:r>
              <a:rPr b="0" lang="en-US" sz="950" spc="-1" strike="noStrike">
                <a:solidFill>
                  <a:srgbClr val="1e293b"/>
                </a:solidFill>
                <a:latin typeface="Calibri"/>
              </a:rPr>
              <a:t>Requires multimodal models: GPT-4o, Claude 3, Gemini.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165" name="Shape 28"/>
          <p:cNvSpPr/>
          <p:nvPr/>
        </p:nvSpPr>
        <p:spPr>
          <a:xfrm>
            <a:off x="6181200" y="1572840"/>
            <a:ext cx="2788560" cy="33372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66" name="Shape 29"/>
          <p:cNvSpPr/>
          <p:nvPr/>
        </p:nvSpPr>
        <p:spPr>
          <a:xfrm>
            <a:off x="6181200" y="1572840"/>
            <a:ext cx="2788560" cy="5482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Text 30"/>
          <p:cNvSpPr/>
          <p:nvPr/>
        </p:nvSpPr>
        <p:spPr>
          <a:xfrm>
            <a:off x="6291000" y="1572840"/>
            <a:ext cx="26330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50" spc="-1" strike="noStrike">
                <a:solidFill>
                  <a:srgbClr val="ffffff"/>
                </a:solidFill>
                <a:latin typeface="Calibri"/>
              </a:rPr>
              <a:t>🎵  </a:t>
            </a:r>
            <a:r>
              <a:rPr b="1" lang="en-US" sz="1350" spc="-1" strike="noStrike">
                <a:solidFill>
                  <a:srgbClr val="ffffff"/>
                </a:solidFill>
                <a:latin typeface="Calibri"/>
              </a:rPr>
              <a:t>Audio / Video</a:t>
            </a:r>
            <a:endParaRPr b="0" lang="en-IN" sz="1350" spc="-1" strike="noStrike">
              <a:latin typeface="Arial"/>
            </a:endParaRPr>
          </a:p>
        </p:txBody>
      </p:sp>
      <p:sp>
        <p:nvSpPr>
          <p:cNvPr id="168" name="Text 31"/>
          <p:cNvSpPr/>
          <p:nvPr/>
        </p:nvSpPr>
        <p:spPr>
          <a:xfrm>
            <a:off x="6291000" y="1938600"/>
            <a:ext cx="26330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64748b"/>
                </a:solidFill>
                <a:latin typeface="Calibri"/>
              </a:rPr>
              <a:t>Advanced multimodal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69" name="Shape 32"/>
          <p:cNvSpPr/>
          <p:nvPr/>
        </p:nvSpPr>
        <p:spPr>
          <a:xfrm>
            <a:off x="6291000" y="2240280"/>
            <a:ext cx="2605680" cy="45684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0" name="Text 33"/>
          <p:cNvSpPr/>
          <p:nvPr/>
        </p:nvSpPr>
        <p:spPr>
          <a:xfrm>
            <a:off x="6346080" y="2240280"/>
            <a:ext cx="2486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7dd3fc"/>
                </a:solidFill>
                <a:latin typeface="Consolas"/>
                <a:ea typeface="Consolas"/>
              </a:rPr>
              <a:t>"Transcribe this audio recording"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171" name="Shape 34"/>
          <p:cNvSpPr/>
          <p:nvPr/>
        </p:nvSpPr>
        <p:spPr>
          <a:xfrm>
            <a:off x="6291000" y="2807280"/>
            <a:ext cx="2605680" cy="45684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2" name="Text 35"/>
          <p:cNvSpPr/>
          <p:nvPr/>
        </p:nvSpPr>
        <p:spPr>
          <a:xfrm>
            <a:off x="6346080" y="2807280"/>
            <a:ext cx="2486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7dd3fc"/>
                </a:solidFill>
                <a:latin typeface="Consolas"/>
                <a:ea typeface="Consolas"/>
              </a:rPr>
              <a:t>"Summarize this meeting recording"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173" name="Shape 36"/>
          <p:cNvSpPr/>
          <p:nvPr/>
        </p:nvSpPr>
        <p:spPr>
          <a:xfrm>
            <a:off x="6291000" y="3374280"/>
            <a:ext cx="2605680" cy="45684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4" name="Text 37"/>
          <p:cNvSpPr/>
          <p:nvPr/>
        </p:nvSpPr>
        <p:spPr>
          <a:xfrm>
            <a:off x="6346080" y="3374280"/>
            <a:ext cx="2486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7dd3fc"/>
                </a:solidFill>
                <a:latin typeface="Consolas"/>
                <a:ea typeface="Consolas"/>
              </a:rPr>
              <a:t>"Translate this spoken clip to English"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175" name="Shape 38"/>
          <p:cNvSpPr/>
          <p:nvPr/>
        </p:nvSpPr>
        <p:spPr>
          <a:xfrm>
            <a:off x="6291000" y="4005000"/>
            <a:ext cx="2605680" cy="804240"/>
          </a:xfrm>
          <a:prstGeom prst="rect">
            <a:avLst/>
          </a:prstGeom>
          <a:solidFill>
            <a:srgbClr val="f59e0b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6" name="Text 39"/>
          <p:cNvSpPr/>
          <p:nvPr/>
        </p:nvSpPr>
        <p:spPr>
          <a:xfrm>
            <a:off x="6346080" y="4005000"/>
            <a:ext cx="248688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1e293b"/>
                </a:solidFill>
                <a:latin typeface="Calibri"/>
              </a:rPr>
              <a:t>💡 </a:t>
            </a:r>
            <a:r>
              <a:rPr b="0" lang="en-US" sz="950" spc="-1" strike="noStrike">
                <a:solidFill>
                  <a:srgbClr val="1e293b"/>
                </a:solidFill>
                <a:latin typeface="Calibri"/>
              </a:rPr>
              <a:t>Emerging capability — Whisper, Gemini 1.5 Pro, etc.</a:t>
            </a:r>
            <a:endParaRPr b="0" lang="en-IN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Shape 0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Text 1"/>
          <p:cNvSpPr/>
          <p:nvPr/>
        </p:nvSpPr>
        <p:spPr>
          <a:xfrm>
            <a:off x="411480" y="0"/>
            <a:ext cx="8320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Why Prompts Are So Important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179" name="Shape 2"/>
          <p:cNvSpPr/>
          <p:nvPr/>
        </p:nvSpPr>
        <p:spPr>
          <a:xfrm>
            <a:off x="320040" y="960120"/>
            <a:ext cx="8503560" cy="100548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Text 3"/>
          <p:cNvSpPr/>
          <p:nvPr/>
        </p:nvSpPr>
        <p:spPr>
          <a:xfrm>
            <a:off x="457200" y="960120"/>
            <a:ext cx="8229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Calibri"/>
              </a:rPr>
              <a:t>Output quality depends entirely on the prompt you write — </a:t>
            </a:r>
            <a:r>
              <a:rPr b="1" lang="en-US" sz="1600" spc="-1" strike="noStrike">
                <a:solidFill>
                  <a:srgbClr val="ccfbf1"/>
                </a:solidFill>
                <a:latin typeface="Calibri"/>
              </a:rPr>
              <a:t>tiny changes produce dramatically different results.</a:t>
            </a:r>
            <a:endParaRPr b="0" lang="en-IN" sz="1600" spc="-1" strike="noStrike">
              <a:latin typeface="Arial"/>
            </a:endParaRPr>
          </a:p>
        </p:txBody>
      </p:sp>
      <p:sp>
        <p:nvSpPr>
          <p:cNvPr id="181" name="Shape 4"/>
          <p:cNvSpPr/>
          <p:nvPr/>
        </p:nvSpPr>
        <p:spPr>
          <a:xfrm>
            <a:off x="292680" y="2148840"/>
            <a:ext cx="2788560" cy="26971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82" name="Shape 5"/>
          <p:cNvSpPr/>
          <p:nvPr/>
        </p:nvSpPr>
        <p:spPr>
          <a:xfrm>
            <a:off x="292680" y="2148840"/>
            <a:ext cx="2788560" cy="43848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3" name="Text 6"/>
          <p:cNvSpPr/>
          <p:nvPr/>
        </p:nvSpPr>
        <p:spPr>
          <a:xfrm>
            <a:off x="402480" y="2148840"/>
            <a:ext cx="26330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Vague Prompt</a:t>
            </a:r>
            <a:endParaRPr b="0" lang="en-IN" sz="1250" spc="-1" strike="noStrike">
              <a:latin typeface="Arial"/>
            </a:endParaRPr>
          </a:p>
        </p:txBody>
      </p:sp>
      <p:sp>
        <p:nvSpPr>
          <p:cNvPr id="184" name="Shape 7"/>
          <p:cNvSpPr/>
          <p:nvPr/>
        </p:nvSpPr>
        <p:spPr>
          <a:xfrm>
            <a:off x="402480" y="2679120"/>
            <a:ext cx="2633040" cy="65808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5" name="Text 8"/>
          <p:cNvSpPr/>
          <p:nvPr/>
        </p:nvSpPr>
        <p:spPr>
          <a:xfrm>
            <a:off x="457200" y="2679120"/>
            <a:ext cx="2523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7dd3fc"/>
                </a:solidFill>
                <a:latin typeface="Consolas"/>
                <a:ea typeface="Consolas"/>
              </a:rPr>
              <a:t>Prompt: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7dd3fc"/>
                </a:solidFill>
                <a:latin typeface="Consolas"/>
                <a:ea typeface="Consolas"/>
              </a:rPr>
              <a:t>"Tell me about AI"</a:t>
            </a:r>
            <a:endParaRPr b="0" lang="en-IN" sz="850" spc="-1" strike="noStrike">
              <a:latin typeface="Arial"/>
            </a:endParaRPr>
          </a:p>
        </p:txBody>
      </p:sp>
      <p:sp>
        <p:nvSpPr>
          <p:cNvPr id="186" name="Text 9"/>
          <p:cNvSpPr/>
          <p:nvPr/>
        </p:nvSpPr>
        <p:spPr>
          <a:xfrm>
            <a:off x="402480" y="3401640"/>
            <a:ext cx="2633040" cy="13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Result: Gets a generic 3-paragraph essay about AI history — not what you probably wanted.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87" name="Shape 10"/>
          <p:cNvSpPr/>
          <p:nvPr/>
        </p:nvSpPr>
        <p:spPr>
          <a:xfrm>
            <a:off x="3237120" y="2148840"/>
            <a:ext cx="2788560" cy="26971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88" name="Shape 11"/>
          <p:cNvSpPr/>
          <p:nvPr/>
        </p:nvSpPr>
        <p:spPr>
          <a:xfrm>
            <a:off x="3237120" y="2148840"/>
            <a:ext cx="2788560" cy="4384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9" name="Text 12"/>
          <p:cNvSpPr/>
          <p:nvPr/>
        </p:nvSpPr>
        <p:spPr>
          <a:xfrm>
            <a:off x="3346560" y="2148840"/>
            <a:ext cx="26330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Specific Prompt</a:t>
            </a:r>
            <a:endParaRPr b="0" lang="en-IN" sz="1250" spc="-1" strike="noStrike">
              <a:latin typeface="Arial"/>
            </a:endParaRPr>
          </a:p>
        </p:txBody>
      </p:sp>
      <p:sp>
        <p:nvSpPr>
          <p:cNvPr id="190" name="Shape 13"/>
          <p:cNvSpPr/>
          <p:nvPr/>
        </p:nvSpPr>
        <p:spPr>
          <a:xfrm>
            <a:off x="3346560" y="2679120"/>
            <a:ext cx="2633040" cy="65808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1" name="Text 14"/>
          <p:cNvSpPr/>
          <p:nvPr/>
        </p:nvSpPr>
        <p:spPr>
          <a:xfrm>
            <a:off x="3401640" y="2679120"/>
            <a:ext cx="2523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7dd3fc"/>
                </a:solidFill>
                <a:latin typeface="Consolas"/>
                <a:ea typeface="Consolas"/>
              </a:rPr>
              <a:t>Prompt: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7dd3fc"/>
                </a:solidFill>
                <a:latin typeface="Consolas"/>
                <a:ea typeface="Consolas"/>
              </a:rPr>
              <a:t>"Explain neural networks in 3 bullet points for a 12-year-old"</a:t>
            </a:r>
            <a:endParaRPr b="0" lang="en-IN" sz="850" spc="-1" strike="noStrike">
              <a:latin typeface="Arial"/>
            </a:endParaRPr>
          </a:p>
        </p:txBody>
      </p:sp>
      <p:sp>
        <p:nvSpPr>
          <p:cNvPr id="192" name="Text 15"/>
          <p:cNvSpPr/>
          <p:nvPr/>
        </p:nvSpPr>
        <p:spPr>
          <a:xfrm>
            <a:off x="3346560" y="3401640"/>
            <a:ext cx="2633040" cy="13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Result: Gets exactly 3 simple bullets tailored to a young audience — precise and useful.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93" name="Shape 16"/>
          <p:cNvSpPr/>
          <p:nvPr/>
        </p:nvSpPr>
        <p:spPr>
          <a:xfrm>
            <a:off x="6181200" y="2148840"/>
            <a:ext cx="2788560" cy="26971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94" name="Shape 17"/>
          <p:cNvSpPr/>
          <p:nvPr/>
        </p:nvSpPr>
        <p:spPr>
          <a:xfrm>
            <a:off x="6181200" y="2148840"/>
            <a:ext cx="2788560" cy="4384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5" name="Text 18"/>
          <p:cNvSpPr/>
          <p:nvPr/>
        </p:nvSpPr>
        <p:spPr>
          <a:xfrm>
            <a:off x="6291000" y="2148840"/>
            <a:ext cx="26330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Structured Prompt</a:t>
            </a:r>
            <a:endParaRPr b="0" lang="en-IN" sz="1250" spc="-1" strike="noStrike">
              <a:latin typeface="Arial"/>
            </a:endParaRPr>
          </a:p>
        </p:txBody>
      </p:sp>
      <p:sp>
        <p:nvSpPr>
          <p:cNvPr id="196" name="Shape 19"/>
          <p:cNvSpPr/>
          <p:nvPr/>
        </p:nvSpPr>
        <p:spPr>
          <a:xfrm>
            <a:off x="6291000" y="2679120"/>
            <a:ext cx="2633040" cy="65808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7" name="Text 20"/>
          <p:cNvSpPr/>
          <p:nvPr/>
        </p:nvSpPr>
        <p:spPr>
          <a:xfrm>
            <a:off x="6346080" y="2679120"/>
            <a:ext cx="2523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7dd3fc"/>
                </a:solidFill>
                <a:latin typeface="Consolas"/>
                <a:ea typeface="Consolas"/>
              </a:rPr>
              <a:t>Prompt: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7dd3fc"/>
                </a:solidFill>
                <a:latin typeface="Consolas"/>
                <a:ea typeface="Consolas"/>
              </a:rPr>
              <a:t>"List 5 real-world uses of NLP, formatted as a numbered list with one sentence each"</a:t>
            </a:r>
            <a:endParaRPr b="0" lang="en-IN" sz="850" spc="-1" strike="noStrike">
              <a:latin typeface="Arial"/>
            </a:endParaRPr>
          </a:p>
        </p:txBody>
      </p:sp>
      <p:sp>
        <p:nvSpPr>
          <p:cNvPr id="198" name="Text 21"/>
          <p:cNvSpPr/>
          <p:nvPr/>
        </p:nvSpPr>
        <p:spPr>
          <a:xfrm>
            <a:off x="6291000" y="3401640"/>
            <a:ext cx="2633040" cy="13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Result: Gets a perfectly formatted numbered list ready to copy into a document.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99" name="Shape 22"/>
          <p:cNvSpPr/>
          <p:nvPr/>
        </p:nvSpPr>
        <p:spPr>
          <a:xfrm>
            <a:off x="320040" y="4809600"/>
            <a:ext cx="8503560" cy="237240"/>
          </a:xfrm>
          <a:prstGeom prst="rect">
            <a:avLst/>
          </a:prstGeom>
          <a:solidFill>
            <a:srgbClr val="ccfb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0" name="Text 23"/>
          <p:cNvSpPr/>
          <p:nvPr/>
        </p:nvSpPr>
        <p:spPr>
          <a:xfrm>
            <a:off x="411480" y="4809600"/>
            <a:ext cx="83206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🔑  </a:t>
            </a: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The same LLM can produce excellent or poor results purely based on how you write the prompt.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0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2" name="Text 1"/>
          <p:cNvSpPr/>
          <p:nvPr/>
        </p:nvSpPr>
        <p:spPr>
          <a:xfrm>
            <a:off x="411480" y="0"/>
            <a:ext cx="8320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Current Way of Writing Prompts — and the Problem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203" name="Shape 2"/>
          <p:cNvSpPr/>
          <p:nvPr/>
        </p:nvSpPr>
        <p:spPr>
          <a:xfrm>
            <a:off x="292680" y="932760"/>
            <a:ext cx="4132800" cy="39132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04" name="Shape 3"/>
          <p:cNvSpPr/>
          <p:nvPr/>
        </p:nvSpPr>
        <p:spPr>
          <a:xfrm>
            <a:off x="292680" y="932760"/>
            <a:ext cx="4132800" cy="47520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5" name="Text 4"/>
          <p:cNvSpPr/>
          <p:nvPr/>
        </p:nvSpPr>
        <p:spPr>
          <a:xfrm>
            <a:off x="411480" y="932760"/>
            <a:ext cx="3949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❌ 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Current Approach (Hard-coded)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06" name="Shape 5"/>
          <p:cNvSpPr/>
          <p:nvPr/>
        </p:nvSpPr>
        <p:spPr>
          <a:xfrm>
            <a:off x="411480" y="1508760"/>
            <a:ext cx="3885840" cy="159984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7" name="Text 6"/>
          <p:cNvSpPr/>
          <p:nvPr/>
        </p:nvSpPr>
        <p:spPr>
          <a:xfrm>
            <a:off x="502920" y="1572840"/>
            <a:ext cx="373032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Developer writes prompt directly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ai_engine = ChatOpenAI()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ai_engine.invoke(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'write a five line poem on cricket'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)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208" name="Text 7"/>
          <p:cNvSpPr/>
          <p:nvPr/>
        </p:nvSpPr>
        <p:spPr>
          <a:xfrm>
            <a:off x="411480" y="3200400"/>
            <a:ext cx="388584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799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Developer writes all prompts manually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799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No flexibility for different users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799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Prompt quality depends on developer knowledge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799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Cannot adapt to user needs or preferences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09" name="Shape 8"/>
          <p:cNvSpPr/>
          <p:nvPr/>
        </p:nvSpPr>
        <p:spPr>
          <a:xfrm>
            <a:off x="4718160" y="932760"/>
            <a:ext cx="4132800" cy="39132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10" name="Shape 9"/>
          <p:cNvSpPr/>
          <p:nvPr/>
        </p:nvSpPr>
        <p:spPr>
          <a:xfrm>
            <a:off x="4718160" y="932760"/>
            <a:ext cx="4132800" cy="4752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Text 10"/>
          <p:cNvSpPr/>
          <p:nvPr/>
        </p:nvSpPr>
        <p:spPr>
          <a:xfrm>
            <a:off x="4827960" y="932760"/>
            <a:ext cx="3949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✓ 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Correct Approach (User-Driven)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12" name="Shape 11"/>
          <p:cNvSpPr/>
          <p:nvPr/>
        </p:nvSpPr>
        <p:spPr>
          <a:xfrm>
            <a:off x="4827960" y="1508760"/>
            <a:ext cx="3885840" cy="159984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3" name="Text 12"/>
          <p:cNvSpPr/>
          <p:nvPr/>
        </p:nvSpPr>
        <p:spPr>
          <a:xfrm>
            <a:off x="4919400" y="1572840"/>
            <a:ext cx="373032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User provides the prompt via UI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user_prompt = st.text_input('Your query')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App sends user's prompt to LLM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ai_engine.invoke(user_prompt)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214" name="Text 13"/>
          <p:cNvSpPr/>
          <p:nvPr/>
        </p:nvSpPr>
        <p:spPr>
          <a:xfrm>
            <a:off x="4827960" y="3200400"/>
            <a:ext cx="388584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799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Users write prompts through your application UI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799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Each user gets personalised, relevant responses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799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Developers focus on building the app, not prompts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799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Scales naturally across different user needs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Shape 0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6" name="Text 1"/>
          <p:cNvSpPr/>
          <p:nvPr/>
        </p:nvSpPr>
        <p:spPr>
          <a:xfrm>
            <a:off x="411480" y="0"/>
            <a:ext cx="8320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Real-World Use Case: Research Assistant Tool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217" name="Shape 2"/>
          <p:cNvSpPr/>
          <p:nvPr/>
        </p:nvSpPr>
        <p:spPr>
          <a:xfrm>
            <a:off x="320040" y="960120"/>
            <a:ext cx="4023000" cy="38584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18" name="Shape 3"/>
          <p:cNvSpPr/>
          <p:nvPr/>
        </p:nvSpPr>
        <p:spPr>
          <a:xfrm>
            <a:off x="320040" y="960120"/>
            <a:ext cx="4023000" cy="456840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Text 4"/>
          <p:cNvSpPr/>
          <p:nvPr/>
        </p:nvSpPr>
        <p:spPr>
          <a:xfrm>
            <a:off x="438840" y="960120"/>
            <a:ext cx="3840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📋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What We're Building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20" name="Text 5"/>
          <p:cNvSpPr/>
          <p:nvPr/>
        </p:nvSpPr>
        <p:spPr>
          <a:xfrm>
            <a:off x="457200" y="1508760"/>
            <a:ext cx="374868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1001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1e293b"/>
                </a:solidFill>
                <a:latin typeface="Calibri"/>
              </a:rPr>
              <a:t>A web app where users can summarise any research paper</a:t>
            </a:r>
            <a:endParaRPr b="0" lang="en-IN" sz="115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1001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1e293b"/>
                </a:solidFill>
                <a:latin typeface="Calibri"/>
              </a:rPr>
              <a:t>Users type a query like: "Summarise the Attention paper in simple terms"</a:t>
            </a:r>
            <a:endParaRPr b="0" lang="en-IN" sz="115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1001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1e293b"/>
                </a:solidFill>
                <a:latin typeface="Calibri"/>
              </a:rPr>
              <a:t>User clicks a 'Summarise' button</a:t>
            </a:r>
            <a:endParaRPr b="0" lang="en-IN" sz="115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1001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1e293b"/>
                </a:solidFill>
                <a:latin typeface="Calibri"/>
              </a:rPr>
              <a:t>App fetches text from the input box, sends it to the LLM, and displays the response</a:t>
            </a:r>
            <a:endParaRPr b="0" lang="en-IN" sz="115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1001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1e293b"/>
                </a:solidFill>
                <a:latin typeface="Calibri"/>
              </a:rPr>
              <a:t>Built with Streamlit + LangChain + ChatOpenAI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221" name="Shape 6"/>
          <p:cNvSpPr/>
          <p:nvPr/>
        </p:nvSpPr>
        <p:spPr>
          <a:xfrm>
            <a:off x="4572000" y="960120"/>
            <a:ext cx="4251600" cy="38584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22" name="Shape 7"/>
          <p:cNvSpPr/>
          <p:nvPr/>
        </p:nvSpPr>
        <p:spPr>
          <a:xfrm>
            <a:off x="4572000" y="960120"/>
            <a:ext cx="4251600" cy="4568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Text 8"/>
          <p:cNvSpPr/>
          <p:nvPr/>
        </p:nvSpPr>
        <p:spPr>
          <a:xfrm>
            <a:off x="4681800" y="960120"/>
            <a:ext cx="4068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🔄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Application Flow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24" name="Shape 9"/>
          <p:cNvSpPr/>
          <p:nvPr/>
        </p:nvSpPr>
        <p:spPr>
          <a:xfrm>
            <a:off x="4681800" y="1609200"/>
            <a:ext cx="420120" cy="420120"/>
          </a:xfrm>
          <a:prstGeom prst="ellipse">
            <a:avLst/>
          </a:prstGeom>
          <a:solidFill>
            <a:srgbClr val="1d4e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5" name="Text 10"/>
          <p:cNvSpPr/>
          <p:nvPr/>
        </p:nvSpPr>
        <p:spPr>
          <a:xfrm>
            <a:off x="4681800" y="160920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26" name="Shape 11"/>
          <p:cNvSpPr/>
          <p:nvPr/>
        </p:nvSpPr>
        <p:spPr>
          <a:xfrm>
            <a:off x="5193720" y="1627560"/>
            <a:ext cx="3492720" cy="383760"/>
          </a:xfrm>
          <a:prstGeom prst="rect">
            <a:avLst/>
          </a:prstGeom>
          <a:solidFill>
            <a:srgbClr val="1d4ed8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7" name="Text 12"/>
          <p:cNvSpPr/>
          <p:nvPr/>
        </p:nvSpPr>
        <p:spPr>
          <a:xfrm>
            <a:off x="5285160" y="1627560"/>
            <a:ext cx="33372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User visits the web app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28" name="Shape 13"/>
          <p:cNvSpPr/>
          <p:nvPr/>
        </p:nvSpPr>
        <p:spPr>
          <a:xfrm>
            <a:off x="4873680" y="2030040"/>
            <a:ext cx="36360" cy="182520"/>
          </a:xfrm>
          <a:prstGeom prst="rect">
            <a:avLst/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9" name="Shape 14"/>
          <p:cNvSpPr/>
          <p:nvPr/>
        </p:nvSpPr>
        <p:spPr>
          <a:xfrm>
            <a:off x="4681800" y="2231280"/>
            <a:ext cx="420120" cy="420120"/>
          </a:xfrm>
          <a:prstGeom prst="ellipse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0" name="Text 15"/>
          <p:cNvSpPr/>
          <p:nvPr/>
        </p:nvSpPr>
        <p:spPr>
          <a:xfrm>
            <a:off x="4681800" y="223128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31" name="Shape 16"/>
          <p:cNvSpPr/>
          <p:nvPr/>
        </p:nvSpPr>
        <p:spPr>
          <a:xfrm>
            <a:off x="5193720" y="2249280"/>
            <a:ext cx="3492720" cy="383760"/>
          </a:xfrm>
          <a:prstGeom prst="rect">
            <a:avLst/>
          </a:prstGeom>
          <a:solidFill>
            <a:srgbClr val="0d9488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2" name="Text 17"/>
          <p:cNvSpPr/>
          <p:nvPr/>
        </p:nvSpPr>
        <p:spPr>
          <a:xfrm>
            <a:off x="5285160" y="2249280"/>
            <a:ext cx="33372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Types query in text box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33" name="Shape 18"/>
          <p:cNvSpPr/>
          <p:nvPr/>
        </p:nvSpPr>
        <p:spPr>
          <a:xfrm>
            <a:off x="4873680" y="2651760"/>
            <a:ext cx="36360" cy="182520"/>
          </a:xfrm>
          <a:prstGeom prst="rect">
            <a:avLst/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4" name="Shape 19"/>
          <p:cNvSpPr/>
          <p:nvPr/>
        </p:nvSpPr>
        <p:spPr>
          <a:xfrm>
            <a:off x="4681800" y="2853000"/>
            <a:ext cx="420120" cy="420120"/>
          </a:xfrm>
          <a:prstGeom prst="ellipse">
            <a:avLst/>
          </a:prstGeom>
          <a:solidFill>
            <a:srgbClr val="7c3a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5" name="Text 20"/>
          <p:cNvSpPr/>
          <p:nvPr/>
        </p:nvSpPr>
        <p:spPr>
          <a:xfrm>
            <a:off x="4681800" y="285300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36" name="Shape 21"/>
          <p:cNvSpPr/>
          <p:nvPr/>
        </p:nvSpPr>
        <p:spPr>
          <a:xfrm>
            <a:off x="5193720" y="2871360"/>
            <a:ext cx="3492720" cy="383760"/>
          </a:xfrm>
          <a:prstGeom prst="rect">
            <a:avLst/>
          </a:prstGeom>
          <a:solidFill>
            <a:srgbClr val="7c3aed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7" name="Text 22"/>
          <p:cNvSpPr/>
          <p:nvPr/>
        </p:nvSpPr>
        <p:spPr>
          <a:xfrm>
            <a:off x="5285160" y="2871360"/>
            <a:ext cx="33372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Clicks 'Summarise' button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38" name="Shape 23"/>
          <p:cNvSpPr/>
          <p:nvPr/>
        </p:nvSpPr>
        <p:spPr>
          <a:xfrm>
            <a:off x="4873680" y="3273480"/>
            <a:ext cx="36360" cy="182520"/>
          </a:xfrm>
          <a:prstGeom prst="rect">
            <a:avLst/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9" name="Shape 24"/>
          <p:cNvSpPr/>
          <p:nvPr/>
        </p:nvSpPr>
        <p:spPr>
          <a:xfrm>
            <a:off x="4681800" y="3474720"/>
            <a:ext cx="420120" cy="42012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0" name="Text 25"/>
          <p:cNvSpPr/>
          <p:nvPr/>
        </p:nvSpPr>
        <p:spPr>
          <a:xfrm>
            <a:off x="4681800" y="347472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41" name="Shape 26"/>
          <p:cNvSpPr/>
          <p:nvPr/>
        </p:nvSpPr>
        <p:spPr>
          <a:xfrm>
            <a:off x="5193720" y="3493080"/>
            <a:ext cx="3492720" cy="383760"/>
          </a:xfrm>
          <a:prstGeom prst="rect">
            <a:avLst/>
          </a:prstGeom>
          <a:solidFill>
            <a:srgbClr val="f59e0b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2" name="Text 27"/>
          <p:cNvSpPr/>
          <p:nvPr/>
        </p:nvSpPr>
        <p:spPr>
          <a:xfrm>
            <a:off x="5285160" y="3493080"/>
            <a:ext cx="33372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App sends prompt to LLM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43" name="Shape 28"/>
          <p:cNvSpPr/>
          <p:nvPr/>
        </p:nvSpPr>
        <p:spPr>
          <a:xfrm>
            <a:off x="4873680" y="3895200"/>
            <a:ext cx="36360" cy="182520"/>
          </a:xfrm>
          <a:prstGeom prst="rect">
            <a:avLst/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4" name="Shape 29"/>
          <p:cNvSpPr/>
          <p:nvPr/>
        </p:nvSpPr>
        <p:spPr>
          <a:xfrm>
            <a:off x="4681800" y="4096440"/>
            <a:ext cx="420120" cy="4201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5" name="Text 30"/>
          <p:cNvSpPr/>
          <p:nvPr/>
        </p:nvSpPr>
        <p:spPr>
          <a:xfrm>
            <a:off x="4681800" y="409644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5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46" name="Shape 31"/>
          <p:cNvSpPr/>
          <p:nvPr/>
        </p:nvSpPr>
        <p:spPr>
          <a:xfrm>
            <a:off x="5193720" y="4114800"/>
            <a:ext cx="3492720" cy="383760"/>
          </a:xfrm>
          <a:prstGeom prst="rect">
            <a:avLst/>
          </a:prstGeom>
          <a:solidFill>
            <a:srgbClr val="10b981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7" name="Text 32"/>
          <p:cNvSpPr/>
          <p:nvPr/>
        </p:nvSpPr>
        <p:spPr>
          <a:xfrm>
            <a:off x="5285160" y="4114800"/>
            <a:ext cx="33372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LLM response shown on page</a:t>
            </a:r>
            <a:endParaRPr b="0" lang="en-IN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0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9" name="Text 1"/>
          <p:cNvSpPr/>
          <p:nvPr/>
        </p:nvSpPr>
        <p:spPr>
          <a:xfrm>
            <a:off x="411480" y="0"/>
            <a:ext cx="8320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Building the Research Assistant UI — Code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250" name="Shape 2"/>
          <p:cNvSpPr/>
          <p:nvPr/>
        </p:nvSpPr>
        <p:spPr>
          <a:xfrm>
            <a:off x="320040" y="932760"/>
            <a:ext cx="5321520" cy="3858480"/>
          </a:xfrm>
          <a:prstGeom prst="rect">
            <a:avLst/>
          </a:prstGeom>
          <a:solidFill>
            <a:srgbClr val="1e293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51" name="Shape 3"/>
          <p:cNvSpPr/>
          <p:nvPr/>
        </p:nvSpPr>
        <p:spPr>
          <a:xfrm>
            <a:off x="320040" y="932760"/>
            <a:ext cx="5321520" cy="319680"/>
          </a:xfrm>
          <a:prstGeom prst="rect">
            <a:avLst/>
          </a:prstGeom>
          <a:solidFill>
            <a:srgbClr val="111c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2" name="Text 4"/>
          <p:cNvSpPr/>
          <p:nvPr/>
        </p:nvSpPr>
        <p:spPr>
          <a:xfrm>
            <a:off x="457200" y="93276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7dd3fc"/>
                </a:solidFill>
                <a:latin typeface="Calibri"/>
              </a:rPr>
              <a:t>content_assistant.py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53" name="Text 5"/>
          <p:cNvSpPr/>
          <p:nvPr/>
        </p:nvSpPr>
        <p:spPr>
          <a:xfrm>
            <a:off x="457200" y="1316880"/>
            <a:ext cx="5120280" cy="340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from langchain_openai import ChatOpenAI</a:t>
            </a:r>
            <a:endParaRPr b="0" lang="en-IN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import streamlit as ui</a:t>
            </a:r>
            <a:endParaRPr b="0" lang="en-IN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from dotenv import load_dotenv</a:t>
            </a:r>
            <a:endParaRPr b="0" lang="en-IN" sz="1000" spc="-1" strike="noStrike">
              <a:latin typeface="Arial"/>
            </a:endParaRPr>
          </a:p>
          <a:p>
            <a:endParaRPr b="0" lang="en-IN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# Load environment variables</a:t>
            </a:r>
            <a:endParaRPr b="0" lang="en-IN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load_dotenv()</a:t>
            </a:r>
            <a:endParaRPr b="0" lang="en-IN" sz="1000" spc="-1" strike="noStrike">
              <a:latin typeface="Arial"/>
            </a:endParaRPr>
          </a:p>
          <a:p>
            <a:endParaRPr b="0" lang="en-IN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# Initialize language model</a:t>
            </a:r>
            <a:endParaRPr b="0" lang="en-IN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llm_engine = ChatOpenAI()</a:t>
            </a:r>
            <a:endParaRPr b="0" lang="en-IN" sz="1000" spc="-1" strike="noStrike">
              <a:latin typeface="Arial"/>
            </a:endParaRPr>
          </a:p>
          <a:p>
            <a:endParaRPr b="0" lang="en-IN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# Streamlit UI</a:t>
            </a:r>
            <a:endParaRPr b="0" lang="en-IN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ui.title("AI Content Assistant")</a:t>
            </a:r>
            <a:endParaRPr b="0" lang="en-IN" sz="1000" spc="-1" strike="noStrike">
              <a:latin typeface="Arial"/>
            </a:endParaRPr>
          </a:p>
          <a:p>
            <a:endParaRPr b="0" lang="en-IN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query_text = ui.text_input("Type your question here")</a:t>
            </a:r>
            <a:endParaRPr b="0" lang="en-IN" sz="1000" spc="-1" strike="noStrike">
              <a:latin typeface="Arial"/>
            </a:endParaRPr>
          </a:p>
          <a:p>
            <a:endParaRPr b="0" lang="en-IN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if ui.button("Generate Response"):</a:t>
            </a:r>
            <a:endParaRPr b="0" lang="en-IN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    </a:t>
            </a:r>
            <a:endParaRPr b="0" lang="en-IN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if query_text:</a:t>
            </a:r>
            <a:endParaRPr b="0" lang="en-IN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        </a:t>
            </a:r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answer = llm_engine.invoke(query_text)</a:t>
            </a:r>
            <a:endParaRPr b="0" lang="en-IN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        </a:t>
            </a:r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ui.write(answer.content)</a:t>
            </a:r>
            <a:endParaRPr b="0" lang="en-IN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    </a:t>
            </a:r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else:</a:t>
            </a:r>
            <a:endParaRPr b="0" lang="en-IN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        </a:t>
            </a:r>
            <a:r>
              <a:rPr b="0" lang="en-US" sz="1000" spc="-1" strike="noStrike">
                <a:solidFill>
                  <a:srgbClr val="c084fc"/>
                </a:solidFill>
                <a:latin typeface="Consolas"/>
                <a:ea typeface="Consolas"/>
              </a:rPr>
              <a:t>ui.warning("Please enter a question first.")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54" name="Shape 6"/>
          <p:cNvSpPr/>
          <p:nvPr/>
        </p:nvSpPr>
        <p:spPr>
          <a:xfrm>
            <a:off x="5806440" y="932760"/>
            <a:ext cx="3035520" cy="17186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55" name="Shape 7"/>
          <p:cNvSpPr/>
          <p:nvPr/>
        </p:nvSpPr>
        <p:spPr>
          <a:xfrm>
            <a:off x="5806440" y="932760"/>
            <a:ext cx="3035520" cy="38376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6" name="Text 8"/>
          <p:cNvSpPr/>
          <p:nvPr/>
        </p:nvSpPr>
        <p:spPr>
          <a:xfrm>
            <a:off x="5925240" y="932760"/>
            <a:ext cx="2880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⚠️ 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The Problem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57" name="Text 9"/>
          <p:cNvSpPr/>
          <p:nvPr/>
        </p:nvSpPr>
        <p:spPr>
          <a:xfrm>
            <a:off x="5925240" y="1371600"/>
            <a:ext cx="28526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Users have full control of the prompt text — they can type anything! This causes: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• </a:t>
            </a: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Inconsistent output quality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• </a:t>
            </a: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Unpredictable response formats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• </a:t>
            </a: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Potential misuse or irrelevant queries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58" name="Shape 10"/>
          <p:cNvSpPr/>
          <p:nvPr/>
        </p:nvSpPr>
        <p:spPr>
          <a:xfrm>
            <a:off x="5806440" y="2816280"/>
            <a:ext cx="3035520" cy="19746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59" name="Shape 11"/>
          <p:cNvSpPr/>
          <p:nvPr/>
        </p:nvSpPr>
        <p:spPr>
          <a:xfrm>
            <a:off x="5806440" y="2816280"/>
            <a:ext cx="3035520" cy="3837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0" name="Text 12"/>
          <p:cNvSpPr/>
          <p:nvPr/>
        </p:nvSpPr>
        <p:spPr>
          <a:xfrm>
            <a:off x="5925240" y="2816280"/>
            <a:ext cx="2880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✅ 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The Solution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61" name="Text 13"/>
          <p:cNvSpPr/>
          <p:nvPr/>
        </p:nvSpPr>
        <p:spPr>
          <a:xfrm>
            <a:off x="5925240" y="3255120"/>
            <a:ext cx="2852640" cy="14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Use Prompt Templates with controlled inputs!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• </a:t>
            </a: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Replace free text input with dropdowns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• </a:t>
            </a: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Users choose style, length, format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• </a:t>
            </a: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Developer controls prompt structure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• </a:t>
            </a: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Output quality becomes predictable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Shape 0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3" name="Text 1"/>
          <p:cNvSpPr/>
          <p:nvPr/>
        </p:nvSpPr>
        <p:spPr>
          <a:xfrm>
            <a:off x="411480" y="0"/>
            <a:ext cx="8320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Static Prompts vs Dynamic Prompt Templates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264" name="Shape 2"/>
          <p:cNvSpPr/>
          <p:nvPr/>
        </p:nvSpPr>
        <p:spPr>
          <a:xfrm>
            <a:off x="292680" y="932760"/>
            <a:ext cx="4132800" cy="39132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5" name="Shape 3"/>
          <p:cNvSpPr/>
          <p:nvPr/>
        </p:nvSpPr>
        <p:spPr>
          <a:xfrm>
            <a:off x="292680" y="932760"/>
            <a:ext cx="4132800" cy="47520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6" name="Text 4"/>
          <p:cNvSpPr/>
          <p:nvPr/>
        </p:nvSpPr>
        <p:spPr>
          <a:xfrm>
            <a:off x="411480" y="932760"/>
            <a:ext cx="3949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❌  </a:t>
            </a: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Static Prompts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267" name="Text 5"/>
          <p:cNvSpPr/>
          <p:nvPr/>
        </p:nvSpPr>
        <p:spPr>
          <a:xfrm>
            <a:off x="457200" y="1508760"/>
            <a:ext cx="382176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901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User writes the full prompt text freely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901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No structure, no constraints, no template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901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Risk of typos, unclear instructions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901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Unpredictable output quality every time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901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Hard to maintain or improve over time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68" name="Shape 6"/>
          <p:cNvSpPr/>
          <p:nvPr/>
        </p:nvSpPr>
        <p:spPr>
          <a:xfrm>
            <a:off x="411480" y="3108960"/>
            <a:ext cx="3885840" cy="52992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9" name="Text 7"/>
          <p:cNvSpPr/>
          <p:nvPr/>
        </p:nvSpPr>
        <p:spPr>
          <a:xfrm>
            <a:off x="502920" y="3108960"/>
            <a:ext cx="37303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7dd3fc"/>
                </a:solidFill>
                <a:latin typeface="Consolas"/>
                <a:ea typeface="Consolas"/>
              </a:rPr>
              <a:t>"Summarize the Attention paper pls"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70" name="Text 8"/>
          <p:cNvSpPr/>
          <p:nvPr/>
        </p:nvSpPr>
        <p:spPr>
          <a:xfrm>
            <a:off x="438840" y="3730680"/>
            <a:ext cx="3858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ef4444"/>
                </a:solidFill>
                <a:latin typeface="Calibri"/>
              </a:rPr>
              <a:t>⚠  </a:t>
            </a:r>
            <a:r>
              <a:rPr b="0" i="1" lang="en-US" sz="1000" spc="-1" strike="noStrike">
                <a:solidFill>
                  <a:srgbClr val="ef4444"/>
                </a:solidFill>
                <a:latin typeface="Calibri"/>
              </a:rPr>
              <a:t>Inconsistent — user controls everything!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71" name="Shape 9"/>
          <p:cNvSpPr/>
          <p:nvPr/>
        </p:nvSpPr>
        <p:spPr>
          <a:xfrm>
            <a:off x="411480" y="4133160"/>
            <a:ext cx="3885840" cy="566640"/>
          </a:xfrm>
          <a:prstGeom prst="rect">
            <a:avLst/>
          </a:prstGeom>
          <a:solidFill>
            <a:srgbClr val="fe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2" name="Text 10"/>
          <p:cNvSpPr/>
          <p:nvPr/>
        </p:nvSpPr>
        <p:spPr>
          <a:xfrm>
            <a:off x="502920" y="4133160"/>
            <a:ext cx="37303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ef4444"/>
                </a:solidFill>
                <a:latin typeface="Calibri"/>
              </a:rPr>
              <a:t>❌ </a:t>
            </a:r>
            <a:r>
              <a:rPr b="0" lang="en-US" sz="1050" spc="-1" strike="noStrike">
                <a:solidFill>
                  <a:srgbClr val="ef4444"/>
                </a:solidFill>
                <a:latin typeface="Calibri"/>
              </a:rPr>
              <a:t>No validation   ❌ No structure   ❌ No reuse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73" name="Shape 11"/>
          <p:cNvSpPr/>
          <p:nvPr/>
        </p:nvSpPr>
        <p:spPr>
          <a:xfrm>
            <a:off x="4718160" y="932760"/>
            <a:ext cx="4132800" cy="39132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74" name="Shape 12"/>
          <p:cNvSpPr/>
          <p:nvPr/>
        </p:nvSpPr>
        <p:spPr>
          <a:xfrm>
            <a:off x="4718160" y="932760"/>
            <a:ext cx="4132800" cy="4752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5" name="Text 13"/>
          <p:cNvSpPr/>
          <p:nvPr/>
        </p:nvSpPr>
        <p:spPr>
          <a:xfrm>
            <a:off x="4827960" y="932760"/>
            <a:ext cx="3949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✓  </a:t>
            </a: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Dynamic Prompt Templates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276" name="Text 14"/>
          <p:cNvSpPr/>
          <p:nvPr/>
        </p:nvSpPr>
        <p:spPr>
          <a:xfrm>
            <a:off x="4846320" y="1508760"/>
            <a:ext cx="382176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901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Template defines the structure — user fills slots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901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Controlled inputs: dropdowns, text fields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901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Consistent format and quality every single time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901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Easy to test, improve, and reuse across projects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901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</a:rPr>
              <a:t>LangChain validates placeholders automatically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77" name="Shape 15"/>
          <p:cNvSpPr/>
          <p:nvPr/>
        </p:nvSpPr>
        <p:spPr>
          <a:xfrm>
            <a:off x="4827960" y="3108960"/>
            <a:ext cx="3885840" cy="52992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8" name="Text 16"/>
          <p:cNvSpPr/>
          <p:nvPr/>
        </p:nvSpPr>
        <p:spPr>
          <a:xfrm>
            <a:off x="4919400" y="3108960"/>
            <a:ext cx="37303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7dd3fc"/>
                </a:solidFill>
                <a:latin typeface="Consolas"/>
                <a:ea typeface="Consolas"/>
              </a:rPr>
              <a:t>"Summarise {paper_name} in {style} style"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79" name="Text 17"/>
          <p:cNvSpPr/>
          <p:nvPr/>
        </p:nvSpPr>
        <p:spPr>
          <a:xfrm>
            <a:off x="4864680" y="3730680"/>
            <a:ext cx="3858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10b981"/>
                </a:solidFill>
                <a:latin typeface="Calibri"/>
              </a:rPr>
              <a:t>✓  </a:t>
            </a:r>
            <a:r>
              <a:rPr b="0" i="1" lang="en-US" sz="1000" spc="-1" strike="noStrike">
                <a:solidFill>
                  <a:srgbClr val="10b981"/>
                </a:solidFill>
                <a:latin typeface="Calibri"/>
              </a:rPr>
              <a:t>Predictable — template controls structure!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80" name="Shape 18"/>
          <p:cNvSpPr/>
          <p:nvPr/>
        </p:nvSpPr>
        <p:spPr>
          <a:xfrm>
            <a:off x="4827960" y="4133160"/>
            <a:ext cx="3885840" cy="566640"/>
          </a:xfrm>
          <a:prstGeom prst="rect">
            <a:avLst/>
          </a:prstGeom>
          <a:solidFill>
            <a:srgbClr val="f0fdf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1" name="Text 19"/>
          <p:cNvSpPr/>
          <p:nvPr/>
        </p:nvSpPr>
        <p:spPr>
          <a:xfrm>
            <a:off x="4919400" y="4133160"/>
            <a:ext cx="37303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10b981"/>
                </a:solidFill>
                <a:latin typeface="Calibri"/>
              </a:rPr>
              <a:t>✅ </a:t>
            </a:r>
            <a:r>
              <a:rPr b="0" lang="en-US" sz="1050" spc="-1" strike="noStrike">
                <a:solidFill>
                  <a:srgbClr val="10b981"/>
                </a:solidFill>
                <a:latin typeface="Calibri"/>
              </a:rPr>
              <a:t>Validated   ✅ Structured   ✅ Reusable</a:t>
            </a:r>
            <a:endParaRPr b="0" lang="en-IN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</TotalTime>
  <Application>LibreOffice/7.3.7.2$Linux_X86_64 LibreOffice_project/30$Build-2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2026-03-14T03:13:09Z</dcterms:created>
  <dc:creator>PptxGenJS</dc:creator>
  <dc:description/>
  <dc:language>en-IN</dc:language>
  <cp:lastModifiedBy/>
  <dcterms:modified xsi:type="dcterms:W3CDTF">2026-03-14T16:02:22Z</dcterms:modified>
  <cp:revision>3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On-screen Show (16:9)</vt:lpwstr>
  </property>
  <property fmtid="{D5CDD505-2E9C-101B-9397-08002B2CF9AE}" pid="4" name="Slides">
    <vt:i4>10</vt:i4>
  </property>
</Properties>
</file>