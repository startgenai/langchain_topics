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move </a:t>
            </a:r>
            <a:r>
              <a:rPr b="0" lang="en-IN" sz="4400" spc="-1" strike="noStrike">
                <a:latin typeface="Arial"/>
              </a:rPr>
              <a:t>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</a:t>
            </a:r>
            <a:r>
              <a:rPr b="0" lang="en-IN" sz="2000" spc="-1" strike="noStrike">
                <a:latin typeface="Arial"/>
              </a:rPr>
              <a:t>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75E2B8B-7607-4FC6-917B-8CFA47083F9F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2A02A1-FB28-4D45-9F45-D8C158AE119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4A81AF-E44A-43CF-9F14-BE120EC6E4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97C100-F9E7-45AC-BEE1-7D3535B60D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12AAEA-5156-46E5-9B77-447B1E16EC4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415D3B-BDD2-4629-AD11-DF7E3054D67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543B66-FBA8-4B1C-807C-D798F21AC4C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AF5DE6-F4D4-42E1-B82B-6B5C73808CC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76C357-7AAD-4043-BC36-4C8F519419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6CB0B9-66D2-4309-A58E-212D78904C0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C279A4-1A15-444B-A187-ED01694ED45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6217920" y="-1097280"/>
            <a:ext cx="5028480" cy="50284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498080" y="2926080"/>
            <a:ext cx="2559600" cy="255960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1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502920" y="457200"/>
            <a:ext cx="2010960" cy="346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502920" y="45720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PART 1 OF 4  •  SLIDES 1–10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502920" y="100584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2dd4bf"/>
                </a:solidFill>
                <a:latin typeface="Calibri"/>
                <a:ea typeface="Calibri"/>
              </a:rPr>
              <a:t>Complete Guide to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502920" y="146304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LangChain Prompts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502920" y="257868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ccfbf1"/>
                </a:solidFill>
                <a:latin typeface="Calibri"/>
                <a:ea typeface="Calibri"/>
              </a:rPr>
              <a:t>Building Dynamic AI Applications with Prompt Engineering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502920" y="3200400"/>
            <a:ext cx="2193840" cy="45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502920" y="336492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DejaVu Sans"/>
              </a:rPr>
              <a:t>LangChain  •  OpenAI  •  Streamlit  •  Python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11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365760" y="4773240"/>
            <a:ext cx="84117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LangChain Prompt Engineering — Complete Series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What We'll Cover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320040" y="102420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" name="Shape 3"/>
          <p:cNvSpPr/>
          <p:nvPr/>
        </p:nvSpPr>
        <p:spPr>
          <a:xfrm>
            <a:off x="320040" y="102420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4"/>
          <p:cNvSpPr/>
          <p:nvPr/>
        </p:nvSpPr>
        <p:spPr>
          <a:xfrm>
            <a:off x="457200" y="107892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457200" y="129852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🌡️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Temperature Parameter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457200" y="159120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Control output randomness — from deterministic to creative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4800600" y="102420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Shape 8"/>
          <p:cNvSpPr/>
          <p:nvPr/>
        </p:nvSpPr>
        <p:spPr>
          <a:xfrm>
            <a:off x="4800600" y="102420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9"/>
          <p:cNvSpPr/>
          <p:nvPr/>
        </p:nvSpPr>
        <p:spPr>
          <a:xfrm>
            <a:off x="4937760" y="107892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4937760" y="129852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💬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Understanding Prompts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4937760" y="159120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Text, image and multimodal inputs explained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320040" y="201168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9" name="Shape 13"/>
          <p:cNvSpPr/>
          <p:nvPr/>
        </p:nvSpPr>
        <p:spPr>
          <a:xfrm>
            <a:off x="320040" y="201168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4"/>
          <p:cNvSpPr/>
          <p:nvPr/>
        </p:nvSpPr>
        <p:spPr>
          <a:xfrm>
            <a:off x="457200" y="206640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457200" y="228600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⚡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Static vs Dynamic Prompts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457200" y="257868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Why raw strings fail in real production apps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4800600" y="201168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4" name="Shape 18"/>
          <p:cNvSpPr/>
          <p:nvPr/>
        </p:nvSpPr>
        <p:spPr>
          <a:xfrm>
            <a:off x="4800600" y="201168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9"/>
          <p:cNvSpPr/>
          <p:nvPr/>
        </p:nvSpPr>
        <p:spPr>
          <a:xfrm>
            <a:off x="4937760" y="206640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6" name="Text 20"/>
          <p:cNvSpPr/>
          <p:nvPr/>
        </p:nvSpPr>
        <p:spPr>
          <a:xfrm>
            <a:off x="4937760" y="228600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🔧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Prompt Templates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4937760" y="257868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PromptTemplate: validation, reuse, and chains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320040" y="299916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Shape 23"/>
          <p:cNvSpPr/>
          <p:nvPr/>
        </p:nvSpPr>
        <p:spPr>
          <a:xfrm>
            <a:off x="320040" y="299916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4"/>
          <p:cNvSpPr/>
          <p:nvPr/>
        </p:nvSpPr>
        <p:spPr>
          <a:xfrm>
            <a:off x="457200" y="305424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457200" y="327348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🤖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Building Chat Applications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2" name="Text 26"/>
          <p:cNvSpPr/>
          <p:nvPr/>
        </p:nvSpPr>
        <p:spPr>
          <a:xfrm>
            <a:off x="457200" y="356616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Add memory with proper chat history management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4800600" y="299916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28"/>
          <p:cNvSpPr/>
          <p:nvPr/>
        </p:nvSpPr>
        <p:spPr>
          <a:xfrm>
            <a:off x="4800600" y="299916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9"/>
          <p:cNvSpPr/>
          <p:nvPr/>
        </p:nvSpPr>
        <p:spPr>
          <a:xfrm>
            <a:off x="4937760" y="305424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06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6" name="Text 30"/>
          <p:cNvSpPr/>
          <p:nvPr/>
        </p:nvSpPr>
        <p:spPr>
          <a:xfrm>
            <a:off x="4937760" y="327348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📨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Message Types &amp; Chat History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7" name="Text 31"/>
          <p:cNvSpPr/>
          <p:nvPr/>
        </p:nvSpPr>
        <p:spPr>
          <a:xfrm>
            <a:off x="4937760" y="356616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SystemMessage, HumanMessage, AIMessage in depth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8" name="Shape 32"/>
          <p:cNvSpPr/>
          <p:nvPr/>
        </p:nvSpPr>
        <p:spPr>
          <a:xfrm>
            <a:off x="320040" y="398664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33"/>
          <p:cNvSpPr/>
          <p:nvPr/>
        </p:nvSpPr>
        <p:spPr>
          <a:xfrm>
            <a:off x="320040" y="398664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34"/>
          <p:cNvSpPr/>
          <p:nvPr/>
        </p:nvSpPr>
        <p:spPr>
          <a:xfrm>
            <a:off x="457200" y="404172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07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1" name="Text 35"/>
          <p:cNvSpPr/>
          <p:nvPr/>
        </p:nvSpPr>
        <p:spPr>
          <a:xfrm>
            <a:off x="457200" y="426096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🗂️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ChatPromptTemplate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2" name="Text 36"/>
          <p:cNvSpPr/>
          <p:nvPr/>
        </p:nvSpPr>
        <p:spPr>
          <a:xfrm>
            <a:off x="457200" y="455364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Multi-turn conversation templates with placeholders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Shape 37"/>
          <p:cNvSpPr/>
          <p:nvPr/>
        </p:nvSpPr>
        <p:spPr>
          <a:xfrm>
            <a:off x="4800600" y="398664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Shape 38"/>
          <p:cNvSpPr/>
          <p:nvPr/>
        </p:nvSpPr>
        <p:spPr>
          <a:xfrm>
            <a:off x="4800600" y="398664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39"/>
          <p:cNvSpPr/>
          <p:nvPr/>
        </p:nvSpPr>
        <p:spPr>
          <a:xfrm>
            <a:off x="4937760" y="404172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08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6" name="Text 40"/>
          <p:cNvSpPr/>
          <p:nvPr/>
        </p:nvSpPr>
        <p:spPr>
          <a:xfrm>
            <a:off x="4937760" y="426096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📦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MessagesPlaceholder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7" name="Text 41"/>
          <p:cNvSpPr/>
          <p:nvPr/>
        </p:nvSpPr>
        <p:spPr>
          <a:xfrm>
            <a:off x="4937760" y="455364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Inject saved history into new conversation turns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Understanding the Temperature Parameter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411480" y="932760"/>
            <a:ext cx="8320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DejaVu Sans"/>
              </a:rPr>
              <a:t>Controls how random or predictable the LLM's output will be — from fully deterministic to highly creative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1" name="Shape 3"/>
          <p:cNvSpPr/>
          <p:nvPr/>
        </p:nvSpPr>
        <p:spPr>
          <a:xfrm>
            <a:off x="411480" y="1353240"/>
            <a:ext cx="1188000" cy="255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4"/>
          <p:cNvSpPr/>
          <p:nvPr/>
        </p:nvSpPr>
        <p:spPr>
          <a:xfrm>
            <a:off x="1600200" y="1353240"/>
            <a:ext cx="1188000" cy="2552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5"/>
          <p:cNvSpPr/>
          <p:nvPr/>
        </p:nvSpPr>
        <p:spPr>
          <a:xfrm>
            <a:off x="2788920" y="1353240"/>
            <a:ext cx="1188000" cy="255240"/>
          </a:xfrm>
          <a:prstGeom prst="rect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hape 6"/>
          <p:cNvSpPr/>
          <p:nvPr/>
        </p:nvSpPr>
        <p:spPr>
          <a:xfrm>
            <a:off x="3977640" y="1353240"/>
            <a:ext cx="1188000" cy="255240"/>
          </a:xfrm>
          <a:prstGeom prst="rect">
            <a:avLst/>
          </a:prstGeom>
          <a:solidFill>
            <a:srgbClr val="a3e6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7"/>
          <p:cNvSpPr/>
          <p:nvPr/>
        </p:nvSpPr>
        <p:spPr>
          <a:xfrm>
            <a:off x="5166360" y="1353240"/>
            <a:ext cx="1188000" cy="25524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Shape 8"/>
          <p:cNvSpPr/>
          <p:nvPr/>
        </p:nvSpPr>
        <p:spPr>
          <a:xfrm>
            <a:off x="6355080" y="1353240"/>
            <a:ext cx="1188000" cy="255240"/>
          </a:xfrm>
          <a:prstGeom prst="rect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9"/>
          <p:cNvSpPr/>
          <p:nvPr/>
        </p:nvSpPr>
        <p:spPr>
          <a:xfrm>
            <a:off x="7543800" y="1353240"/>
            <a:ext cx="1188000" cy="2552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10"/>
          <p:cNvSpPr/>
          <p:nvPr/>
        </p:nvSpPr>
        <p:spPr>
          <a:xfrm>
            <a:off x="347400" y="16459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9488"/>
                </a:solidFill>
                <a:latin typeface="Calibri"/>
                <a:ea typeface="DejaVu Sans"/>
              </a:rPr>
              <a:t>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274320" y="190188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d9488"/>
                </a:solidFill>
                <a:latin typeface="Calibri"/>
                <a:ea typeface="DejaVu Sans"/>
              </a:rPr>
              <a:t>Deterministic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4160520" y="16459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DejaVu Sans"/>
              </a:rPr>
              <a:t>1.0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3977640" y="190188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alibri"/>
                <a:ea typeface="DejaVu Sans"/>
              </a:rPr>
              <a:t>Balanced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8183880" y="16459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444"/>
                </a:solidFill>
                <a:latin typeface="Calibri"/>
                <a:ea typeface="DejaVu Sans"/>
              </a:rPr>
              <a:t>2.0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8001000" y="1901880"/>
            <a:ext cx="100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f4444"/>
                </a:solidFill>
                <a:latin typeface="Calibri"/>
                <a:ea typeface="DejaVu Sans"/>
              </a:rPr>
              <a:t>Creative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4" name="Shape 16"/>
          <p:cNvSpPr/>
          <p:nvPr/>
        </p:nvSpPr>
        <p:spPr>
          <a:xfrm>
            <a:off x="320040" y="2240280"/>
            <a:ext cx="4205520" cy="2605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7"/>
          <p:cNvSpPr/>
          <p:nvPr/>
        </p:nvSpPr>
        <p:spPr>
          <a:xfrm>
            <a:off x="320040" y="2240280"/>
            <a:ext cx="4205520" cy="502200"/>
          </a:xfrm>
          <a:prstGeom prst="rect">
            <a:avLst/>
          </a:prstGeom>
          <a:solidFill>
            <a:srgbClr val="2b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8"/>
          <p:cNvSpPr/>
          <p:nvPr/>
        </p:nvSpPr>
        <p:spPr>
          <a:xfrm>
            <a:off x="457200" y="2240280"/>
            <a:ext cx="3976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Temperature = 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457200" y="2541960"/>
            <a:ext cx="3976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bfdbfe"/>
                </a:solidFill>
                <a:latin typeface="Calibri"/>
                <a:ea typeface="DejaVu Sans"/>
              </a:rPr>
              <a:t>Deterministic Mode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8" name="Text 20"/>
          <p:cNvSpPr/>
          <p:nvPr/>
        </p:nvSpPr>
        <p:spPr>
          <a:xfrm>
            <a:off x="484560" y="2834640"/>
            <a:ext cx="3912840" cy="19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Exact same output for the same input, every run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Consistent and reproducible results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Best for: factual Q&amp;A, data extraction, classification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Recommended for production systems needing reliability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Shape 21"/>
          <p:cNvSpPr/>
          <p:nvPr/>
        </p:nvSpPr>
        <p:spPr>
          <a:xfrm>
            <a:off x="4846320" y="2240280"/>
            <a:ext cx="4205520" cy="2605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Shape 22"/>
          <p:cNvSpPr/>
          <p:nvPr/>
        </p:nvSpPr>
        <p:spPr>
          <a:xfrm>
            <a:off x="4846320" y="2240280"/>
            <a:ext cx="4205520" cy="5022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23"/>
          <p:cNvSpPr/>
          <p:nvPr/>
        </p:nvSpPr>
        <p:spPr>
          <a:xfrm>
            <a:off x="4983480" y="2240280"/>
            <a:ext cx="3976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Temperature = 1.5–2.0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Text 24"/>
          <p:cNvSpPr/>
          <p:nvPr/>
        </p:nvSpPr>
        <p:spPr>
          <a:xfrm>
            <a:off x="4983480" y="2541960"/>
            <a:ext cx="3976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bfdbfe"/>
                </a:solidFill>
                <a:latin typeface="Calibri"/>
                <a:ea typeface="DejaVu Sans"/>
              </a:rPr>
              <a:t>Creative Mode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3" name="Text 25"/>
          <p:cNvSpPr/>
          <p:nvPr/>
        </p:nvSpPr>
        <p:spPr>
          <a:xfrm>
            <a:off x="5010840" y="2834640"/>
            <a:ext cx="3912840" cy="19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Different output each run even with identical input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Imaginative, varied, and surprising responses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Best for: creative writing, brainstorming, storytelling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Great for marketing copy and generative content apps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Temperature in Action — Code Example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320040" y="960120"/>
            <a:ext cx="5211360" cy="32454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7" name="Shape 3"/>
          <p:cNvSpPr/>
          <p:nvPr/>
        </p:nvSpPr>
        <p:spPr>
          <a:xfrm>
            <a:off x="320040" y="960120"/>
            <a:ext cx="5211360" cy="328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4"/>
          <p:cNvSpPr/>
          <p:nvPr/>
        </p:nvSpPr>
        <p:spPr>
          <a:xfrm>
            <a:off x="457200" y="960120"/>
            <a:ext cx="2742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temperature_demo.py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457200" y="900000"/>
            <a:ext cx="4982760" cy="27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# temperature=0 → identical output every run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ai_model = ChatOpenAI(model='gpt-4', temperature=0.9)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reply = ai_model.invoke(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'provide 5 liner poetry on climate change?'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print(reply.content)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5669280" y="960120"/>
            <a:ext cx="3199680" cy="3283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8"/>
          <p:cNvSpPr/>
          <p:nvPr/>
        </p:nvSpPr>
        <p:spPr>
          <a:xfrm>
            <a:off x="5779080" y="960120"/>
            <a:ext cx="3016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Output  (same every run)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320040" y="4343400"/>
            <a:ext cx="8503200" cy="593640"/>
          </a:xfrm>
          <a:prstGeom prst="rect">
            <a:avLst/>
          </a:prstGeom>
          <a:solidFill>
            <a:srgbClr val="ccfbf1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Shape 11"/>
          <p:cNvSpPr/>
          <p:nvPr/>
        </p:nvSpPr>
        <p:spPr>
          <a:xfrm>
            <a:off x="320040" y="4343400"/>
            <a:ext cx="63360" cy="5936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12"/>
          <p:cNvSpPr/>
          <p:nvPr/>
        </p:nvSpPr>
        <p:spPr>
          <a:xfrm>
            <a:off x="475560" y="4343400"/>
            <a:ext cx="8274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💡 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Key Insight: temperature=0 is ideal for production apps requiring consistent, reliable output. Raise it gradually for creative tasks — try 0.7 for balanced, 1.2+ for highly imaginative results.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Shape 25"/>
          <p:cNvSpPr/>
          <p:nvPr/>
        </p:nvSpPr>
        <p:spPr>
          <a:xfrm>
            <a:off x="5616000" y="1640520"/>
            <a:ext cx="3384000" cy="1419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IN" sz="1200" spc="-1" strike="noStrike">
                <a:latin typeface="Arial"/>
              </a:rPr>
              <a:t>Earth cries with each raindrop’s fall, a plea,</a:t>
            </a:r>
            <a:endParaRPr b="0" lang="en-IN" sz="1200" spc="-1" strike="noStrike">
              <a:latin typeface="Arial"/>
            </a:endParaRPr>
          </a:p>
          <a:p>
            <a:r>
              <a:rPr b="0" lang="en-IN" sz="1200" spc="-1" strike="noStrike">
                <a:latin typeface="Arial"/>
              </a:rPr>
              <a:t>Winds whisper of a dying decree.</a:t>
            </a:r>
            <a:endParaRPr b="0" lang="en-IN" sz="1200" spc="-1" strike="noStrike">
              <a:latin typeface="Arial"/>
            </a:endParaRPr>
          </a:p>
          <a:p>
            <a:r>
              <a:rPr b="0" lang="en-IN" sz="1200" spc="-1" strike="noStrike">
                <a:latin typeface="Arial"/>
              </a:rPr>
              <a:t>Ice turning to tears, forests to ash,</a:t>
            </a:r>
            <a:endParaRPr b="0" lang="en-IN" sz="1200" spc="-1" strike="noStrike">
              <a:latin typeface="Arial"/>
            </a:endParaRPr>
          </a:p>
          <a:p>
            <a:r>
              <a:rPr b="0" lang="en-IN" sz="1200" spc="-1" strike="noStrike">
                <a:latin typeface="Arial"/>
              </a:rPr>
              <a:t>Our reckless actions, a calamitous clash.</a:t>
            </a:r>
            <a:endParaRPr b="0" lang="en-IN" sz="1200" spc="-1" strike="noStrike">
              <a:latin typeface="Arial"/>
            </a:endParaRPr>
          </a:p>
          <a:p>
            <a:r>
              <a:rPr b="0" lang="en-IN" sz="1200" spc="-1" strike="noStrike">
                <a:latin typeface="Arial"/>
              </a:rPr>
              <a:t>Let's heal her wounds, let the change be in we.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What Are Prompts?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320040" y="932760"/>
            <a:ext cx="8503200" cy="5022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3"/>
          <p:cNvSpPr/>
          <p:nvPr/>
        </p:nvSpPr>
        <p:spPr>
          <a:xfrm>
            <a:off x="411480" y="932760"/>
            <a:ext cx="8320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A prompt is the instruction you send to an LLM to direct and shape its response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292680" y="1572840"/>
            <a:ext cx="2788200" cy="333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5"/>
          <p:cNvSpPr/>
          <p:nvPr/>
        </p:nvSpPr>
        <p:spPr>
          <a:xfrm>
            <a:off x="292680" y="1572840"/>
            <a:ext cx="2788200" cy="54792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6"/>
          <p:cNvSpPr/>
          <p:nvPr/>
        </p:nvSpPr>
        <p:spPr>
          <a:xfrm>
            <a:off x="402480" y="1572840"/>
            <a:ext cx="2632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📝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Text-Based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640800" y="1891080"/>
            <a:ext cx="2632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Most common prompt type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402480" y="2240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9"/>
          <p:cNvSpPr/>
          <p:nvPr/>
        </p:nvSpPr>
        <p:spPr>
          <a:xfrm>
            <a:off x="457200" y="2240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"Summarize this article for me"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402480" y="2807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1"/>
          <p:cNvSpPr/>
          <p:nvPr/>
        </p:nvSpPr>
        <p:spPr>
          <a:xfrm>
            <a:off x="457200" y="2807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"Explain quantum computing simply"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402480" y="3374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3"/>
          <p:cNvSpPr/>
          <p:nvPr/>
        </p:nvSpPr>
        <p:spPr>
          <a:xfrm>
            <a:off x="457200" y="3374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"Write a Python function to sort a list"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402480" y="4005000"/>
            <a:ext cx="2605320" cy="80388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5"/>
          <p:cNvSpPr/>
          <p:nvPr/>
        </p:nvSpPr>
        <p:spPr>
          <a:xfrm>
            <a:off x="457200" y="4005000"/>
            <a:ext cx="24865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💡 </a:t>
            </a: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Works with all LLMs. Plain natural language instructions.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2" name="Shape 16"/>
          <p:cNvSpPr/>
          <p:nvPr/>
        </p:nvSpPr>
        <p:spPr>
          <a:xfrm>
            <a:off x="3237120" y="1572840"/>
            <a:ext cx="2788200" cy="333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17"/>
          <p:cNvSpPr/>
          <p:nvPr/>
        </p:nvSpPr>
        <p:spPr>
          <a:xfrm>
            <a:off x="3237120" y="1572840"/>
            <a:ext cx="2788200" cy="5479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8"/>
          <p:cNvSpPr/>
          <p:nvPr/>
        </p:nvSpPr>
        <p:spPr>
          <a:xfrm>
            <a:off x="3346560" y="1572840"/>
            <a:ext cx="2632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🖼️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Image-Based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3600000" y="1883880"/>
            <a:ext cx="2632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Vision-capable models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0"/>
          <p:cNvSpPr/>
          <p:nvPr/>
        </p:nvSpPr>
        <p:spPr>
          <a:xfrm>
            <a:off x="3346560" y="2240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1"/>
          <p:cNvSpPr/>
          <p:nvPr/>
        </p:nvSpPr>
        <p:spPr>
          <a:xfrm>
            <a:off x="3401640" y="2240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"What objects are in this image?"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8" name="Shape 22"/>
          <p:cNvSpPr/>
          <p:nvPr/>
        </p:nvSpPr>
        <p:spPr>
          <a:xfrm>
            <a:off x="3346560" y="2807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3"/>
          <p:cNvSpPr/>
          <p:nvPr/>
        </p:nvSpPr>
        <p:spPr>
          <a:xfrm>
            <a:off x="3401640" y="2807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"Describe this architecture diagram"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0" name="Shape 24"/>
          <p:cNvSpPr/>
          <p:nvPr/>
        </p:nvSpPr>
        <p:spPr>
          <a:xfrm>
            <a:off x="3346560" y="3374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5"/>
          <p:cNvSpPr/>
          <p:nvPr/>
        </p:nvSpPr>
        <p:spPr>
          <a:xfrm>
            <a:off x="3401640" y="3374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"Extract the text from this screenshot"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2" name="Shape 26"/>
          <p:cNvSpPr/>
          <p:nvPr/>
        </p:nvSpPr>
        <p:spPr>
          <a:xfrm>
            <a:off x="3346560" y="4005000"/>
            <a:ext cx="2605320" cy="80388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27"/>
          <p:cNvSpPr/>
          <p:nvPr/>
        </p:nvSpPr>
        <p:spPr>
          <a:xfrm>
            <a:off x="3401640" y="4005000"/>
            <a:ext cx="24865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💡 </a:t>
            </a: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Requires multimodal models: GPT-4o, Claude 3, Gemini.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4" name="Shape 28"/>
          <p:cNvSpPr/>
          <p:nvPr/>
        </p:nvSpPr>
        <p:spPr>
          <a:xfrm>
            <a:off x="6181200" y="1572840"/>
            <a:ext cx="2788200" cy="333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Shape 29"/>
          <p:cNvSpPr/>
          <p:nvPr/>
        </p:nvSpPr>
        <p:spPr>
          <a:xfrm>
            <a:off x="6181200" y="1572840"/>
            <a:ext cx="2788200" cy="5479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30"/>
          <p:cNvSpPr/>
          <p:nvPr/>
        </p:nvSpPr>
        <p:spPr>
          <a:xfrm>
            <a:off x="6291000" y="1572840"/>
            <a:ext cx="2632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🎵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Audio / Video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67" name="Text 31"/>
          <p:cNvSpPr/>
          <p:nvPr/>
        </p:nvSpPr>
        <p:spPr>
          <a:xfrm>
            <a:off x="6547320" y="1883880"/>
            <a:ext cx="2632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Advanced multimodal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32"/>
          <p:cNvSpPr/>
          <p:nvPr/>
        </p:nvSpPr>
        <p:spPr>
          <a:xfrm>
            <a:off x="6291000" y="2240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33"/>
          <p:cNvSpPr/>
          <p:nvPr/>
        </p:nvSpPr>
        <p:spPr>
          <a:xfrm>
            <a:off x="6346080" y="2240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"Transcribe this audio recording"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0" name="Shape 34"/>
          <p:cNvSpPr/>
          <p:nvPr/>
        </p:nvSpPr>
        <p:spPr>
          <a:xfrm>
            <a:off x="6291000" y="2807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35"/>
          <p:cNvSpPr/>
          <p:nvPr/>
        </p:nvSpPr>
        <p:spPr>
          <a:xfrm>
            <a:off x="6346080" y="2807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"Summarize this meeting recording"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2" name="Shape 36"/>
          <p:cNvSpPr/>
          <p:nvPr/>
        </p:nvSpPr>
        <p:spPr>
          <a:xfrm>
            <a:off x="6291000" y="3374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37"/>
          <p:cNvSpPr/>
          <p:nvPr/>
        </p:nvSpPr>
        <p:spPr>
          <a:xfrm>
            <a:off x="6346080" y="3374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"Translate this spoken clip to English"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4" name="Shape 38"/>
          <p:cNvSpPr/>
          <p:nvPr/>
        </p:nvSpPr>
        <p:spPr>
          <a:xfrm>
            <a:off x="6291000" y="4005000"/>
            <a:ext cx="2605320" cy="803880"/>
          </a:xfrm>
          <a:prstGeom prst="rect">
            <a:avLst/>
          </a:prstGeom>
          <a:solidFill>
            <a:srgbClr val="f59e0b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39"/>
          <p:cNvSpPr/>
          <p:nvPr/>
        </p:nvSpPr>
        <p:spPr>
          <a:xfrm>
            <a:off x="6346080" y="4005000"/>
            <a:ext cx="24865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💡 </a:t>
            </a: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Emerging capability — Whisper, Gemini 1.5 Pro, etc.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Why Prompts Are So Important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320040" y="960120"/>
            <a:ext cx="8503200" cy="1005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3"/>
          <p:cNvSpPr/>
          <p:nvPr/>
        </p:nvSpPr>
        <p:spPr>
          <a:xfrm>
            <a:off x="457200" y="96012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Output quality depends entirely on the prompt you write — </a:t>
            </a:r>
            <a:r>
              <a:rPr b="1" lang="en-US" sz="1600" spc="-1" strike="noStrike">
                <a:solidFill>
                  <a:srgbClr val="ccfbf1"/>
                </a:solidFill>
                <a:latin typeface="Calibri"/>
                <a:ea typeface="DejaVu Sans"/>
              </a:rPr>
              <a:t>tiny changes produce dramatically different results.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292680" y="2148840"/>
            <a:ext cx="2788200" cy="2696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Shape 5"/>
          <p:cNvSpPr/>
          <p:nvPr/>
        </p:nvSpPr>
        <p:spPr>
          <a:xfrm>
            <a:off x="292680" y="2148840"/>
            <a:ext cx="2788200" cy="4381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6"/>
          <p:cNvSpPr/>
          <p:nvPr/>
        </p:nvSpPr>
        <p:spPr>
          <a:xfrm>
            <a:off x="402480" y="2148840"/>
            <a:ext cx="2632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Vague Prompt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402480" y="2679120"/>
            <a:ext cx="2632680" cy="6577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8"/>
          <p:cNvSpPr/>
          <p:nvPr/>
        </p:nvSpPr>
        <p:spPr>
          <a:xfrm>
            <a:off x="457200" y="2679120"/>
            <a:ext cx="2522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Prompt: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"Tell me about AI"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402480" y="3401640"/>
            <a:ext cx="263268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Result: Gets a generic 3-paragraph essay about AI history — not what you probably wanted.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3237120" y="2148840"/>
            <a:ext cx="2788200" cy="2696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Shape 11"/>
          <p:cNvSpPr/>
          <p:nvPr/>
        </p:nvSpPr>
        <p:spPr>
          <a:xfrm>
            <a:off x="3237120" y="2148840"/>
            <a:ext cx="2788200" cy="4381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2"/>
          <p:cNvSpPr/>
          <p:nvPr/>
        </p:nvSpPr>
        <p:spPr>
          <a:xfrm>
            <a:off x="3346560" y="2148840"/>
            <a:ext cx="2632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Specific Prompt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3346560" y="2679120"/>
            <a:ext cx="2632680" cy="6577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14"/>
          <p:cNvSpPr/>
          <p:nvPr/>
        </p:nvSpPr>
        <p:spPr>
          <a:xfrm>
            <a:off x="3401640" y="2679120"/>
            <a:ext cx="2522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Prompt: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"Explain neural networks in 3 bullet points for a 12-year-old"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3346560" y="3401640"/>
            <a:ext cx="263268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Result: Gets exactly 3 simple bullets tailored to a young audience — precise and useful.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2" name="Shape 16"/>
          <p:cNvSpPr/>
          <p:nvPr/>
        </p:nvSpPr>
        <p:spPr>
          <a:xfrm>
            <a:off x="6181200" y="2148840"/>
            <a:ext cx="2788200" cy="2696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Shape 17"/>
          <p:cNvSpPr/>
          <p:nvPr/>
        </p:nvSpPr>
        <p:spPr>
          <a:xfrm>
            <a:off x="6181200" y="2148840"/>
            <a:ext cx="2788200" cy="4381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8"/>
          <p:cNvSpPr/>
          <p:nvPr/>
        </p:nvSpPr>
        <p:spPr>
          <a:xfrm>
            <a:off x="6291000" y="2148840"/>
            <a:ext cx="2632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Structured Prompt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6291000" y="2679120"/>
            <a:ext cx="2632680" cy="6577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20"/>
          <p:cNvSpPr/>
          <p:nvPr/>
        </p:nvSpPr>
        <p:spPr>
          <a:xfrm>
            <a:off x="6346080" y="2679120"/>
            <a:ext cx="2522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Prompt: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"List 5 real-world uses of NLP, formatted as a numbered list with one sentence each"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6291000" y="3401640"/>
            <a:ext cx="263268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Result: Gets a perfectly formatted numbered list ready to copy into a document.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8" name="Shape 22"/>
          <p:cNvSpPr/>
          <p:nvPr/>
        </p:nvSpPr>
        <p:spPr>
          <a:xfrm>
            <a:off x="320040" y="4809600"/>
            <a:ext cx="8503200" cy="23688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23"/>
          <p:cNvSpPr/>
          <p:nvPr/>
        </p:nvSpPr>
        <p:spPr>
          <a:xfrm>
            <a:off x="411480" y="4809600"/>
            <a:ext cx="8320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🔑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The same LLM can produce excellent or poor results purely based on how you write the prompt.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Current Way of Writing Prompts — and the Problem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292680" y="932760"/>
            <a:ext cx="4132440" cy="391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3" name="Shape 3"/>
          <p:cNvSpPr/>
          <p:nvPr/>
        </p:nvSpPr>
        <p:spPr>
          <a:xfrm>
            <a:off x="292680" y="932760"/>
            <a:ext cx="4132440" cy="4748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4"/>
          <p:cNvSpPr/>
          <p:nvPr/>
        </p:nvSpPr>
        <p:spPr>
          <a:xfrm>
            <a:off x="411480" y="932760"/>
            <a:ext cx="3949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Current Approach (Hard-coded)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411480" y="1508760"/>
            <a:ext cx="3885480" cy="1599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6"/>
          <p:cNvSpPr/>
          <p:nvPr/>
        </p:nvSpPr>
        <p:spPr>
          <a:xfrm>
            <a:off x="502920" y="1572840"/>
            <a:ext cx="37299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Developer writes prompt directly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ai_engine = ChatOpenAI()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ai_engine.invoke(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'write a five line poem on climate change'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411480" y="3200400"/>
            <a:ext cx="388548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Developer writes all prompts manually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No flexibility for different users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Prompt quality depends on developer knowledge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Cannot adapt to user needs or preferences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4718160" y="932760"/>
            <a:ext cx="4132440" cy="391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Shape 9"/>
          <p:cNvSpPr/>
          <p:nvPr/>
        </p:nvSpPr>
        <p:spPr>
          <a:xfrm>
            <a:off x="4718160" y="932760"/>
            <a:ext cx="4132440" cy="4748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0"/>
          <p:cNvSpPr/>
          <p:nvPr/>
        </p:nvSpPr>
        <p:spPr>
          <a:xfrm>
            <a:off x="4827960" y="932760"/>
            <a:ext cx="3949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✓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Correct Approach (User-Driven)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4827960" y="1508760"/>
            <a:ext cx="3885480" cy="1599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2"/>
          <p:cNvSpPr/>
          <p:nvPr/>
        </p:nvSpPr>
        <p:spPr>
          <a:xfrm>
            <a:off x="4919400" y="1572840"/>
            <a:ext cx="37299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User provides the prompt via UI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user_prompt = st.text_input('Your query')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App sends user's prompt to LLM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ai_engine.invoke(user_prompt)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4827960" y="3200400"/>
            <a:ext cx="388548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Users write prompts through your application UI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Each user gets personalised, relevant responses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Developers focus on building the app, not prompts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Scales naturally across different user needs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Real-World Use Case: Research Assistant Tool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320040" y="960120"/>
            <a:ext cx="4022640" cy="3858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Shape 3"/>
          <p:cNvSpPr/>
          <p:nvPr/>
        </p:nvSpPr>
        <p:spPr>
          <a:xfrm>
            <a:off x="320040" y="960120"/>
            <a:ext cx="4022640" cy="45648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4"/>
          <p:cNvSpPr/>
          <p:nvPr/>
        </p:nvSpPr>
        <p:spPr>
          <a:xfrm>
            <a:off x="438840" y="960120"/>
            <a:ext cx="3839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📋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What We're Building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457200" y="1508760"/>
            <a:ext cx="374832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A web app where users can create any topic report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Users type a query like: "create report on climate change"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User clicks a 'Generate Response' button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App fetches text from the input box, sends it to the LLM, and displays the response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Built with Streamlit + LangChain + ChatOpenAI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4572000" y="960120"/>
            <a:ext cx="4251240" cy="3858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7"/>
          <p:cNvSpPr/>
          <p:nvPr/>
        </p:nvSpPr>
        <p:spPr>
          <a:xfrm>
            <a:off x="4572000" y="960120"/>
            <a:ext cx="4251240" cy="456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8"/>
          <p:cNvSpPr/>
          <p:nvPr/>
        </p:nvSpPr>
        <p:spPr>
          <a:xfrm>
            <a:off x="4681800" y="960120"/>
            <a:ext cx="4068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🔄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Application Flow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3" name="Shape 9"/>
          <p:cNvSpPr/>
          <p:nvPr/>
        </p:nvSpPr>
        <p:spPr>
          <a:xfrm>
            <a:off x="4681800" y="1609200"/>
            <a:ext cx="419760" cy="419760"/>
          </a:xfrm>
          <a:prstGeom prst="ellipse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0"/>
          <p:cNvSpPr/>
          <p:nvPr/>
        </p:nvSpPr>
        <p:spPr>
          <a:xfrm>
            <a:off x="4681800" y="160920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5" name="Shape 11"/>
          <p:cNvSpPr/>
          <p:nvPr/>
        </p:nvSpPr>
        <p:spPr>
          <a:xfrm>
            <a:off x="5193720" y="1627560"/>
            <a:ext cx="3492360" cy="38340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12"/>
          <p:cNvSpPr/>
          <p:nvPr/>
        </p:nvSpPr>
        <p:spPr>
          <a:xfrm>
            <a:off x="5285160" y="1627560"/>
            <a:ext cx="3336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User visits the web app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7" name="Shape 13"/>
          <p:cNvSpPr/>
          <p:nvPr/>
        </p:nvSpPr>
        <p:spPr>
          <a:xfrm>
            <a:off x="4873680" y="2030040"/>
            <a:ext cx="36000" cy="1821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Shape 14"/>
          <p:cNvSpPr/>
          <p:nvPr/>
        </p:nvSpPr>
        <p:spPr>
          <a:xfrm>
            <a:off x="4681800" y="2231280"/>
            <a:ext cx="419760" cy="4197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15"/>
          <p:cNvSpPr/>
          <p:nvPr/>
        </p:nvSpPr>
        <p:spPr>
          <a:xfrm>
            <a:off x="4681800" y="223128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0" name="Shape 16"/>
          <p:cNvSpPr/>
          <p:nvPr/>
        </p:nvSpPr>
        <p:spPr>
          <a:xfrm>
            <a:off x="5193720" y="2249280"/>
            <a:ext cx="3492360" cy="38340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17"/>
          <p:cNvSpPr/>
          <p:nvPr/>
        </p:nvSpPr>
        <p:spPr>
          <a:xfrm>
            <a:off x="5285160" y="2249280"/>
            <a:ext cx="3336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Types query in text box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2" name="Shape 18"/>
          <p:cNvSpPr/>
          <p:nvPr/>
        </p:nvSpPr>
        <p:spPr>
          <a:xfrm>
            <a:off x="4873680" y="2651760"/>
            <a:ext cx="36000" cy="1821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hape 19"/>
          <p:cNvSpPr/>
          <p:nvPr/>
        </p:nvSpPr>
        <p:spPr>
          <a:xfrm>
            <a:off x="4681800" y="2853000"/>
            <a:ext cx="419760" cy="41976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20"/>
          <p:cNvSpPr/>
          <p:nvPr/>
        </p:nvSpPr>
        <p:spPr>
          <a:xfrm>
            <a:off x="4681800" y="285300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5" name="Shape 21"/>
          <p:cNvSpPr/>
          <p:nvPr/>
        </p:nvSpPr>
        <p:spPr>
          <a:xfrm>
            <a:off x="5193720" y="2871360"/>
            <a:ext cx="3492360" cy="38340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22"/>
          <p:cNvSpPr/>
          <p:nvPr/>
        </p:nvSpPr>
        <p:spPr>
          <a:xfrm>
            <a:off x="5285160" y="2871360"/>
            <a:ext cx="3336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Clicks 'Generate response' button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23"/>
          <p:cNvSpPr/>
          <p:nvPr/>
        </p:nvSpPr>
        <p:spPr>
          <a:xfrm>
            <a:off x="4873680" y="3273480"/>
            <a:ext cx="36000" cy="1821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24"/>
          <p:cNvSpPr/>
          <p:nvPr/>
        </p:nvSpPr>
        <p:spPr>
          <a:xfrm>
            <a:off x="4681800" y="3474720"/>
            <a:ext cx="419760" cy="4197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25"/>
          <p:cNvSpPr/>
          <p:nvPr/>
        </p:nvSpPr>
        <p:spPr>
          <a:xfrm>
            <a:off x="4681800" y="347472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0" name="Shape 26"/>
          <p:cNvSpPr/>
          <p:nvPr/>
        </p:nvSpPr>
        <p:spPr>
          <a:xfrm>
            <a:off x="5193720" y="3493080"/>
            <a:ext cx="3492360" cy="383400"/>
          </a:xfrm>
          <a:prstGeom prst="rect">
            <a:avLst/>
          </a:prstGeom>
          <a:solidFill>
            <a:srgbClr val="f59e0b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27"/>
          <p:cNvSpPr/>
          <p:nvPr/>
        </p:nvSpPr>
        <p:spPr>
          <a:xfrm>
            <a:off x="5285160" y="3493080"/>
            <a:ext cx="3336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App sends prompt to LLM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2" name="Shape 28"/>
          <p:cNvSpPr/>
          <p:nvPr/>
        </p:nvSpPr>
        <p:spPr>
          <a:xfrm>
            <a:off x="4873680" y="3895200"/>
            <a:ext cx="36000" cy="1821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Shape 29"/>
          <p:cNvSpPr/>
          <p:nvPr/>
        </p:nvSpPr>
        <p:spPr>
          <a:xfrm>
            <a:off x="4681800" y="4096440"/>
            <a:ext cx="419760" cy="41976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30"/>
          <p:cNvSpPr/>
          <p:nvPr/>
        </p:nvSpPr>
        <p:spPr>
          <a:xfrm>
            <a:off x="4681800" y="409644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Shape 31"/>
          <p:cNvSpPr/>
          <p:nvPr/>
        </p:nvSpPr>
        <p:spPr>
          <a:xfrm>
            <a:off x="5193720" y="4114800"/>
            <a:ext cx="3492360" cy="383400"/>
          </a:xfrm>
          <a:prstGeom prst="rect">
            <a:avLst/>
          </a:prstGeom>
          <a:solidFill>
            <a:srgbClr val="10b981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32"/>
          <p:cNvSpPr/>
          <p:nvPr/>
        </p:nvSpPr>
        <p:spPr>
          <a:xfrm>
            <a:off x="5285160" y="4114800"/>
            <a:ext cx="3336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LLM response shown on page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Building the Research Assistant UI — Code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320040" y="932760"/>
            <a:ext cx="5321160" cy="385812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Shape 3"/>
          <p:cNvSpPr/>
          <p:nvPr/>
        </p:nvSpPr>
        <p:spPr>
          <a:xfrm>
            <a:off x="320040" y="932760"/>
            <a:ext cx="5321160" cy="319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4"/>
          <p:cNvSpPr/>
          <p:nvPr/>
        </p:nvSpPr>
        <p:spPr>
          <a:xfrm>
            <a:off x="457200" y="93276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content_assistant.py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457200" y="1316880"/>
            <a:ext cx="5119920" cy="34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import streamlit as ui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# Load environment variables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# Initialize language model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llm_engine = ChatOpenAI()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# Streamlit UI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ui.title("AI Report Generator")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query_text = ui.text_input("Type your question here")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if ui.button("Generate Response"):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if query_text: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answer = llm_engine.invoke(query_text)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ui.write(answer.content)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ui.warning("Please enter a question first.")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3" name="Shape 6"/>
          <p:cNvSpPr/>
          <p:nvPr/>
        </p:nvSpPr>
        <p:spPr>
          <a:xfrm>
            <a:off x="5806440" y="932760"/>
            <a:ext cx="3035160" cy="171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Shape 7"/>
          <p:cNvSpPr/>
          <p:nvPr/>
        </p:nvSpPr>
        <p:spPr>
          <a:xfrm>
            <a:off x="5806440" y="932760"/>
            <a:ext cx="3035160" cy="3834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8"/>
          <p:cNvSpPr/>
          <p:nvPr/>
        </p:nvSpPr>
        <p:spPr>
          <a:xfrm>
            <a:off x="5925240" y="932760"/>
            <a:ext cx="2879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⚠️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The Problem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5925240" y="1371600"/>
            <a:ext cx="28522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Users have full control of the prompt text — they can type anything! This causes: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Inconsistent output quality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Unpredictable response formats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Potential misuse or irrelevant queries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Shape 10"/>
          <p:cNvSpPr/>
          <p:nvPr/>
        </p:nvSpPr>
        <p:spPr>
          <a:xfrm>
            <a:off x="5806440" y="2816280"/>
            <a:ext cx="3035160" cy="197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Shape 11"/>
          <p:cNvSpPr/>
          <p:nvPr/>
        </p:nvSpPr>
        <p:spPr>
          <a:xfrm>
            <a:off x="5806440" y="2816280"/>
            <a:ext cx="303516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12"/>
          <p:cNvSpPr/>
          <p:nvPr/>
        </p:nvSpPr>
        <p:spPr>
          <a:xfrm>
            <a:off x="5925240" y="2816280"/>
            <a:ext cx="2879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The Solution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5925240" y="3255120"/>
            <a:ext cx="2852280" cy="14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Use Prompt Templates with controlled inputs!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Replace free text input with dropdowns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Users choose style, length, format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Developer controls prompt structure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Output quality becomes predictable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Static Prompts vs Dynamic Prompt Templates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292680" y="932760"/>
            <a:ext cx="4132440" cy="391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4" name="Shape 3"/>
          <p:cNvSpPr/>
          <p:nvPr/>
        </p:nvSpPr>
        <p:spPr>
          <a:xfrm>
            <a:off x="292680" y="932760"/>
            <a:ext cx="4132440" cy="4748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4"/>
          <p:cNvSpPr/>
          <p:nvPr/>
        </p:nvSpPr>
        <p:spPr>
          <a:xfrm>
            <a:off x="411480" y="932760"/>
            <a:ext cx="3949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❌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Static Prompts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6" name="Text 5"/>
          <p:cNvSpPr/>
          <p:nvPr/>
        </p:nvSpPr>
        <p:spPr>
          <a:xfrm>
            <a:off x="457200" y="1508760"/>
            <a:ext cx="38214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User writes the full prompt text freely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No structure, no constraints, no template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Risk of typos, unclear instructions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Unpredictable output quality every time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Hard to maintain or improve over time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411480" y="3108960"/>
            <a:ext cx="3885480" cy="5295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7"/>
          <p:cNvSpPr/>
          <p:nvPr/>
        </p:nvSpPr>
        <p:spPr>
          <a:xfrm>
            <a:off x="502920" y="3108960"/>
            <a:ext cx="37299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onsolas"/>
                <a:ea typeface="Consolas"/>
              </a:rPr>
              <a:t>"Provide report on climate Change"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9" name="Text 8"/>
          <p:cNvSpPr/>
          <p:nvPr/>
        </p:nvSpPr>
        <p:spPr>
          <a:xfrm>
            <a:off x="438840" y="3730680"/>
            <a:ext cx="3858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ef4444"/>
                </a:solidFill>
                <a:latin typeface="Calibri"/>
                <a:ea typeface="DejaVu Sans"/>
              </a:rPr>
              <a:t>⚠  </a:t>
            </a:r>
            <a:r>
              <a:rPr b="0" i="1" lang="en-US" sz="1000" spc="-1" strike="noStrike">
                <a:solidFill>
                  <a:srgbClr val="ef4444"/>
                </a:solidFill>
                <a:latin typeface="Calibri"/>
                <a:ea typeface="DejaVu Sans"/>
              </a:rPr>
              <a:t>Inconsistent — user controls everything!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Shape 9"/>
          <p:cNvSpPr/>
          <p:nvPr/>
        </p:nvSpPr>
        <p:spPr>
          <a:xfrm>
            <a:off x="411480" y="4133160"/>
            <a:ext cx="3885480" cy="566280"/>
          </a:xfrm>
          <a:prstGeom prst="rect">
            <a:avLst/>
          </a:prstGeom>
          <a:solidFill>
            <a:srgbClr val="fe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10"/>
          <p:cNvSpPr/>
          <p:nvPr/>
        </p:nvSpPr>
        <p:spPr>
          <a:xfrm>
            <a:off x="502920" y="4133160"/>
            <a:ext cx="3729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444"/>
                </a:solidFill>
                <a:latin typeface="Calibri"/>
                <a:ea typeface="DejaVu Sans"/>
              </a:rPr>
              <a:t>❌ </a:t>
            </a:r>
            <a:r>
              <a:rPr b="0" lang="en-US" sz="1050" spc="-1" strike="noStrike">
                <a:solidFill>
                  <a:srgbClr val="ef4444"/>
                </a:solidFill>
                <a:latin typeface="Calibri"/>
                <a:ea typeface="DejaVu Sans"/>
              </a:rPr>
              <a:t>No validation   ❌ No structure   ❌ No reuse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4718160" y="932760"/>
            <a:ext cx="4132440" cy="391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Shape 12"/>
          <p:cNvSpPr/>
          <p:nvPr/>
        </p:nvSpPr>
        <p:spPr>
          <a:xfrm>
            <a:off x="4718160" y="932760"/>
            <a:ext cx="4132440" cy="4748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13"/>
          <p:cNvSpPr/>
          <p:nvPr/>
        </p:nvSpPr>
        <p:spPr>
          <a:xfrm>
            <a:off x="4827960" y="932760"/>
            <a:ext cx="3949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✓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Dynamic Prompt Templates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75" name="Text 14"/>
          <p:cNvSpPr/>
          <p:nvPr/>
        </p:nvSpPr>
        <p:spPr>
          <a:xfrm>
            <a:off x="4846320" y="1508760"/>
            <a:ext cx="38214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Template defines the structure — user fills slots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Controlled inputs: dropdowns, text fields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Consistent format and quality every single time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Easy to test, improve, and reuse across projects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LangChain validates placeholders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 automatically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Shape 15"/>
          <p:cNvSpPr/>
          <p:nvPr/>
        </p:nvSpPr>
        <p:spPr>
          <a:xfrm>
            <a:off x="4827960" y="3108960"/>
            <a:ext cx="3885480" cy="5295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16"/>
          <p:cNvSpPr/>
          <p:nvPr/>
        </p:nvSpPr>
        <p:spPr>
          <a:xfrm>
            <a:off x="4919400" y="3108960"/>
            <a:ext cx="37299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onsolas"/>
                <a:ea typeface="Consolas"/>
              </a:rPr>
              <a:t>"</a:t>
            </a:r>
            <a:r>
              <a:rPr b="0" lang="en-US" sz="1000" spc="-1" strike="noStrike">
                <a:solidFill>
                  <a:srgbClr val="7dd3fc"/>
                </a:solidFill>
                <a:latin typeface="Consolas"/>
                <a:ea typeface="Consolas"/>
              </a:rPr>
              <a:t>Provide {short} report on climate Change {technial} way"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8" name="Text 17"/>
          <p:cNvSpPr/>
          <p:nvPr/>
        </p:nvSpPr>
        <p:spPr>
          <a:xfrm>
            <a:off x="4864680" y="3730680"/>
            <a:ext cx="3858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0b981"/>
                </a:solidFill>
                <a:latin typeface="Calibri"/>
                <a:ea typeface="DejaVu Sans"/>
              </a:rPr>
              <a:t>✓  </a:t>
            </a:r>
            <a:r>
              <a:rPr b="0" i="1" lang="en-US" sz="1000" spc="-1" strike="noStrike">
                <a:solidFill>
                  <a:srgbClr val="10b981"/>
                </a:solidFill>
                <a:latin typeface="Calibri"/>
                <a:ea typeface="DejaVu Sans"/>
              </a:rPr>
              <a:t>Predictable — template controls structure!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9" name="Shape 18"/>
          <p:cNvSpPr/>
          <p:nvPr/>
        </p:nvSpPr>
        <p:spPr>
          <a:xfrm>
            <a:off x="4827960" y="4133160"/>
            <a:ext cx="3885480" cy="566280"/>
          </a:xfrm>
          <a:prstGeom prst="rect">
            <a:avLst/>
          </a:prstGeom>
          <a:solidFill>
            <a:srgbClr val="f0fd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19"/>
          <p:cNvSpPr/>
          <p:nvPr/>
        </p:nvSpPr>
        <p:spPr>
          <a:xfrm>
            <a:off x="4919400" y="4133160"/>
            <a:ext cx="3729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0b981"/>
                </a:solidFill>
                <a:latin typeface="Calibri"/>
                <a:ea typeface="DejaVu Sans"/>
              </a:rPr>
              <a:t>✅ </a:t>
            </a:r>
            <a:r>
              <a:rPr b="0" lang="en-US" sz="1050" spc="-1" strike="noStrike">
                <a:solidFill>
                  <a:srgbClr val="10b981"/>
                </a:solidFill>
                <a:latin typeface="Calibri"/>
                <a:ea typeface="DejaVu Sans"/>
              </a:rPr>
              <a:t>Validated   ✅ Structured   ✅ Reusable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2026-03-14T03:13:09Z</dcterms:created>
  <dc:creator>PptxGenJS</dc:creator>
  <dc:description/>
  <dc:language>en-IN</dc:language>
  <cp:lastModifiedBy/>
  <dcterms:modified xsi:type="dcterms:W3CDTF">2026-03-17T18:41:20Z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