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B575151-CEAA-4FE0-8435-F0F6054A3F85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0068CAB-3CEE-45CE-A2AC-394B1C567F1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F4D920-D31D-42E4-8D5B-C2176C76AA1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8390DEA-1EA0-41F8-9629-8383DF3AED9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CDC1BA4-6FC9-430E-BF3A-FCD7F363519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610FB7A-E582-4835-8F31-8FA05D82AE3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91FDA51-8539-46E7-A86C-2257C2097E7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DDF9A42-7A7D-43F8-9439-5C93CA5210E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A4B6331-56CA-4E09-ADF1-B103937B1FE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AC7F925-A76F-4B1D-80F2-CB5CB8BD3B0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B2A0BE8-F954-4CC6-A11D-694DC0046AA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</a:t>
            </a:r>
            <a:r>
              <a:rPr b="0" lang="en-IN" sz="4400" spc="-1" strike="noStrike">
                <a:latin typeface="Arial"/>
              </a:rPr>
              <a:t>to </a:t>
            </a:r>
            <a:r>
              <a:rPr b="0" lang="en-IN" sz="4400" spc="-1" strike="noStrike">
                <a:latin typeface="Arial"/>
              </a:rPr>
              <a:t>edit </a:t>
            </a:r>
            <a:r>
              <a:rPr b="0" lang="en-IN" sz="4400" spc="-1" strike="noStrike">
                <a:latin typeface="Arial"/>
              </a:rPr>
              <a:t>the </a:t>
            </a:r>
            <a:r>
              <a:rPr b="0" lang="en-IN" sz="4400" spc="-1" strike="noStrike">
                <a:latin typeface="Arial"/>
              </a:rPr>
              <a:t>title </a:t>
            </a:r>
            <a:r>
              <a:rPr b="0" lang="en-IN" sz="4400" spc="-1" strike="noStrike">
                <a:latin typeface="Arial"/>
              </a:rPr>
              <a:t>text </a:t>
            </a:r>
            <a:r>
              <a:rPr b="0" lang="en-IN" sz="4400" spc="-1" strike="noStrike">
                <a:latin typeface="Arial"/>
              </a:rPr>
              <a:t>form</a:t>
            </a:r>
            <a:r>
              <a:rPr b="0" lang="en-IN" sz="4400" spc="-1" strike="noStrike">
                <a:latin typeface="Arial"/>
              </a:rPr>
              <a:t>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PromptTemplate + Streamlit: Controlled UI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11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320040" y="1389960"/>
            <a:ext cx="5259960" cy="50900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" name="Shape 5"/>
          <p:cNvSpPr/>
          <p:nvPr/>
        </p:nvSpPr>
        <p:spPr>
          <a:xfrm>
            <a:off x="320040" y="1389960"/>
            <a:ext cx="5284440" cy="31932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6"/>
          <p:cNvSpPr/>
          <p:nvPr/>
        </p:nvSpPr>
        <p:spPr>
          <a:xfrm>
            <a:off x="457200" y="138996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research_tool_template.py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from langchain_core.prompts import PromptTemplate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from langchain_openai import ChatOpenAI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from dotenv import load_dotenv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load_dotenv()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# Define a new prompt template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instruction_text = """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Generate a concise explanation for the topic "{topic_name}"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Details: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- Presentation style: {format_style}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- Depth level: {detail_level}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Instructions: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1. Include formulas or technical expressions if applicable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2. Use small code examples where helpful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3. Explain using simple real-life comparisons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4. If data is missing, mention "Details unavailable"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5. Keep the explanation aligned with the requested style and depth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"""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# Create template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template_engine = PromptTemplate(template=instruction_text)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# Populate template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prepared_prompt = template_engine.invoke({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    </a:t>
            </a: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"topic_name": "Neural Networks Basics",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    </a:t>
            </a: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"format_style": "beginner-friendly",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    </a:t>
            </a: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"detail_level": "brief"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})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final_query = prepared_prompt.text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# Initialize model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chat_model = ChatOpenAI(model="gpt-4o-mini")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# Invoke model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output = chat_model.invoke(final_query)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print(output.content)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457200" y="1774080"/>
            <a:ext cx="5074200" cy="31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2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2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5742360" y="1389960"/>
            <a:ext cx="3089880" cy="1078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" name="Shape 9"/>
          <p:cNvSpPr/>
          <p:nvPr/>
        </p:nvSpPr>
        <p:spPr>
          <a:xfrm>
            <a:off x="5742360" y="1389960"/>
            <a:ext cx="63360" cy="107820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10"/>
          <p:cNvSpPr/>
          <p:nvPr/>
        </p:nvSpPr>
        <p:spPr>
          <a:xfrm>
            <a:off x="5870520" y="1481400"/>
            <a:ext cx="2879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e293b"/>
                </a:solidFill>
                <a:latin typeface="Calibri"/>
                <a:ea typeface="DejaVu Sans"/>
              </a:rPr>
              <a:t>🔒 </a:t>
            </a:r>
            <a:r>
              <a:rPr b="1" lang="en-US" sz="1250" spc="-1" strike="noStrike">
                <a:solidFill>
                  <a:srgbClr val="1e293b"/>
                </a:solidFill>
                <a:latin typeface="Calibri"/>
                <a:ea typeface="DejaVu Sans"/>
              </a:rPr>
              <a:t>Controlled Inputs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5870520" y="1847160"/>
            <a:ext cx="28796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selectbox replaces free text — users pick from a fixed list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6" name="Shape 12"/>
          <p:cNvSpPr/>
          <p:nvPr/>
        </p:nvSpPr>
        <p:spPr>
          <a:xfrm>
            <a:off x="5742360" y="2597040"/>
            <a:ext cx="3089880" cy="1078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7" name="Shape 13"/>
          <p:cNvSpPr/>
          <p:nvPr/>
        </p:nvSpPr>
        <p:spPr>
          <a:xfrm>
            <a:off x="5742360" y="2597040"/>
            <a:ext cx="63360" cy="107820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4"/>
          <p:cNvSpPr/>
          <p:nvPr/>
        </p:nvSpPr>
        <p:spPr>
          <a:xfrm>
            <a:off x="5870520" y="2688480"/>
            <a:ext cx="2879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e293b"/>
                </a:solidFill>
                <a:latin typeface="Calibri"/>
                <a:ea typeface="DejaVu Sans"/>
              </a:rPr>
              <a:t>🔧 </a:t>
            </a:r>
            <a:r>
              <a:rPr b="1" lang="en-US" sz="1250" spc="-1" strike="noStrike">
                <a:solidFill>
                  <a:srgbClr val="1e293b"/>
                </a:solidFill>
                <a:latin typeface="Calibri"/>
                <a:ea typeface="DejaVu Sans"/>
              </a:rPr>
              <a:t>Template Structure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5870520" y="3054240"/>
            <a:ext cx="28796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Prompt shape is locked in the template; user only fills slots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0" name="Shape 16"/>
          <p:cNvSpPr/>
          <p:nvPr/>
        </p:nvSpPr>
        <p:spPr>
          <a:xfrm>
            <a:off x="5742360" y="3803760"/>
            <a:ext cx="3089880" cy="1078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" name="Shape 17"/>
          <p:cNvSpPr/>
          <p:nvPr/>
        </p:nvSpPr>
        <p:spPr>
          <a:xfrm>
            <a:off x="5742360" y="3803760"/>
            <a:ext cx="63360" cy="107820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8"/>
          <p:cNvSpPr/>
          <p:nvPr/>
        </p:nvSpPr>
        <p:spPr>
          <a:xfrm>
            <a:off x="5870520" y="3895200"/>
            <a:ext cx="2879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e293b"/>
                </a:solidFill>
                <a:latin typeface="Calibri"/>
                <a:ea typeface="DejaVu Sans"/>
              </a:rPr>
              <a:t>⚡ </a:t>
            </a:r>
            <a:r>
              <a:rPr b="1" lang="en-US" sz="1250" spc="-1" strike="noStrike">
                <a:solidFill>
                  <a:srgbClr val="1e293b"/>
                </a:solidFill>
                <a:latin typeface="Calibri"/>
                <a:ea typeface="DejaVu Sans"/>
              </a:rPr>
              <a:t>One-Step invoke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63" name="Text 19"/>
          <p:cNvSpPr/>
          <p:nvPr/>
        </p:nvSpPr>
        <p:spPr>
          <a:xfrm>
            <a:off x="5870520" y="4260960"/>
            <a:ext cx="28796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filled prompt goes straight to LLM — clean and simple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PromptTemplate: Command-Line Poem Generator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3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12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68" name="Shape 4"/>
          <p:cNvSpPr/>
          <p:nvPr/>
        </p:nvSpPr>
        <p:spPr>
          <a:xfrm>
            <a:off x="320040" y="1389960"/>
            <a:ext cx="5259960" cy="56300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9" name="Shape 5"/>
          <p:cNvSpPr/>
          <p:nvPr/>
        </p:nvSpPr>
        <p:spPr>
          <a:xfrm>
            <a:off x="320040" y="1389960"/>
            <a:ext cx="5284440" cy="31932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6"/>
          <p:cNvSpPr/>
          <p:nvPr/>
        </p:nvSpPr>
        <p:spPr>
          <a:xfrm>
            <a:off x="457200" y="138996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alibri"/>
                <a:ea typeface="DejaVu Sans"/>
              </a:rPr>
              <a:t>poem_generator.py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1" name="Text 7"/>
          <p:cNvSpPr/>
          <p:nvPr/>
        </p:nvSpPr>
        <p:spPr>
          <a:xfrm>
            <a:off x="457200" y="1774080"/>
            <a:ext cx="5074200" cy="31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langchain_core.prompts import PromptTemplate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dotenv import load_dotenv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load_dotenv()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ai_engine = ChatOpenAI()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tmpl = "Write a poem about {subject} in a {mood} tone with {lines} lines"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prompt_obj  = PromptTemplate(template=tmpl)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subject = input("Enter subject : ")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mood    = input("Enter tone    : ")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lines   = int(input("Enter lines   : "))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filled_prompt = prompt_obj.invoke({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"subject": subject,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"mood":    mood,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"lines":   lines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Access filled text directly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print("\nFilled prompt:\n", filled_prompt.text)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Send to LLM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response = ai_engine.invoke(filled_prompt)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print("\nPoem:\n", response.content)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72" name="Shape 8"/>
          <p:cNvSpPr/>
          <p:nvPr/>
        </p:nvSpPr>
        <p:spPr>
          <a:xfrm>
            <a:off x="5742360" y="1389960"/>
            <a:ext cx="3089880" cy="3583800"/>
          </a:xfrm>
          <a:prstGeom prst="rect">
            <a:avLst/>
          </a:prstGeom>
          <a:solidFill>
            <a:srgbClr val="11182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3" name="Shape 9"/>
          <p:cNvSpPr/>
          <p:nvPr/>
        </p:nvSpPr>
        <p:spPr>
          <a:xfrm>
            <a:off x="5742360" y="1389960"/>
            <a:ext cx="3089880" cy="3193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10"/>
          <p:cNvSpPr/>
          <p:nvPr/>
        </p:nvSpPr>
        <p:spPr>
          <a:xfrm>
            <a:off x="5852160" y="1389960"/>
            <a:ext cx="2925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alibri"/>
                <a:ea typeface="DejaVu Sans"/>
              </a:rPr>
              <a:t>Terminal 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5" name="Text 11"/>
          <p:cNvSpPr/>
          <p:nvPr/>
        </p:nvSpPr>
        <p:spPr>
          <a:xfrm>
            <a:off x="5833800" y="1783080"/>
            <a:ext cx="2943720" cy="30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$ python poem_generator.py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Enter subject : autumn leaves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Enter tone    : melancholic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Enter lines   : 4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Filled prompt: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 </a:t>
            </a: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Write a poem about autumn leaves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 </a:t>
            </a: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in a melancholic tone with 4 lines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Poem: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 </a:t>
            </a: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They drift like silent whispers down,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 </a:t>
            </a: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Each golden leaf becomes a crown.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 </a:t>
            </a: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The branches bare their ancient grief,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 </a:t>
            </a: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As seasons steal the final leaf.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Creating Rich Dynamic Prompts with Detailed Guidelines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78" name="Shape 2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3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13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80" name="Shape 4"/>
          <p:cNvSpPr/>
          <p:nvPr/>
        </p:nvSpPr>
        <p:spPr>
          <a:xfrm>
            <a:off x="320040" y="1389960"/>
            <a:ext cx="5284440" cy="35838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Shape 5"/>
          <p:cNvSpPr/>
          <p:nvPr/>
        </p:nvSpPr>
        <p:spPr>
          <a:xfrm>
            <a:off x="320040" y="1389960"/>
            <a:ext cx="5284440" cy="31932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6"/>
          <p:cNvSpPr/>
          <p:nvPr/>
        </p:nvSpPr>
        <p:spPr>
          <a:xfrm>
            <a:off x="457200" y="138996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alibri"/>
                <a:ea typeface="DejaVu Sans"/>
              </a:rPr>
              <a:t>rich_prompt_template.py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457200" y="1774080"/>
            <a:ext cx="5074200" cy="31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langchain_core.prompts import PromptTemplate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tmpl_str = """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Summarise the research paper titled {paper_title}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with the following requirements: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- Explanation style  : {style}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- Summary length     : {length}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Guidelines to follow: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1. Include relevant mathematical equations if present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2. Explain concepts using simple, intuitive code snippets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3. Add relatable analogies to simplify complex ideas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4. If information unavailable, state 'Insufficient info'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5. Keep summary clear, accurate, and aligned with the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requested style and length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"""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prompt_tpl = PromptTemplate(template=tmpl_str)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Invoke to fill placeholders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filled = prompt_tpl.invoke({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"paper_title" : "Attention Is All You Need",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"style"       : "code-oriented",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"length"      : "medium"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print(filled.text)   # Inspect the filled prompt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4" name="Shape 8"/>
          <p:cNvSpPr/>
          <p:nvPr/>
        </p:nvSpPr>
        <p:spPr>
          <a:xfrm>
            <a:off x="5742360" y="1389960"/>
            <a:ext cx="3089880" cy="1078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" name="Shape 9"/>
          <p:cNvSpPr/>
          <p:nvPr/>
        </p:nvSpPr>
        <p:spPr>
          <a:xfrm>
            <a:off x="5742360" y="1389960"/>
            <a:ext cx="63360" cy="107820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10"/>
          <p:cNvSpPr/>
          <p:nvPr/>
        </p:nvSpPr>
        <p:spPr>
          <a:xfrm>
            <a:off x="5870520" y="1481400"/>
            <a:ext cx="2879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Multi-parameter Template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7" name="Text 11"/>
          <p:cNvSpPr/>
          <p:nvPr/>
        </p:nvSpPr>
        <p:spPr>
          <a:xfrm>
            <a:off x="5870520" y="1847160"/>
            <a:ext cx="2879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Three placeholders: paper_title, style, length — all validated by LangChain automatically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8" name="Shape 12"/>
          <p:cNvSpPr/>
          <p:nvPr/>
        </p:nvSpPr>
        <p:spPr>
          <a:xfrm>
            <a:off x="5742360" y="2597040"/>
            <a:ext cx="3089880" cy="1078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Shape 13"/>
          <p:cNvSpPr/>
          <p:nvPr/>
        </p:nvSpPr>
        <p:spPr>
          <a:xfrm>
            <a:off x="5742360" y="2597040"/>
            <a:ext cx="63360" cy="107820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14"/>
          <p:cNvSpPr/>
          <p:nvPr/>
        </p:nvSpPr>
        <p:spPr>
          <a:xfrm>
            <a:off x="5870520" y="2688480"/>
            <a:ext cx="2879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Rich Instruction Block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1" name="Text 15"/>
          <p:cNvSpPr/>
          <p:nvPr/>
        </p:nvSpPr>
        <p:spPr>
          <a:xfrm>
            <a:off x="5870520" y="3054240"/>
            <a:ext cx="2879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The guidelines section gives the LLM detailed instructions embedded in the prompt structure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2" name="Shape 16"/>
          <p:cNvSpPr/>
          <p:nvPr/>
        </p:nvSpPr>
        <p:spPr>
          <a:xfrm>
            <a:off x="5742360" y="3803760"/>
            <a:ext cx="3089880" cy="1078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3" name="Shape 17"/>
          <p:cNvSpPr/>
          <p:nvPr/>
        </p:nvSpPr>
        <p:spPr>
          <a:xfrm>
            <a:off x="5742360" y="3803760"/>
            <a:ext cx="63360" cy="107820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18"/>
          <p:cNvSpPr/>
          <p:nvPr/>
        </p:nvSpPr>
        <p:spPr>
          <a:xfrm>
            <a:off x="5870520" y="3895200"/>
            <a:ext cx="2879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Filled Prompt Inspection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5" name="Text 19"/>
          <p:cNvSpPr/>
          <p:nvPr/>
        </p:nvSpPr>
        <p:spPr>
          <a:xfrm>
            <a:off x="5870520" y="4260960"/>
            <a:ext cx="2879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Call .text on the result to inspect the fully resolved prompt string before sending to LLM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Why Use Prompt Templates? — 3 Key Reasons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3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14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00" name="Shape 4"/>
          <p:cNvSpPr/>
          <p:nvPr/>
        </p:nvSpPr>
        <p:spPr>
          <a:xfrm>
            <a:off x="292680" y="1389960"/>
            <a:ext cx="2788200" cy="3583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Shape 5"/>
          <p:cNvSpPr/>
          <p:nvPr/>
        </p:nvSpPr>
        <p:spPr>
          <a:xfrm>
            <a:off x="292680" y="1389960"/>
            <a:ext cx="2788200" cy="50220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6"/>
          <p:cNvSpPr/>
          <p:nvPr/>
        </p:nvSpPr>
        <p:spPr>
          <a:xfrm>
            <a:off x="402480" y="1389960"/>
            <a:ext cx="2632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🛡️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1. Built-in Validation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402480" y="1956960"/>
            <a:ext cx="26326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LangChain automatically validates that all placeholders are filled and no extra/unknown variables are passed.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402480" y="2651760"/>
            <a:ext cx="263268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Throws clear error if placeholder missing</a:t>
            </a:r>
            <a:endParaRPr b="0" lang="en-IN" sz="9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Catches typos in variable names early</a:t>
            </a:r>
            <a:endParaRPr b="0" lang="en-IN" sz="9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Prevents malformed prompts from reaching LLM</a:t>
            </a:r>
            <a:endParaRPr b="0" lang="en-IN" sz="9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Acts as a contract between code and template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05" name="Shape 9"/>
          <p:cNvSpPr/>
          <p:nvPr/>
        </p:nvSpPr>
        <p:spPr>
          <a:xfrm>
            <a:off x="402480" y="3703320"/>
            <a:ext cx="2632680" cy="11696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10"/>
          <p:cNvSpPr/>
          <p:nvPr/>
        </p:nvSpPr>
        <p:spPr>
          <a:xfrm>
            <a:off x="457200" y="3749040"/>
            <a:ext cx="2513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# Missing variable → clear error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prompt_tpl.invoke({'paper_title':'BERT'})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# KeyError: 'style' is missing!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07" name="Shape 11"/>
          <p:cNvSpPr/>
          <p:nvPr/>
        </p:nvSpPr>
        <p:spPr>
          <a:xfrm>
            <a:off x="3237120" y="1389960"/>
            <a:ext cx="2788200" cy="3583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8" name="Shape 12"/>
          <p:cNvSpPr/>
          <p:nvPr/>
        </p:nvSpPr>
        <p:spPr>
          <a:xfrm>
            <a:off x="3237120" y="1389960"/>
            <a:ext cx="2788200" cy="5022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13"/>
          <p:cNvSpPr/>
          <p:nvPr/>
        </p:nvSpPr>
        <p:spPr>
          <a:xfrm>
            <a:off x="3346560" y="1389960"/>
            <a:ext cx="2632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♻️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2. Reusability (DRY Principle)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10" name="Text 14"/>
          <p:cNvSpPr/>
          <p:nvPr/>
        </p:nvSpPr>
        <p:spPr>
          <a:xfrm>
            <a:off x="3346560" y="1956960"/>
            <a:ext cx="26326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Save your template once as JSON and reload it in any project, script, or microservice — write once, use everywhere.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1" name="Text 15"/>
          <p:cNvSpPr/>
          <p:nvPr/>
        </p:nvSpPr>
        <p:spPr>
          <a:xfrm>
            <a:off x="3346560" y="2651760"/>
            <a:ext cx="263268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Save: my_tpl.save('prompt.json')</a:t>
            </a:r>
            <a:endParaRPr b="0" lang="en-IN" sz="9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Load: load_prompt('prompt.json')</a:t>
            </a:r>
            <a:endParaRPr b="0" lang="en-IN" sz="9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Share across teammates and repos</a:t>
            </a:r>
            <a:endParaRPr b="0" lang="en-IN" sz="9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Version-control your prompts like code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2" name="Shape 16"/>
          <p:cNvSpPr/>
          <p:nvPr/>
        </p:nvSpPr>
        <p:spPr>
          <a:xfrm>
            <a:off x="3346560" y="3703320"/>
            <a:ext cx="2632680" cy="11696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17"/>
          <p:cNvSpPr/>
          <p:nvPr/>
        </p:nvSpPr>
        <p:spPr>
          <a:xfrm>
            <a:off x="3401640" y="3749040"/>
            <a:ext cx="2513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# Save once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my_tpl.save('research.json')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# Load anywhere later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tpl = load_prompt('research.json')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14" name="Shape 18"/>
          <p:cNvSpPr/>
          <p:nvPr/>
        </p:nvSpPr>
        <p:spPr>
          <a:xfrm>
            <a:off x="6181200" y="1389960"/>
            <a:ext cx="2788200" cy="3583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5" name="Shape 19"/>
          <p:cNvSpPr/>
          <p:nvPr/>
        </p:nvSpPr>
        <p:spPr>
          <a:xfrm>
            <a:off x="6181200" y="1389960"/>
            <a:ext cx="2788200" cy="5022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20"/>
          <p:cNvSpPr/>
          <p:nvPr/>
        </p:nvSpPr>
        <p:spPr>
          <a:xfrm>
            <a:off x="6291000" y="1389960"/>
            <a:ext cx="2632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🔗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3. LangChain Chain Integration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17" name="Text 21"/>
          <p:cNvSpPr/>
          <p:nvPr/>
        </p:nvSpPr>
        <p:spPr>
          <a:xfrm>
            <a:off x="6291000" y="1956960"/>
            <a:ext cx="26326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Templates plug directly into LangChain's pipe (|) operator, letting you compose multi-step pipelines elegantly.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8" name="Text 22"/>
          <p:cNvSpPr/>
          <p:nvPr/>
        </p:nvSpPr>
        <p:spPr>
          <a:xfrm>
            <a:off x="6291000" y="2651760"/>
            <a:ext cx="263268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chain = template | model</a:t>
            </a:r>
            <a:endParaRPr b="0" lang="en-IN" sz="9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Single invoke() for entire pipeline</a:t>
            </a:r>
            <a:endParaRPr b="0" lang="en-IN" sz="9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Compose: template | model | parser</a:t>
            </a:r>
            <a:endParaRPr b="0" lang="en-IN" sz="9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Combine with retrievers, tools, agents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9" name="Shape 23"/>
          <p:cNvSpPr/>
          <p:nvPr/>
        </p:nvSpPr>
        <p:spPr>
          <a:xfrm>
            <a:off x="6291000" y="3703320"/>
            <a:ext cx="2632680" cy="11696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24"/>
          <p:cNvSpPr/>
          <p:nvPr/>
        </p:nvSpPr>
        <p:spPr>
          <a:xfrm>
            <a:off x="6346080" y="3749040"/>
            <a:ext cx="2513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# Elegant single-line pipeline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chain  = research_tpl | ai_model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result = chain.invoke({...})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Reusability: Save &amp; Load Prompt Templates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3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15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320040" y="1389960"/>
            <a:ext cx="415980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6" name="Shape 5"/>
          <p:cNvSpPr/>
          <p:nvPr/>
        </p:nvSpPr>
        <p:spPr>
          <a:xfrm>
            <a:off x="320040" y="1389960"/>
            <a:ext cx="4159800" cy="4017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hape 6"/>
          <p:cNvSpPr/>
          <p:nvPr/>
        </p:nvSpPr>
        <p:spPr>
          <a:xfrm>
            <a:off x="411480" y="1426320"/>
            <a:ext cx="328320" cy="3283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7"/>
          <p:cNvSpPr/>
          <p:nvPr/>
        </p:nvSpPr>
        <p:spPr>
          <a:xfrm>
            <a:off x="411480" y="14263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9488"/>
                </a:solidFill>
                <a:latin typeface="Calibri"/>
                <a:ea typeface="DejaVu Sans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9" name="Text 8"/>
          <p:cNvSpPr/>
          <p:nvPr/>
        </p:nvSpPr>
        <p:spPr>
          <a:xfrm>
            <a:off x="804600" y="1389960"/>
            <a:ext cx="3565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Step 1: Save Template as JSON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0" name="Shape 9"/>
          <p:cNvSpPr/>
          <p:nvPr/>
        </p:nvSpPr>
        <p:spPr>
          <a:xfrm>
            <a:off x="411480" y="1865520"/>
            <a:ext cx="4004280" cy="11422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10"/>
          <p:cNvSpPr/>
          <p:nvPr/>
        </p:nvSpPr>
        <p:spPr>
          <a:xfrm>
            <a:off x="502920" y="1901880"/>
            <a:ext cx="3839760" cy="10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langchain_core.prompts import PromptTemplate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my_template = PromptTemplate(template=tmpl_str)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my_template.save('research_template.json')  # Saves to disk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32" name="Shape 11"/>
          <p:cNvSpPr/>
          <p:nvPr/>
        </p:nvSpPr>
        <p:spPr>
          <a:xfrm>
            <a:off x="4663440" y="1389960"/>
            <a:ext cx="415980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3" name="Shape 12"/>
          <p:cNvSpPr/>
          <p:nvPr/>
        </p:nvSpPr>
        <p:spPr>
          <a:xfrm>
            <a:off x="4663440" y="1389960"/>
            <a:ext cx="4159800" cy="40176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13"/>
          <p:cNvSpPr/>
          <p:nvPr/>
        </p:nvSpPr>
        <p:spPr>
          <a:xfrm>
            <a:off x="4754880" y="1426320"/>
            <a:ext cx="328320" cy="3283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14"/>
          <p:cNvSpPr/>
          <p:nvPr/>
        </p:nvSpPr>
        <p:spPr>
          <a:xfrm>
            <a:off x="4754880" y="14263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d4ed8"/>
                </a:solidFill>
                <a:latin typeface="Calibri"/>
                <a:ea typeface="DejaVu Sans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6" name="Text 15"/>
          <p:cNvSpPr/>
          <p:nvPr/>
        </p:nvSpPr>
        <p:spPr>
          <a:xfrm>
            <a:off x="5139000" y="1389960"/>
            <a:ext cx="3565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Step 2: Load Template Anywhere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7" name="Shape 16"/>
          <p:cNvSpPr/>
          <p:nvPr/>
        </p:nvSpPr>
        <p:spPr>
          <a:xfrm>
            <a:off x="4754880" y="1865520"/>
            <a:ext cx="4004280" cy="11422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17"/>
          <p:cNvSpPr/>
          <p:nvPr/>
        </p:nvSpPr>
        <p:spPr>
          <a:xfrm>
            <a:off x="4846320" y="1901880"/>
            <a:ext cx="3839760" cy="10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langchain_core.prompts import load_prompt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Load in any script or project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loaded_tpl = load_prompt('research_template.json')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39" name="Shape 18"/>
          <p:cNvSpPr/>
          <p:nvPr/>
        </p:nvSpPr>
        <p:spPr>
          <a:xfrm>
            <a:off x="320040" y="3200400"/>
            <a:ext cx="8503200" cy="1755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0" name="Shape 19"/>
          <p:cNvSpPr/>
          <p:nvPr/>
        </p:nvSpPr>
        <p:spPr>
          <a:xfrm>
            <a:off x="320040" y="3200400"/>
            <a:ext cx="8503200" cy="40176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Shape 20"/>
          <p:cNvSpPr/>
          <p:nvPr/>
        </p:nvSpPr>
        <p:spPr>
          <a:xfrm>
            <a:off x="411480" y="3237120"/>
            <a:ext cx="328320" cy="3283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21"/>
          <p:cNvSpPr/>
          <p:nvPr/>
        </p:nvSpPr>
        <p:spPr>
          <a:xfrm>
            <a:off x="411480" y="32371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7c3aed"/>
                </a:solidFill>
                <a:latin typeface="Calibri"/>
                <a:ea typeface="DejaVu Sans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3" name="Text 22"/>
          <p:cNvSpPr/>
          <p:nvPr/>
        </p:nvSpPr>
        <p:spPr>
          <a:xfrm>
            <a:off x="804600" y="3200400"/>
            <a:ext cx="78631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Step 3: Use It Directly in a Chain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4" name="Shape 23"/>
          <p:cNvSpPr/>
          <p:nvPr/>
        </p:nvSpPr>
        <p:spPr>
          <a:xfrm>
            <a:off x="411480" y="3675960"/>
            <a:ext cx="8338680" cy="11696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24"/>
          <p:cNvSpPr/>
          <p:nvPr/>
        </p:nvSpPr>
        <p:spPr>
          <a:xfrm>
            <a:off x="502920" y="3712320"/>
            <a:ext cx="8183160" cy="10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ai_model = ChatOpenAI()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chain   = loaded_tpl | ai_model                           # pipe operator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result  = chain.invoke({"paper_title":"BERT","style":"simple","length":"brief"})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print(result.content)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Chains: Combining Template + Model Elegantly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48" name="Shape 2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3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16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320040" y="1389960"/>
            <a:ext cx="4159800" cy="2331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1" name="Shape 5"/>
          <p:cNvSpPr/>
          <p:nvPr/>
        </p:nvSpPr>
        <p:spPr>
          <a:xfrm>
            <a:off x="320040" y="1389960"/>
            <a:ext cx="4159800" cy="43812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6"/>
          <p:cNvSpPr/>
          <p:nvPr/>
        </p:nvSpPr>
        <p:spPr>
          <a:xfrm>
            <a:off x="438840" y="1389960"/>
            <a:ext cx="3976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❌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Without Chains (verbose)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3" name="Shape 7"/>
          <p:cNvSpPr/>
          <p:nvPr/>
        </p:nvSpPr>
        <p:spPr>
          <a:xfrm>
            <a:off x="411480" y="1901880"/>
            <a:ext cx="4004280" cy="17182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8"/>
          <p:cNvSpPr/>
          <p:nvPr/>
        </p:nvSpPr>
        <p:spPr>
          <a:xfrm>
            <a:off x="502920" y="1938600"/>
            <a:ext cx="3839760" cy="16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Two separate steps needed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filled = research_tpl.invoke({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"paper_title": "GPT-3",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"style": "simple",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"length": "brief"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result = ai_model.invoke(filled)  # step 2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st.write(result.content)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55" name="Shape 9"/>
          <p:cNvSpPr/>
          <p:nvPr/>
        </p:nvSpPr>
        <p:spPr>
          <a:xfrm>
            <a:off x="4663440" y="1389960"/>
            <a:ext cx="4159800" cy="2331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6" name="Shape 10"/>
          <p:cNvSpPr/>
          <p:nvPr/>
        </p:nvSpPr>
        <p:spPr>
          <a:xfrm>
            <a:off x="4663440" y="1389960"/>
            <a:ext cx="4159800" cy="43812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11"/>
          <p:cNvSpPr/>
          <p:nvPr/>
        </p:nvSpPr>
        <p:spPr>
          <a:xfrm>
            <a:off x="4773240" y="1389960"/>
            <a:ext cx="39769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✓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With Chains (elegant)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8" name="Shape 12"/>
          <p:cNvSpPr/>
          <p:nvPr/>
        </p:nvSpPr>
        <p:spPr>
          <a:xfrm>
            <a:off x="4754880" y="1901880"/>
            <a:ext cx="4004280" cy="17182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13"/>
          <p:cNvSpPr/>
          <p:nvPr/>
        </p:nvSpPr>
        <p:spPr>
          <a:xfrm>
            <a:off x="4846320" y="1938600"/>
            <a:ext cx="3839760" cy="16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One pipeline — one invoke call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pipeline = research_tpl | ai_model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result = pipeline.invoke({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"paper_title": "GPT-3",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"style": "simple",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"length": "brief"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st.write(result.content)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60" name="Shape 14"/>
          <p:cNvSpPr/>
          <p:nvPr/>
        </p:nvSpPr>
        <p:spPr>
          <a:xfrm>
            <a:off x="320040" y="3822120"/>
            <a:ext cx="8503200" cy="1078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1" name="Text 15"/>
          <p:cNvSpPr/>
          <p:nvPr/>
        </p:nvSpPr>
        <p:spPr>
          <a:xfrm>
            <a:off x="457200" y="3858840"/>
            <a:ext cx="3656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93b"/>
                </a:solidFill>
                <a:latin typeface="Calibri"/>
                <a:ea typeface="DejaVu Sans"/>
              </a:rPr>
              <a:t>How the | (pipe) operator works: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62" name="Shape 16"/>
          <p:cNvSpPr/>
          <p:nvPr/>
        </p:nvSpPr>
        <p:spPr>
          <a:xfrm>
            <a:off x="914400" y="4206240"/>
            <a:ext cx="1828080" cy="502200"/>
          </a:xfrm>
          <a:prstGeom prst="rect">
            <a:avLst/>
          </a:prstGeom>
          <a:solidFill>
            <a:srgbClr val="1d4ed8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3" name="Text 17"/>
          <p:cNvSpPr/>
          <p:nvPr/>
        </p:nvSpPr>
        <p:spPr>
          <a:xfrm>
            <a:off x="914400" y="420624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PromptTemplate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4" name="Text 18"/>
          <p:cNvSpPr/>
          <p:nvPr/>
        </p:nvSpPr>
        <p:spPr>
          <a:xfrm>
            <a:off x="2743200" y="4224600"/>
            <a:ext cx="25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64748b"/>
                </a:solidFill>
                <a:latin typeface="Calibri"/>
                <a:ea typeface="DejaVu Sans"/>
              </a:rPr>
              <a:t>|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5" name="Shape 19"/>
          <p:cNvSpPr/>
          <p:nvPr/>
        </p:nvSpPr>
        <p:spPr>
          <a:xfrm>
            <a:off x="2999160" y="4206240"/>
            <a:ext cx="1828080" cy="502200"/>
          </a:xfrm>
          <a:prstGeom prst="rect">
            <a:avLst/>
          </a:prstGeom>
          <a:solidFill>
            <a:srgbClr val="7c3aed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6" name="Text 20"/>
          <p:cNvSpPr/>
          <p:nvPr/>
        </p:nvSpPr>
        <p:spPr>
          <a:xfrm>
            <a:off x="2999160" y="420624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ChatOpenAI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7" name="Text 21"/>
          <p:cNvSpPr/>
          <p:nvPr/>
        </p:nvSpPr>
        <p:spPr>
          <a:xfrm>
            <a:off x="4827960" y="4224600"/>
            <a:ext cx="25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64748b"/>
                </a:solidFill>
                <a:latin typeface="Calibri"/>
                <a:ea typeface="DejaVu Sans"/>
              </a:rPr>
              <a:t>|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8" name="Shape 22"/>
          <p:cNvSpPr/>
          <p:nvPr/>
        </p:nvSpPr>
        <p:spPr>
          <a:xfrm>
            <a:off x="5083920" y="4206240"/>
            <a:ext cx="1828080" cy="502200"/>
          </a:xfrm>
          <a:prstGeom prst="rect">
            <a:avLst/>
          </a:prstGeom>
          <a:solidFill>
            <a:srgbClr val="0d9488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9" name="Text 23"/>
          <p:cNvSpPr/>
          <p:nvPr/>
        </p:nvSpPr>
        <p:spPr>
          <a:xfrm>
            <a:off x="5083920" y="420624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Output Parser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0" name="Text 24"/>
          <p:cNvSpPr/>
          <p:nvPr/>
        </p:nvSpPr>
        <p:spPr>
          <a:xfrm>
            <a:off x="6912720" y="4224600"/>
            <a:ext cx="255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64748b"/>
                </a:solidFill>
                <a:latin typeface="Calibri"/>
                <a:ea typeface="DejaVu Sans"/>
              </a:rPr>
              <a:t>|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1" name="Shape 25"/>
          <p:cNvSpPr/>
          <p:nvPr/>
        </p:nvSpPr>
        <p:spPr>
          <a:xfrm>
            <a:off x="7169040" y="4206240"/>
            <a:ext cx="1828080" cy="502200"/>
          </a:xfrm>
          <a:prstGeom prst="rect">
            <a:avLst/>
          </a:prstGeom>
          <a:solidFill>
            <a:srgbClr val="10b981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2" name="Text 26"/>
          <p:cNvSpPr/>
          <p:nvPr/>
        </p:nvSpPr>
        <p:spPr>
          <a:xfrm>
            <a:off x="7169040" y="420624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Result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PromptTemplate: Validation in Practice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75" name="Shape 2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3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17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7" name="Shape 4"/>
          <p:cNvSpPr/>
          <p:nvPr/>
        </p:nvSpPr>
        <p:spPr>
          <a:xfrm>
            <a:off x="292680" y="1389960"/>
            <a:ext cx="2788200" cy="3583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8" name="Shape 5"/>
          <p:cNvSpPr/>
          <p:nvPr/>
        </p:nvSpPr>
        <p:spPr>
          <a:xfrm>
            <a:off x="292680" y="1389960"/>
            <a:ext cx="2788200" cy="4017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6"/>
          <p:cNvSpPr/>
          <p:nvPr/>
        </p:nvSpPr>
        <p:spPr>
          <a:xfrm>
            <a:off x="384120" y="1389960"/>
            <a:ext cx="26510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✅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Correct Usage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0" name="Shape 7"/>
          <p:cNvSpPr/>
          <p:nvPr/>
        </p:nvSpPr>
        <p:spPr>
          <a:xfrm>
            <a:off x="384120" y="1865520"/>
            <a:ext cx="2651040" cy="30898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8"/>
          <p:cNvSpPr/>
          <p:nvPr/>
        </p:nvSpPr>
        <p:spPr>
          <a:xfrm>
            <a:off x="438840" y="1901880"/>
            <a:ext cx="251388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prompt_tpl = PromptTemplate(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template="Summarise {title} in {style}"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# All vars provided — works perfectly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result = prompt_tpl.invoke({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"title": "BERT Paper",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"style": "simple"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})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print(result.text)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# ✅ StringPromptValue: "Summarise BERT Paper in simple"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82" name="Shape 9"/>
          <p:cNvSpPr/>
          <p:nvPr/>
        </p:nvSpPr>
        <p:spPr>
          <a:xfrm>
            <a:off x="3237120" y="1389960"/>
            <a:ext cx="2788200" cy="3583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3" name="Shape 10"/>
          <p:cNvSpPr/>
          <p:nvPr/>
        </p:nvSpPr>
        <p:spPr>
          <a:xfrm>
            <a:off x="3237120" y="1389960"/>
            <a:ext cx="2788200" cy="40176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11"/>
          <p:cNvSpPr/>
          <p:nvPr/>
        </p:nvSpPr>
        <p:spPr>
          <a:xfrm>
            <a:off x="3328560" y="1389960"/>
            <a:ext cx="26510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❌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Missing Variable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5" name="Shape 12"/>
          <p:cNvSpPr/>
          <p:nvPr/>
        </p:nvSpPr>
        <p:spPr>
          <a:xfrm>
            <a:off x="3328560" y="1865520"/>
            <a:ext cx="2651040" cy="19195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13"/>
          <p:cNvSpPr/>
          <p:nvPr/>
        </p:nvSpPr>
        <p:spPr>
          <a:xfrm>
            <a:off x="3383280" y="1901880"/>
            <a:ext cx="2513880" cy="184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prompt_tpl = PromptTemplate(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template="Summarise {title} in {style}"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# 'style' is missing!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result = prompt_tpl.invoke({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"title": "BERT Paper"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})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87" name="Shape 14"/>
          <p:cNvSpPr/>
          <p:nvPr/>
        </p:nvSpPr>
        <p:spPr>
          <a:xfrm>
            <a:off x="3328560" y="3840480"/>
            <a:ext cx="2651040" cy="1005120"/>
          </a:xfrm>
          <a:prstGeom prst="rect">
            <a:avLst/>
          </a:prstGeom>
          <a:solidFill>
            <a:srgbClr val="ef4444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15"/>
          <p:cNvSpPr/>
          <p:nvPr/>
        </p:nvSpPr>
        <p:spPr>
          <a:xfrm>
            <a:off x="3383280" y="3877200"/>
            <a:ext cx="2513880" cy="9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e293b"/>
                </a:solidFill>
                <a:latin typeface="Consolas"/>
                <a:ea typeface="Consolas"/>
              </a:rPr>
              <a:t>Error: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e293b"/>
                </a:solidFill>
                <a:latin typeface="Consolas"/>
                <a:ea typeface="Consolas"/>
              </a:rPr>
              <a:t>KeyError: 'style'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e293b"/>
                </a:solidFill>
                <a:latin typeface="Consolas"/>
                <a:ea typeface="Consolas"/>
              </a:rPr>
              <a:t>PromptTemplate requires all variables to be provided.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e293b"/>
                </a:solidFill>
                <a:latin typeface="Consolas"/>
                <a:ea typeface="Consolas"/>
              </a:rPr>
              <a:t>Missing: ['style']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89" name="Shape 16"/>
          <p:cNvSpPr/>
          <p:nvPr/>
        </p:nvSpPr>
        <p:spPr>
          <a:xfrm>
            <a:off x="6181200" y="1389960"/>
            <a:ext cx="2788200" cy="3583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0" name="Shape 17"/>
          <p:cNvSpPr/>
          <p:nvPr/>
        </p:nvSpPr>
        <p:spPr>
          <a:xfrm>
            <a:off x="6181200" y="1389960"/>
            <a:ext cx="2788200" cy="4017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18"/>
          <p:cNvSpPr/>
          <p:nvPr/>
        </p:nvSpPr>
        <p:spPr>
          <a:xfrm>
            <a:off x="6272640" y="1389960"/>
            <a:ext cx="26510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⚠️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Extra Variable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2" name="Shape 19"/>
          <p:cNvSpPr/>
          <p:nvPr/>
        </p:nvSpPr>
        <p:spPr>
          <a:xfrm>
            <a:off x="6272640" y="1865520"/>
            <a:ext cx="2651040" cy="19195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20"/>
          <p:cNvSpPr/>
          <p:nvPr/>
        </p:nvSpPr>
        <p:spPr>
          <a:xfrm>
            <a:off x="6327720" y="1901880"/>
            <a:ext cx="2513880" cy="184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prompt_tpl = PromptTemplate(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template="Summarise {title} in {style}"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# 'format' is unexpected!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result = prompt_tpl.invoke({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"title":"BERT","style":"simple",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"format":"bullet"   # not in template!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})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94" name="Shape 21"/>
          <p:cNvSpPr/>
          <p:nvPr/>
        </p:nvSpPr>
        <p:spPr>
          <a:xfrm>
            <a:off x="6272640" y="3840480"/>
            <a:ext cx="2651040" cy="1005120"/>
          </a:xfrm>
          <a:prstGeom prst="rect">
            <a:avLst/>
          </a:prstGeom>
          <a:solidFill>
            <a:srgbClr val="f59e0b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22"/>
          <p:cNvSpPr/>
          <p:nvPr/>
        </p:nvSpPr>
        <p:spPr>
          <a:xfrm>
            <a:off x="6327720" y="3877200"/>
            <a:ext cx="2513880" cy="9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e293b"/>
                </a:solidFill>
                <a:latin typeface="Consolas"/>
                <a:ea typeface="Consolas"/>
              </a:rPr>
              <a:t>Error: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e293b"/>
                </a:solidFill>
                <a:latin typeface="Consolas"/>
                <a:ea typeface="Consolas"/>
              </a:rPr>
              <a:t>ValidationError: Extra variables not allowed.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e293b"/>
                </a:solidFill>
                <a:latin typeface="Consolas"/>
                <a:ea typeface="Consolas"/>
              </a:rPr>
              <a:t>Unexpected: ['format']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Research Tool: Full Streamlit Application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98" name="Shape 2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3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18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0" name="Shape 4"/>
          <p:cNvSpPr/>
          <p:nvPr/>
        </p:nvSpPr>
        <p:spPr>
          <a:xfrm>
            <a:off x="320040" y="1389960"/>
            <a:ext cx="5101560" cy="3583800"/>
          </a:xfrm>
          <a:prstGeom prst="rect">
            <a:avLst/>
          </a:prstGeom>
          <a:solidFill>
            <a:srgbClr val="f1f5f9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1" name="Shape 5"/>
          <p:cNvSpPr/>
          <p:nvPr/>
        </p:nvSpPr>
        <p:spPr>
          <a:xfrm>
            <a:off x="320040" y="1389960"/>
            <a:ext cx="5101560" cy="401760"/>
          </a:xfrm>
          <a:prstGeom prst="rect">
            <a:avLst/>
          </a:prstGeom>
          <a:solidFill>
            <a:srgbClr val="ff4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6"/>
          <p:cNvSpPr/>
          <p:nvPr/>
        </p:nvSpPr>
        <p:spPr>
          <a:xfrm>
            <a:off x="438840" y="1389960"/>
            <a:ext cx="48913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🎈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Streamlit — Research Assistant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3" name="Text 7"/>
          <p:cNvSpPr/>
          <p:nvPr/>
        </p:nvSpPr>
        <p:spPr>
          <a:xfrm>
            <a:off x="457200" y="1901880"/>
            <a:ext cx="4845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e293b"/>
                </a:solidFill>
                <a:latin typeface="Calibri"/>
                <a:ea typeface="DejaVu Sans"/>
              </a:rPr>
              <a:t>Research Assistant Tool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4" name="Text 8"/>
          <p:cNvSpPr/>
          <p:nvPr/>
        </p:nvSpPr>
        <p:spPr>
          <a:xfrm>
            <a:off x="457200" y="237744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Paper title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5" name="Shape 9"/>
          <p:cNvSpPr/>
          <p:nvPr/>
        </p:nvSpPr>
        <p:spPr>
          <a:xfrm>
            <a:off x="457200" y="2651760"/>
            <a:ext cx="4845600" cy="36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10"/>
          <p:cNvSpPr/>
          <p:nvPr/>
        </p:nvSpPr>
        <p:spPr>
          <a:xfrm>
            <a:off x="567000" y="2651760"/>
            <a:ext cx="462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Attention Is All You Need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7" name="Text 11"/>
          <p:cNvSpPr/>
          <p:nvPr/>
        </p:nvSpPr>
        <p:spPr>
          <a:xfrm>
            <a:off x="457200" y="312732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Explanation style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8" name="Shape 12"/>
          <p:cNvSpPr/>
          <p:nvPr/>
        </p:nvSpPr>
        <p:spPr>
          <a:xfrm>
            <a:off x="457200" y="3383280"/>
            <a:ext cx="2331000" cy="346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13"/>
          <p:cNvSpPr/>
          <p:nvPr/>
        </p:nvSpPr>
        <p:spPr>
          <a:xfrm>
            <a:off x="567000" y="3383280"/>
            <a:ext cx="2148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code-oriented  ▼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0" name="Text 14"/>
          <p:cNvSpPr/>
          <p:nvPr/>
        </p:nvSpPr>
        <p:spPr>
          <a:xfrm>
            <a:off x="2944440" y="312732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Summary length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1" name="Shape 15"/>
          <p:cNvSpPr/>
          <p:nvPr/>
        </p:nvSpPr>
        <p:spPr>
          <a:xfrm>
            <a:off x="2944440" y="3383280"/>
            <a:ext cx="2331000" cy="346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16"/>
          <p:cNvSpPr/>
          <p:nvPr/>
        </p:nvSpPr>
        <p:spPr>
          <a:xfrm>
            <a:off x="3054240" y="3383280"/>
            <a:ext cx="2148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medium  ▼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3" name="Shape 17"/>
          <p:cNvSpPr/>
          <p:nvPr/>
        </p:nvSpPr>
        <p:spPr>
          <a:xfrm>
            <a:off x="457200" y="3858840"/>
            <a:ext cx="1370880" cy="346680"/>
          </a:xfrm>
          <a:prstGeom prst="rect">
            <a:avLst/>
          </a:prstGeom>
          <a:solidFill>
            <a:srgbClr val="ff4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18"/>
          <p:cNvSpPr/>
          <p:nvPr/>
        </p:nvSpPr>
        <p:spPr>
          <a:xfrm>
            <a:off x="457200" y="385884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Summarise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5" name="Shape 19"/>
          <p:cNvSpPr/>
          <p:nvPr/>
        </p:nvSpPr>
        <p:spPr>
          <a:xfrm>
            <a:off x="457200" y="4316040"/>
            <a:ext cx="4845600" cy="566280"/>
          </a:xfrm>
          <a:prstGeom prst="rect">
            <a:avLst/>
          </a:prstGeom>
          <a:solidFill>
            <a:srgbClr val="ccf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20"/>
          <p:cNvSpPr/>
          <p:nvPr/>
        </p:nvSpPr>
        <p:spPr>
          <a:xfrm>
            <a:off x="567000" y="4316040"/>
            <a:ext cx="46260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The Attention mechanism allows models to weigh the importance of...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17" name="Shape 21"/>
          <p:cNvSpPr/>
          <p:nvPr/>
        </p:nvSpPr>
        <p:spPr>
          <a:xfrm>
            <a:off x="5577840" y="1389960"/>
            <a:ext cx="3245400" cy="1078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8" name="Shape 22"/>
          <p:cNvSpPr/>
          <p:nvPr/>
        </p:nvSpPr>
        <p:spPr>
          <a:xfrm>
            <a:off x="5577840" y="1389960"/>
            <a:ext cx="63360" cy="107820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23"/>
          <p:cNvSpPr/>
          <p:nvPr/>
        </p:nvSpPr>
        <p:spPr>
          <a:xfrm>
            <a:off x="5706000" y="1481400"/>
            <a:ext cx="30168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🎛️  </a:t>
            </a: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Controlled Inputs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0" name="Text 24"/>
          <p:cNvSpPr/>
          <p:nvPr/>
        </p:nvSpPr>
        <p:spPr>
          <a:xfrm>
            <a:off x="5706000" y="1847160"/>
            <a:ext cx="30168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selectbox replaces free text — users choose from predefined options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1" name="Shape 25"/>
          <p:cNvSpPr/>
          <p:nvPr/>
        </p:nvSpPr>
        <p:spPr>
          <a:xfrm>
            <a:off x="5577840" y="2597040"/>
            <a:ext cx="3245400" cy="1078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2" name="Shape 26"/>
          <p:cNvSpPr/>
          <p:nvPr/>
        </p:nvSpPr>
        <p:spPr>
          <a:xfrm>
            <a:off x="5577840" y="2597040"/>
            <a:ext cx="63360" cy="107820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27"/>
          <p:cNvSpPr/>
          <p:nvPr/>
        </p:nvSpPr>
        <p:spPr>
          <a:xfrm>
            <a:off x="5706000" y="2688480"/>
            <a:ext cx="30168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🔐  </a:t>
            </a: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Developer Controls Quality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4" name="Text 28"/>
          <p:cNvSpPr/>
          <p:nvPr/>
        </p:nvSpPr>
        <p:spPr>
          <a:xfrm>
            <a:off x="5706000" y="3054240"/>
            <a:ext cx="30168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Template wraps user input in a structured, validated prompt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5" name="Shape 29"/>
          <p:cNvSpPr/>
          <p:nvPr/>
        </p:nvSpPr>
        <p:spPr>
          <a:xfrm>
            <a:off x="5577840" y="3803760"/>
            <a:ext cx="3245400" cy="1078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6" name="Shape 30"/>
          <p:cNvSpPr/>
          <p:nvPr/>
        </p:nvSpPr>
        <p:spPr>
          <a:xfrm>
            <a:off x="5577840" y="3803760"/>
            <a:ext cx="63360" cy="107820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31"/>
          <p:cNvSpPr/>
          <p:nvPr/>
        </p:nvSpPr>
        <p:spPr>
          <a:xfrm>
            <a:off x="5706000" y="3895200"/>
            <a:ext cx="30168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🚀  </a:t>
            </a: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One-click Response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8" name="Text 32"/>
          <p:cNvSpPr/>
          <p:nvPr/>
        </p:nvSpPr>
        <p:spPr>
          <a:xfrm>
            <a:off x="5706000" y="4260960"/>
            <a:ext cx="30168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Single button click triggers fill → LLM → display pipeline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PromptTemplate: Quick Reference Card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3"/>
          <p:cNvSpPr/>
          <p:nvPr/>
        </p:nvSpPr>
        <p:spPr>
          <a:xfrm>
            <a:off x="320040" y="9327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19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3" name="Shape 4"/>
          <p:cNvSpPr/>
          <p:nvPr/>
        </p:nvSpPr>
        <p:spPr>
          <a:xfrm>
            <a:off x="320040" y="1389960"/>
            <a:ext cx="8503200" cy="40176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5"/>
          <p:cNvSpPr/>
          <p:nvPr/>
        </p:nvSpPr>
        <p:spPr>
          <a:xfrm>
            <a:off x="457200" y="1389960"/>
            <a:ext cx="2285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Operation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5" name="Text 6"/>
          <p:cNvSpPr/>
          <p:nvPr/>
        </p:nvSpPr>
        <p:spPr>
          <a:xfrm>
            <a:off x="2926080" y="1389960"/>
            <a:ext cx="31082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Code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6" name="Text 7"/>
          <p:cNvSpPr/>
          <p:nvPr/>
        </p:nvSpPr>
        <p:spPr>
          <a:xfrm>
            <a:off x="6217920" y="1389960"/>
            <a:ext cx="24681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Purpose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7" name="Shape 8"/>
          <p:cNvSpPr/>
          <p:nvPr/>
        </p:nvSpPr>
        <p:spPr>
          <a:xfrm>
            <a:off x="320040" y="1847160"/>
            <a:ext cx="8503200" cy="419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9"/>
          <p:cNvSpPr/>
          <p:nvPr/>
        </p:nvSpPr>
        <p:spPr>
          <a:xfrm>
            <a:off x="457200" y="1847160"/>
            <a:ext cx="22852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Create template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9" name="Shape 10"/>
          <p:cNvSpPr/>
          <p:nvPr/>
        </p:nvSpPr>
        <p:spPr>
          <a:xfrm>
            <a:off x="2926080" y="1901880"/>
            <a:ext cx="3016800" cy="2919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 11"/>
          <p:cNvSpPr/>
          <p:nvPr/>
        </p:nvSpPr>
        <p:spPr>
          <a:xfrm>
            <a:off x="2999160" y="1901880"/>
            <a:ext cx="2907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dd3fc"/>
                </a:solidFill>
                <a:latin typeface="Consolas"/>
                <a:ea typeface="Consolas"/>
              </a:rPr>
              <a:t>PromptTemplate(template=tmpl_str)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1" name="Text 12"/>
          <p:cNvSpPr/>
          <p:nvPr/>
        </p:nvSpPr>
        <p:spPr>
          <a:xfrm>
            <a:off x="6217920" y="1847160"/>
            <a:ext cx="24681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Define structure with {placeholders}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2" name="Shape 13"/>
          <p:cNvSpPr/>
          <p:nvPr/>
        </p:nvSpPr>
        <p:spPr>
          <a:xfrm>
            <a:off x="320040" y="2286000"/>
            <a:ext cx="8503200" cy="4197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14"/>
          <p:cNvSpPr/>
          <p:nvPr/>
        </p:nvSpPr>
        <p:spPr>
          <a:xfrm>
            <a:off x="457200" y="2286000"/>
            <a:ext cx="22852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Fill template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4" name="Shape 15"/>
          <p:cNvSpPr/>
          <p:nvPr/>
        </p:nvSpPr>
        <p:spPr>
          <a:xfrm>
            <a:off x="2926080" y="2340720"/>
            <a:ext cx="3016800" cy="2919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16"/>
          <p:cNvSpPr/>
          <p:nvPr/>
        </p:nvSpPr>
        <p:spPr>
          <a:xfrm>
            <a:off x="2999160" y="2340720"/>
            <a:ext cx="2907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dd3fc"/>
                </a:solidFill>
                <a:latin typeface="Consolas"/>
                <a:ea typeface="Consolas"/>
              </a:rPr>
              <a:t>tpl.invoke({'key':'value',...})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6" name="Text 17"/>
          <p:cNvSpPr/>
          <p:nvPr/>
        </p:nvSpPr>
        <p:spPr>
          <a:xfrm>
            <a:off x="6217920" y="2286000"/>
            <a:ext cx="24681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Returns StringPromptValue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7" name="Shape 18"/>
          <p:cNvSpPr/>
          <p:nvPr/>
        </p:nvSpPr>
        <p:spPr>
          <a:xfrm>
            <a:off x="320040" y="2724840"/>
            <a:ext cx="8503200" cy="419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19"/>
          <p:cNvSpPr/>
          <p:nvPr/>
        </p:nvSpPr>
        <p:spPr>
          <a:xfrm>
            <a:off x="457200" y="2724840"/>
            <a:ext cx="22852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Get text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9" name="Shape 20"/>
          <p:cNvSpPr/>
          <p:nvPr/>
        </p:nvSpPr>
        <p:spPr>
          <a:xfrm>
            <a:off x="2926080" y="2779920"/>
            <a:ext cx="3016800" cy="2919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21"/>
          <p:cNvSpPr/>
          <p:nvPr/>
        </p:nvSpPr>
        <p:spPr>
          <a:xfrm>
            <a:off x="2999160" y="2779920"/>
            <a:ext cx="2907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dd3fc"/>
                </a:solidFill>
                <a:latin typeface="Consolas"/>
                <a:ea typeface="Consolas"/>
              </a:rPr>
              <a:t>.text  on invoke result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51" name="Text 22"/>
          <p:cNvSpPr/>
          <p:nvPr/>
        </p:nvSpPr>
        <p:spPr>
          <a:xfrm>
            <a:off x="6217920" y="2724840"/>
            <a:ext cx="24681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Extract plain string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2" name="Shape 23"/>
          <p:cNvSpPr/>
          <p:nvPr/>
        </p:nvSpPr>
        <p:spPr>
          <a:xfrm>
            <a:off x="320040" y="3163680"/>
            <a:ext cx="8503200" cy="4197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24"/>
          <p:cNvSpPr/>
          <p:nvPr/>
        </p:nvSpPr>
        <p:spPr>
          <a:xfrm>
            <a:off x="457200" y="3163680"/>
            <a:ext cx="22852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Save to disk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4" name="Shape 25"/>
          <p:cNvSpPr/>
          <p:nvPr/>
        </p:nvSpPr>
        <p:spPr>
          <a:xfrm>
            <a:off x="2926080" y="3218760"/>
            <a:ext cx="3016800" cy="2919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26"/>
          <p:cNvSpPr/>
          <p:nvPr/>
        </p:nvSpPr>
        <p:spPr>
          <a:xfrm>
            <a:off x="2999160" y="3218760"/>
            <a:ext cx="2907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dd3fc"/>
                </a:solidFill>
                <a:latin typeface="Consolas"/>
                <a:ea typeface="Consolas"/>
              </a:rPr>
              <a:t>tpl.save('file.json')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56" name="Text 27"/>
          <p:cNvSpPr/>
          <p:nvPr/>
        </p:nvSpPr>
        <p:spPr>
          <a:xfrm>
            <a:off x="6217920" y="3163680"/>
            <a:ext cx="24681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Persist for reuse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7" name="Shape 28"/>
          <p:cNvSpPr/>
          <p:nvPr/>
        </p:nvSpPr>
        <p:spPr>
          <a:xfrm>
            <a:off x="320040" y="3602880"/>
            <a:ext cx="8503200" cy="419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29"/>
          <p:cNvSpPr/>
          <p:nvPr/>
        </p:nvSpPr>
        <p:spPr>
          <a:xfrm>
            <a:off x="457200" y="3602880"/>
            <a:ext cx="22852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Load from disk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9" name="Shape 30"/>
          <p:cNvSpPr/>
          <p:nvPr/>
        </p:nvSpPr>
        <p:spPr>
          <a:xfrm>
            <a:off x="2926080" y="3657600"/>
            <a:ext cx="3016800" cy="2919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 31"/>
          <p:cNvSpPr/>
          <p:nvPr/>
        </p:nvSpPr>
        <p:spPr>
          <a:xfrm>
            <a:off x="2999160" y="3657600"/>
            <a:ext cx="2907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dd3fc"/>
                </a:solidFill>
                <a:latin typeface="Consolas"/>
                <a:ea typeface="Consolas"/>
              </a:rPr>
              <a:t>load_prompt('file.json')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61" name="Text 32"/>
          <p:cNvSpPr/>
          <p:nvPr/>
        </p:nvSpPr>
        <p:spPr>
          <a:xfrm>
            <a:off x="6217920" y="3602880"/>
            <a:ext cx="24681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Reload saved template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2" name="Shape 33"/>
          <p:cNvSpPr/>
          <p:nvPr/>
        </p:nvSpPr>
        <p:spPr>
          <a:xfrm>
            <a:off x="320040" y="4041720"/>
            <a:ext cx="8503200" cy="4197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34"/>
          <p:cNvSpPr/>
          <p:nvPr/>
        </p:nvSpPr>
        <p:spPr>
          <a:xfrm>
            <a:off x="457200" y="4041720"/>
            <a:ext cx="22852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Build chain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4" name="Shape 35"/>
          <p:cNvSpPr/>
          <p:nvPr/>
        </p:nvSpPr>
        <p:spPr>
          <a:xfrm>
            <a:off x="2926080" y="4096440"/>
            <a:ext cx="3016800" cy="2919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36"/>
          <p:cNvSpPr/>
          <p:nvPr/>
        </p:nvSpPr>
        <p:spPr>
          <a:xfrm>
            <a:off x="2999160" y="4096440"/>
            <a:ext cx="2907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dd3fc"/>
                </a:solidFill>
                <a:latin typeface="Consolas"/>
                <a:ea typeface="Consolas"/>
              </a:rPr>
              <a:t>tpl | model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66" name="Text 37"/>
          <p:cNvSpPr/>
          <p:nvPr/>
        </p:nvSpPr>
        <p:spPr>
          <a:xfrm>
            <a:off x="6217920" y="4041720"/>
            <a:ext cx="24681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Pipe to LLM or parser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7" name="Shape 38"/>
          <p:cNvSpPr/>
          <p:nvPr/>
        </p:nvSpPr>
        <p:spPr>
          <a:xfrm>
            <a:off x="320040" y="4480560"/>
            <a:ext cx="8503200" cy="419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39"/>
          <p:cNvSpPr/>
          <p:nvPr/>
        </p:nvSpPr>
        <p:spPr>
          <a:xfrm>
            <a:off x="457200" y="4480560"/>
            <a:ext cx="22852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Run chain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9" name="Shape 40"/>
          <p:cNvSpPr/>
          <p:nvPr/>
        </p:nvSpPr>
        <p:spPr>
          <a:xfrm>
            <a:off x="2926080" y="4535280"/>
            <a:ext cx="3016800" cy="2919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41"/>
          <p:cNvSpPr/>
          <p:nvPr/>
        </p:nvSpPr>
        <p:spPr>
          <a:xfrm>
            <a:off x="2999160" y="4535280"/>
            <a:ext cx="2907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dd3fc"/>
                </a:solidFill>
                <a:latin typeface="Consolas"/>
                <a:ea typeface="Consolas"/>
              </a:rPr>
              <a:t>chain.invoke({'key':'val',...})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71" name="Text 42"/>
          <p:cNvSpPr/>
          <p:nvPr/>
        </p:nvSpPr>
        <p:spPr>
          <a:xfrm>
            <a:off x="6217920" y="4480560"/>
            <a:ext cx="24681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Fill + LLM in one call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0"/>
          <p:cNvSpPr/>
          <p:nvPr/>
        </p:nvSpPr>
        <p:spPr>
          <a:xfrm>
            <a:off x="5943600" y="-914400"/>
            <a:ext cx="5485680" cy="548568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Shape 1"/>
          <p:cNvSpPr/>
          <p:nvPr/>
        </p:nvSpPr>
        <p:spPr>
          <a:xfrm>
            <a:off x="7132320" y="2926080"/>
            <a:ext cx="2742480" cy="2742480"/>
          </a:xfrm>
          <a:prstGeom prst="ellipse">
            <a:avLst/>
          </a:prstGeom>
          <a:solidFill>
            <a:srgbClr val="312e81">
              <a:alpha val="12000"/>
            </a:srgbClr>
          </a:solidFill>
          <a:ln w="12700">
            <a:solidFill>
              <a:srgbClr val="312e81">
                <a:alpha val="1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Shape 2"/>
          <p:cNvSpPr/>
          <p:nvPr/>
        </p:nvSpPr>
        <p:spPr>
          <a:xfrm>
            <a:off x="0" y="0"/>
            <a:ext cx="182160" cy="514296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3"/>
          <p:cNvSpPr/>
          <p:nvPr/>
        </p:nvSpPr>
        <p:spPr>
          <a:xfrm>
            <a:off x="457200" y="1097280"/>
            <a:ext cx="5485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366f1"/>
                </a:solidFill>
                <a:latin typeface="Calibri"/>
                <a:ea typeface="Calibri"/>
              </a:rPr>
              <a:t>Section 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6" name="Text 4"/>
          <p:cNvSpPr/>
          <p:nvPr/>
        </p:nvSpPr>
        <p:spPr>
          <a:xfrm>
            <a:off x="457200" y="1508760"/>
            <a:ext cx="73144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000" spc="-1" strike="noStrike">
                <a:solidFill>
                  <a:srgbClr val="ffffff"/>
                </a:solidFill>
                <a:latin typeface="Calibri"/>
                <a:ea typeface="Calibri"/>
              </a:rPr>
              <a:t>Chat Applications</a:t>
            </a:r>
            <a:endParaRPr b="0" lang="en-IN" sz="5000" spc="-1" strike="noStrike">
              <a:latin typeface="Arial"/>
            </a:endParaRPr>
          </a:p>
        </p:txBody>
      </p:sp>
      <p:sp>
        <p:nvSpPr>
          <p:cNvPr id="277" name="Text 5"/>
          <p:cNvSpPr/>
          <p:nvPr/>
        </p:nvSpPr>
        <p:spPr>
          <a:xfrm>
            <a:off x="457200" y="254196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a5b4fc"/>
                </a:solidFill>
                <a:latin typeface="Calibri"/>
                <a:ea typeface="Calibri"/>
              </a:rPr>
              <a:t>&amp; Message Types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78" name="Shape 6"/>
          <p:cNvSpPr/>
          <p:nvPr/>
        </p:nvSpPr>
        <p:spPr>
          <a:xfrm>
            <a:off x="457200" y="3310200"/>
            <a:ext cx="2285280" cy="4500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 7"/>
          <p:cNvSpPr/>
          <p:nvPr/>
        </p:nvSpPr>
        <p:spPr>
          <a:xfrm>
            <a:off x="457200" y="345636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64748b"/>
                </a:solidFill>
                <a:latin typeface="Calibri"/>
                <a:ea typeface="DejaVu Sans"/>
              </a:rPr>
              <a:t>HumanMessage  •  SystemMessage  •  AIMessage  •  Chat History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0" name="Shape 8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solidFill>
            <a:srgbClr val="0611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9"/>
          <p:cNvSpPr/>
          <p:nvPr/>
        </p:nvSpPr>
        <p:spPr>
          <a:xfrm>
            <a:off x="365760" y="4773240"/>
            <a:ext cx="84117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DejaVu Sans"/>
              </a:rPr>
              <a:t>Coming up: Slides 20–28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2026-03-14T03:15:42Z</dcterms:created>
  <dc:creator>PptxGenJS</dc:creator>
  <dc:description/>
  <dc:language>en-IN</dc:language>
  <cp:lastModifiedBy/>
  <dcterms:modified xsi:type="dcterms:W3CDTF">2026-03-17T20:55:03Z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