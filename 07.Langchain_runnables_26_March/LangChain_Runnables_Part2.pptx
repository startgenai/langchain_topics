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Runnables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Guide — Part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468880"/>
            <a:ext cx="54864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743200"/>
            <a:ext cx="192024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743200"/>
            <a:ext cx="64008" cy="59436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2743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RunnableBranch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743200"/>
            <a:ext cx="192024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2743200"/>
            <a:ext cx="64008" cy="5943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1" name="Text 9"/>
          <p:cNvSpPr/>
          <p:nvPr/>
        </p:nvSpPr>
        <p:spPr>
          <a:xfrm>
            <a:off x="2670048" y="2743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RunnableLambda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192024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743200"/>
            <a:ext cx="64008" cy="59436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2743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RunnablePassthrough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2743200"/>
            <a:ext cx="192024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0" y="2743200"/>
            <a:ext cx="64008" cy="59436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7" name="Text 15"/>
          <p:cNvSpPr/>
          <p:nvPr/>
        </p:nvSpPr>
        <p:spPr>
          <a:xfrm>
            <a:off x="7059168" y="2743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Deep Dive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 | Custom Functions | Pass-Forward | Pipe Syntax Mastery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Primitive 3: RunnableBranch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621792"/>
            <a:ext cx="877824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621792"/>
            <a:ext cx="64008" cy="68580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13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713232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conditional (if/elif/else) logic for Runnables. Routes the input to different chains based on condition functions. The first matching condition is executed; if none match, a default is used.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82880" y="1508760"/>
            <a:ext cx="13716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" y="1508760"/>
            <a:ext cx="1371600" cy="9144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1600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20240" y="1463040"/>
            <a:ext cx="1463040" cy="731520"/>
          </a:xfrm>
          <a:prstGeom prst="rect">
            <a:avLst/>
          </a:prstGeom>
          <a:solidFill>
            <a:srgbClr val="1A2840"/>
          </a:solidFill>
          <a:ln/>
        </p:spPr>
      </p:sp>
      <p:sp>
        <p:nvSpPr>
          <p:cNvPr id="12" name="Shape 10"/>
          <p:cNvSpPr/>
          <p:nvPr/>
        </p:nvSpPr>
        <p:spPr>
          <a:xfrm>
            <a:off x="1920240" y="1463040"/>
            <a:ext cx="146304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RunnableBranch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Check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572768" y="1801368"/>
            <a:ext cx="329184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hape 13"/>
          <p:cNvSpPr/>
          <p:nvPr/>
        </p:nvSpPr>
        <p:spPr>
          <a:xfrm>
            <a:off x="3401568" y="1353312"/>
            <a:ext cx="36576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3794760" y="1325880"/>
            <a:ext cx="1554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3794760" y="1325880"/>
            <a:ext cx="1554480" cy="9144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1417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94760" y="16733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chain_a executes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67528" y="1627632"/>
            <a:ext cx="347472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5733288" y="1417320"/>
            <a:ext cx="1371600" cy="457200"/>
          </a:xfrm>
          <a:prstGeom prst="rect">
            <a:avLst/>
          </a:prstGeom>
          <a:solidFill>
            <a:srgbClr val="0D2A1A"/>
          </a:solidFill>
          <a:ln/>
        </p:spPr>
      </p:sp>
      <p:sp>
        <p:nvSpPr>
          <p:cNvPr id="22" name="Text 20"/>
          <p:cNvSpPr/>
          <p:nvPr/>
        </p:nvSpPr>
        <p:spPr>
          <a:xfrm>
            <a:off x="5733288" y="1417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01568" y="1993392"/>
            <a:ext cx="36576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3794760" y="1965960"/>
            <a:ext cx="1554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3794760" y="1965960"/>
            <a:ext cx="1554480" cy="9144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2313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chain_b executes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67528" y="2267712"/>
            <a:ext cx="347472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9" name="Shape 27"/>
          <p:cNvSpPr/>
          <p:nvPr/>
        </p:nvSpPr>
        <p:spPr>
          <a:xfrm>
            <a:off x="5733288" y="2057400"/>
            <a:ext cx="1371600" cy="457200"/>
          </a:xfrm>
          <a:prstGeom prst="rect">
            <a:avLst/>
          </a:prstGeom>
          <a:solidFill>
            <a:srgbClr val="0D2A1A"/>
          </a:solidFill>
          <a:ln/>
        </p:spPr>
      </p:sp>
      <p:sp>
        <p:nvSpPr>
          <p:cNvPr id="30" name="Text 28"/>
          <p:cNvSpPr/>
          <p:nvPr/>
        </p:nvSpPr>
        <p:spPr>
          <a:xfrm>
            <a:off x="5733288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01568" y="2633472"/>
            <a:ext cx="36576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Shape 30"/>
          <p:cNvSpPr/>
          <p:nvPr/>
        </p:nvSpPr>
        <p:spPr>
          <a:xfrm>
            <a:off x="3794760" y="2606040"/>
            <a:ext cx="1554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3794760" y="2606040"/>
            <a:ext cx="1554480" cy="914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4" name="Text 32"/>
          <p:cNvSpPr/>
          <p:nvPr/>
        </p:nvSpPr>
        <p:spPr>
          <a:xfrm>
            <a:off x="3794760" y="2697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(else)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94760" y="29535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chain_default executes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67528" y="2907792"/>
            <a:ext cx="347472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7" name="Shape 35"/>
          <p:cNvSpPr/>
          <p:nvPr/>
        </p:nvSpPr>
        <p:spPr>
          <a:xfrm>
            <a:off x="5733288" y="2697480"/>
            <a:ext cx="1371600" cy="457200"/>
          </a:xfrm>
          <a:prstGeom prst="rect">
            <a:avLst/>
          </a:prstGeom>
          <a:solidFill>
            <a:srgbClr val="0D2A1A"/>
          </a:solidFill>
          <a:ln/>
        </p:spPr>
      </p:sp>
      <p:sp>
        <p:nvSpPr>
          <p:cNvPr id="38" name="Text 36"/>
          <p:cNvSpPr/>
          <p:nvPr/>
        </p:nvSpPr>
        <p:spPr>
          <a:xfrm>
            <a:off x="5733288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83280" y="1353312"/>
            <a:ext cx="36576" cy="13716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0" name="Shape 38"/>
          <p:cNvSpPr/>
          <p:nvPr/>
        </p:nvSpPr>
        <p:spPr>
          <a:xfrm>
            <a:off x="7269480" y="1298448"/>
            <a:ext cx="1691640" cy="2103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7269480" y="13258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287768" y="1737360"/>
            <a:ext cx="1645920" cy="34747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3" name="Shape 41"/>
          <p:cNvSpPr/>
          <p:nvPr/>
        </p:nvSpPr>
        <p:spPr>
          <a:xfrm>
            <a:off x="7287768" y="1737360"/>
            <a:ext cx="45720" cy="34747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4" name="Text 42"/>
          <p:cNvSpPr/>
          <p:nvPr/>
        </p:nvSpPr>
        <p:spPr>
          <a:xfrm>
            <a:off x="7370064" y="1737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routing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287768" y="2139696"/>
            <a:ext cx="1645920" cy="34747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6" name="Shape 44"/>
          <p:cNvSpPr/>
          <p:nvPr/>
        </p:nvSpPr>
        <p:spPr>
          <a:xfrm>
            <a:off x="7287768" y="2139696"/>
            <a:ext cx="45720" cy="34747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7" name="Text 45"/>
          <p:cNvSpPr/>
          <p:nvPr/>
        </p:nvSpPr>
        <p:spPr>
          <a:xfrm>
            <a:off x="7370064" y="21396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length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&amp; summarize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87768" y="2542032"/>
            <a:ext cx="1645920" cy="34747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9" name="Shape 47"/>
          <p:cNvSpPr/>
          <p:nvPr/>
        </p:nvSpPr>
        <p:spPr>
          <a:xfrm>
            <a:off x="7287768" y="2542032"/>
            <a:ext cx="45720" cy="34747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0" name="Text 48"/>
          <p:cNvSpPr/>
          <p:nvPr/>
        </p:nvSpPr>
        <p:spPr>
          <a:xfrm>
            <a:off x="7370064" y="2542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Sentiment-based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paths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287768" y="2944368"/>
            <a:ext cx="1645920" cy="34747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52" name="Shape 50"/>
          <p:cNvSpPr/>
          <p:nvPr/>
        </p:nvSpPr>
        <p:spPr>
          <a:xfrm>
            <a:off x="7287768" y="2944368"/>
            <a:ext cx="45720" cy="34747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3" name="Text 51"/>
          <p:cNvSpPr/>
          <p:nvPr/>
        </p:nvSpPr>
        <p:spPr>
          <a:xfrm>
            <a:off x="7370064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82880" y="3547872"/>
            <a:ext cx="877824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182880" y="3547872"/>
            <a:ext cx="45720" cy="38404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6" name="Text 54"/>
          <p:cNvSpPr/>
          <p:nvPr/>
        </p:nvSpPr>
        <p:spPr>
          <a:xfrm>
            <a:off x="292608" y="354787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Syntax: RunnableBranch((condition_fn, chain_if_true), ..., default_chain)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82880" y="4023360"/>
            <a:ext cx="8778240" cy="384048"/>
          </a:xfrm>
          <a:prstGeom prst="rect">
            <a:avLst/>
          </a:prstGeom>
          <a:solidFill>
            <a:srgbClr val="131F2E"/>
          </a:solidFill>
          <a:ln/>
        </p:spPr>
      </p:sp>
      <p:sp>
        <p:nvSpPr>
          <p:cNvPr id="58" name="Shape 56"/>
          <p:cNvSpPr/>
          <p:nvPr/>
        </p:nvSpPr>
        <p:spPr>
          <a:xfrm>
            <a:off x="182880" y="4023360"/>
            <a:ext cx="45720" cy="38404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9" name="Text 57"/>
          <p:cNvSpPr/>
          <p:nvPr/>
        </p:nvSpPr>
        <p:spPr>
          <a:xfrm>
            <a:off x="292608" y="40233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Condition function receives the output from the previous Runnable and returns True/False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82880" y="4498848"/>
            <a:ext cx="877824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Shape 59"/>
          <p:cNvSpPr/>
          <p:nvPr/>
        </p:nvSpPr>
        <p:spPr>
          <a:xfrm>
            <a:off x="182880" y="4498848"/>
            <a:ext cx="45720" cy="38404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2" name="Text 60"/>
          <p:cNvSpPr/>
          <p:nvPr/>
        </p:nvSpPr>
        <p:spPr>
          <a:xfrm>
            <a:off x="292608" y="44988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 matching condition wins — subsequent conditions are not evaluated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RunnableBranch — Code: Auto-Summarize if Report &gt; 300 Words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55321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594360"/>
            <a:ext cx="55321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594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smart_report.py  —  Auto-summarize long reports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" y="94183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292608" y="1058875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langchain_core.prompts import PromptTemplate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92608" y="117591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langchain_core.output_parsers import StrOutputParser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92608" y="129296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langchain_core.runnables import (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92608" y="1410005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RunnableSequence, RunnablePassthrough, RunnableBranch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92608" y="152704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92608" y="1644091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92608" y="1761134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 1: generate full report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92608" y="187817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prompt_report = PromptTemplate(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92608" y="1995221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template='Write a detailed report on {subject}',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92608" y="2112264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input_variables=['subject'])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92608" y="2229307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92608" y="2346350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 2: summarize if too long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92608" y="2463394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prompt_summary = PromptTemplate(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92608" y="2580437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template='Summarize the following text:\n{content}',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92608" y="2697480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input_variables=['content'])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292608" y="2814523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292608" y="2931566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my_model, my_parser = ChatOpenAI(), StrOutputParser()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92608" y="3048610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292608" y="3165653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Build initial report chain (LCEL syntax)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292608" y="3282696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report_chain = prompt_report | my_model | my_parser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292608" y="3399739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292608" y="351678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Branch — summarize if &gt;300 words, else pass through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292608" y="3633826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branch_chain = RunnableBranch(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292608" y="3750869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(lambda doc: len(doc.split()) &gt; 300,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292608" y="386791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prompt_summary | my_model | my_parser),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292608" y="3984955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RunnablePassthrough()  # default: return as-is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292608" y="410199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292608" y="421904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292608" y="4336085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Final pipeline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292608" y="445312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final_pipeline = report_chain | branch_chain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292608" y="4570171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print(final_pipeline.invoke({'subject': 'climate change'}))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5897880" y="594360"/>
            <a:ext cx="3063240" cy="4251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035040" y="6858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Walkthrough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943600" y="1170432"/>
            <a:ext cx="2880360" cy="75895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2" name="Shape 40"/>
          <p:cNvSpPr/>
          <p:nvPr/>
        </p:nvSpPr>
        <p:spPr>
          <a:xfrm>
            <a:off x="5943600" y="1170432"/>
            <a:ext cx="54864" cy="758952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43" name="Text 41"/>
          <p:cNvSpPr/>
          <p:nvPr/>
        </p:nvSpPr>
        <p:spPr>
          <a:xfrm>
            <a:off x="6053328" y="11887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User provides subject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53328" y="143560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{'subject': 'climate change'}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0" y="2057400"/>
            <a:ext cx="2880360" cy="75895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6" name="Shape 44"/>
          <p:cNvSpPr/>
          <p:nvPr/>
        </p:nvSpPr>
        <p:spPr>
          <a:xfrm>
            <a:off x="5943600" y="2057400"/>
            <a:ext cx="54864" cy="75895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47" name="Text 45"/>
          <p:cNvSpPr/>
          <p:nvPr/>
        </p:nvSpPr>
        <p:spPr>
          <a:xfrm>
            <a:off x="6053328" y="207568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report_chain runs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053328" y="232257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full report as a string via LLM + parser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43600" y="2944368"/>
            <a:ext cx="2880360" cy="75895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50" name="Shape 48"/>
          <p:cNvSpPr/>
          <p:nvPr/>
        </p:nvSpPr>
        <p:spPr>
          <a:xfrm>
            <a:off x="5943600" y="2944368"/>
            <a:ext cx="54864" cy="75895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1" name="Text 49"/>
          <p:cNvSpPr/>
          <p:nvPr/>
        </p:nvSpPr>
        <p:spPr>
          <a:xfrm>
            <a:off x="6053328" y="29626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branch_chain checks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053328" y="3209544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len(report.split()) &gt; 300 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summarize. If NO → pass through.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943600" y="3831336"/>
            <a:ext cx="2880360" cy="758952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54" name="Shape 52"/>
          <p:cNvSpPr/>
          <p:nvPr/>
        </p:nvSpPr>
        <p:spPr>
          <a:xfrm>
            <a:off x="5943600" y="3831336"/>
            <a:ext cx="54864" cy="75895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55" name="Text 53"/>
          <p:cNvSpPr/>
          <p:nvPr/>
        </p:nvSpPr>
        <p:spPr>
          <a:xfrm>
            <a:off x="6053328" y="384962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Output returned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053328" y="409651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the original report or a concise summary depending on length.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Primitive 4: RunnableLambda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621792"/>
            <a:ext cx="877824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621792"/>
            <a:ext cx="64008" cy="6858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13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713232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any Python function (regular or lambda) into a Runnable. Once wrapped, it plugs directly into any chain — enabling custom preprocessing, transformation, filtering, or post-processing within a LangChain pipeline.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82880" y="1481328"/>
            <a:ext cx="8778240" cy="9601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600200"/>
            <a:ext cx="2011680" cy="65836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609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Python Fn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847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count_words(text):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len(text.split())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95728" y="1737360"/>
            <a:ext cx="2286000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1490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RunnableLambda(count_words)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7171"/>
                </a:solidFill>
              </a:rPr>
              <a:t>▶▶▶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600200"/>
            <a:ext cx="2286000" cy="658368"/>
          </a:xfrm>
          <a:prstGeom prst="rect">
            <a:avLst/>
          </a:prstGeom>
          <a:solidFill>
            <a:srgbClr val="2A0F1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6093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RunnableLambda  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847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 .invoke()  — can chain!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count_words | my_model | ...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651760"/>
            <a:ext cx="4343400" cy="87782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651760"/>
            <a:ext cx="4343400" cy="73152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761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" y="303580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HTML, remove emojis, lowercase, lemmatize — clean raw data before sending to LLM.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651760"/>
            <a:ext cx="4343400" cy="87782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651760"/>
            <a:ext cx="4343400" cy="7315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2761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303580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words in output to drive downstream logic (e.g. feed into RunnableBranch condition).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3657600"/>
            <a:ext cx="4343400" cy="87782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3657600"/>
            <a:ext cx="4343400" cy="7315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767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" y="404164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LLM output into a specific dict structure, JSON, or any custom format.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4343400" cy="87782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657600"/>
            <a:ext cx="4343400" cy="7315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32" name="Text 30"/>
          <p:cNvSpPr/>
          <p:nvPr/>
        </p:nvSpPr>
        <p:spPr>
          <a:xfrm>
            <a:off x="4828032" y="3767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28032" y="404164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 external API call (database lookup, REST call) as a Runnable step in the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RunnableLambda — Code: Content + Word Count Pipeline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4114800" cy="2148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594360"/>
            <a:ext cx="411480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59436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basic_lambda.py  —  Wrapping a function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932688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langchain_core.runnables import RunnableLambda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292608" y="1054303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92608" y="1175918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a regular Python function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92608" y="1297534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count_tokens(text):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92608" y="1419149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len(text.split())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92608" y="1540764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92608" y="1662379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Wrap it as a Runnable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92608" y="1783994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runnable_counter = RunnableLambda(count_tokens)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92608" y="1905610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92608" y="2027225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 it has .invoke()!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92608" y="2148840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runnable_counter.invoke('Hello world AI')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92608" y="2270455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print(output)  # prints: 3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92608" y="2392070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92608" y="2513686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shorthand (cleaner)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92608" y="2635301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quick_count = RunnableLambda(lambda x: len(x.split()))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846320" y="594360"/>
            <a:ext cx="4114800" cy="2148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594360"/>
            <a:ext cx="411480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59436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lambda_pipeline.py  —  Custom step in a chain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56048" y="932688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956048" y="1054303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langchain_core.prompts import PromptTemplate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956048" y="1175918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langchain_core.output_parsers import StrOutputParser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956048" y="1297534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langchain_core.runnables import (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956048" y="1419149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RunnableSequence, RunnableLambda, RunnableParallel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956048" y="1540764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956048" y="1662379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4956048" y="1783994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my_prompt = PromptTemplate(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4956048" y="1905610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template='Generate a story about {theme}',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4956048" y="2027225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input_variables=['theme'])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4956048" y="2148840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my_model, my_parser = ChatOpenAI(), StrOutputParser()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4956048" y="2270455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4956048" y="2392070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as a chain step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4956048" y="2513686"/>
            <a:ext cx="3913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word_count_fn = RunnableLambda(lambda x: len(x.split()))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182880" y="2834640"/>
            <a:ext cx="8778240" cy="20116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" y="2834640"/>
            <a:ext cx="877824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1" name="Text 39"/>
          <p:cNvSpPr/>
          <p:nvPr/>
        </p:nvSpPr>
        <p:spPr>
          <a:xfrm>
            <a:off x="292608" y="2834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full_pipeline.py  —  Story generator with word count (Parallel + Lambda + PassThrough)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92608" y="3163824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Generation chain (sequential)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292608" y="328726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story_chain = my_prompt | my_model | my_parser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292608" y="3410712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292608" y="353415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Parallel chain: preserve story AND compute word count side-by-side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292608" y="3657600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langchain_core.runnables import RunnablePassthrough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292608" y="3781044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enrich_chain = RunnableParallel({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292608" y="390448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'story'      : RunnablePassthrough(),     # forward the story text unchanged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292608" y="4027932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'word_count' : RunnableLambda(lambda x: len(x.split()))  # count words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292608" y="415137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292608" y="4274820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292608" y="4398264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final_chain  = story_chain | enrich_chain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292608" y="452170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final_result = final_chain.invoke({'theme': 'space exploration'})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292608" y="4645152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print(final_result['story'])        # the story text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292608" y="476859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print(final_result['word_count'])   # e.g.  47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Primitive 5: RunnablePassthrough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621792"/>
            <a:ext cx="877824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621792"/>
            <a:ext cx="64008" cy="68580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13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713232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no-op Runnable that simply forwards its input as its output unchanged. Used as a placeholder in parallel branches to preserve the original value while other branches transform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82880" y="1481328"/>
            <a:ext cx="8778240" cy="12801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RunnablePassthrough 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11887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745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AI"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72768" y="2121408"/>
            <a:ext cx="82296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1783080"/>
            <a:ext cx="1554480" cy="731520"/>
          </a:xfrm>
          <a:prstGeom prst="rect">
            <a:avLst/>
          </a:prstGeom>
          <a:solidFill>
            <a:srgbClr val="0F2A1A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1783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Passthrough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05072" y="2121408"/>
            <a:ext cx="82296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1874520"/>
            <a:ext cx="11887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8745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AI"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3957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Same value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847088"/>
            <a:ext cx="12801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84708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{'user': 'Alice'}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24928" y="2121408"/>
            <a:ext cx="32004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0" y="1847088"/>
            <a:ext cx="1188720" cy="594360"/>
          </a:xfrm>
          <a:prstGeom prst="rect">
            <a:avLst/>
          </a:prstGeom>
          <a:solidFill>
            <a:srgbClr val="0F2A1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184708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{'user': 'Alice'}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RunnablePassthrough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82880" y="3337560"/>
            <a:ext cx="877824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182880" y="3337560"/>
            <a:ext cx="64008" cy="420624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3375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original in Parallel: 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94560" y="3337560"/>
            <a:ext cx="6629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RunnableParallel, use PassThrough in one branch to keep the raw value while other branches transform it.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2880" y="3849624"/>
            <a:ext cx="8778240" cy="420624"/>
          </a:xfrm>
          <a:prstGeom prst="rect">
            <a:avLst/>
          </a:prstGeom>
          <a:solidFill>
            <a:srgbClr val="131F2E"/>
          </a:solidFill>
          <a:ln/>
        </p:spPr>
      </p:sp>
      <p:sp>
        <p:nvSpPr>
          <p:cNvPr id="31" name="Shape 29"/>
          <p:cNvSpPr/>
          <p:nvPr/>
        </p:nvSpPr>
        <p:spPr>
          <a:xfrm>
            <a:off x="182880" y="3849624"/>
            <a:ext cx="64008" cy="42062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84962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/ Identity step:  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94560" y="3849624"/>
            <a:ext cx="6629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the default case in RunnableBranch to return input unchanged when no condition matches.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" y="4361688"/>
            <a:ext cx="8778240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" y="4361688"/>
            <a:ext cx="64008" cy="42062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36168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routing:  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94560" y="4361688"/>
            <a:ext cx="6629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intermediate results to multiple downstream steps without modification.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RunnablePassthrough — Code: Joke + Word Count Side-by-Side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5303520" cy="42519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594360"/>
            <a:ext cx="53035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594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passthrough_demo.py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941832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292608" y="1057961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langchain_core.prompts import PromptTemplate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92608" y="1174090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langchain_core.output_parsers import StrOutputParser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92608" y="129021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langchain_core.runnables import (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92608" y="1406347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RunnableSequence, RunnableParallel,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92608" y="1522476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RunnableLambda, RunnablePassthrough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92608" y="1638605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92608" y="1754734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92608" y="1870862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Demonstrate passthrough behaviour first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92608" y="1986991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 = RunnablePassthrough()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92608" y="2103120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print(relay.invoke('test input'))     # 'test input'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92608" y="2219249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print(relay.invoke({'key': 'value'})) # {'key': 'value'}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92608" y="233537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92608" y="2451506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 build the full pipeline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92608" y="2567635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my_prompt = PromptTemplate(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92608" y="2683764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template='Tell a short joke about {subject}',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292608" y="2799893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input_variables=['subject'])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292608" y="2916022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my_model, my_parser = ChatOpenAI(), StrOutputParser()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92608" y="3032150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292608" y="3148279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Sequential: generate the joke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292608" y="326440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joke_chain = my_prompt | my_model | my_parser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292608" y="3380537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292608" y="3496666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Parallel: preserve joke + count words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292608" y="3612794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augment_chain = RunnableParallel({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292608" y="3728923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'joke'       : RunnablePassthrough(),  # keeps joke text as-is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292608" y="3845052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'word_count' : RunnableLambda(lambda x: len(x.split()))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292608" y="3961181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292608" y="4077310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292608" y="419343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full_chain   = joke_chain | augment_chain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292608" y="4309567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        = full_chain.invoke({'subject': 'programming'})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292608" y="4425696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print(data['joke'])         # joke text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292608" y="4541825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print(data['word_count'])   # number of words, e.g. 22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5669280" y="594360"/>
            <a:ext cx="3291840" cy="4251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5806440" y="6858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Architecture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10972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Joke Generation Chain: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06440" y="1170432"/>
            <a:ext cx="2971800" cy="41148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3" name="Shape 41"/>
          <p:cNvSpPr/>
          <p:nvPr/>
        </p:nvSpPr>
        <p:spPr>
          <a:xfrm>
            <a:off x="5806440" y="1170432"/>
            <a:ext cx="64008" cy="41148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44" name="Text 42"/>
          <p:cNvSpPr/>
          <p:nvPr/>
        </p:nvSpPr>
        <p:spPr>
          <a:xfrm>
            <a:off x="5925312" y="11704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my_prompt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36792" y="1600200"/>
            <a:ext cx="36576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6" name="Shape 44"/>
          <p:cNvSpPr/>
          <p:nvPr/>
        </p:nvSpPr>
        <p:spPr>
          <a:xfrm>
            <a:off x="5806440" y="1691640"/>
            <a:ext cx="2971800" cy="41148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47" name="Shape 45"/>
          <p:cNvSpPr/>
          <p:nvPr/>
        </p:nvSpPr>
        <p:spPr>
          <a:xfrm>
            <a:off x="5806440" y="1691640"/>
            <a:ext cx="64008" cy="41148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48" name="Text 46"/>
          <p:cNvSpPr/>
          <p:nvPr/>
        </p:nvSpPr>
        <p:spPr>
          <a:xfrm>
            <a:off x="5925312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my_model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36792" y="2121408"/>
            <a:ext cx="36576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0" name="Shape 48"/>
          <p:cNvSpPr/>
          <p:nvPr/>
        </p:nvSpPr>
        <p:spPr>
          <a:xfrm>
            <a:off x="5806440" y="2212848"/>
            <a:ext cx="2971800" cy="41148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51" name="Shape 49"/>
          <p:cNvSpPr/>
          <p:nvPr/>
        </p:nvSpPr>
        <p:spPr>
          <a:xfrm>
            <a:off x="5806440" y="2212848"/>
            <a:ext cx="64008" cy="41148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52" name="Text 50"/>
          <p:cNvSpPr/>
          <p:nvPr/>
        </p:nvSpPr>
        <p:spPr>
          <a:xfrm>
            <a:off x="5925312" y="22128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my_parser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806440" y="28803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(Parallel):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806440" y="3127248"/>
            <a:ext cx="1371600" cy="502920"/>
          </a:xfrm>
          <a:prstGeom prst="rect">
            <a:avLst/>
          </a:prstGeom>
          <a:solidFill>
            <a:srgbClr val="0F2A1A"/>
          </a:solidFill>
          <a:ln/>
        </p:spPr>
      </p:sp>
      <p:sp>
        <p:nvSpPr>
          <p:cNvPr id="55" name="Shape 53"/>
          <p:cNvSpPr/>
          <p:nvPr/>
        </p:nvSpPr>
        <p:spPr>
          <a:xfrm>
            <a:off x="5806440" y="3127248"/>
            <a:ext cx="64008" cy="50292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56" name="Text 54"/>
          <p:cNvSpPr/>
          <p:nvPr/>
        </p:nvSpPr>
        <p:spPr>
          <a:xfrm>
            <a:off x="5916168" y="312724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Passthrough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joke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315200" y="3127248"/>
            <a:ext cx="1508760" cy="502920"/>
          </a:xfrm>
          <a:prstGeom prst="rect">
            <a:avLst/>
          </a:prstGeom>
          <a:solidFill>
            <a:srgbClr val="2A1A0F"/>
          </a:solidFill>
          <a:ln/>
        </p:spPr>
      </p:sp>
      <p:sp>
        <p:nvSpPr>
          <p:cNvPr id="58" name="Shape 56"/>
          <p:cNvSpPr/>
          <p:nvPr/>
        </p:nvSpPr>
        <p:spPr>
          <a:xfrm>
            <a:off x="7315200" y="3127248"/>
            <a:ext cx="64008" cy="5029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9" name="Text 57"/>
          <p:cNvSpPr/>
          <p:nvPr/>
        </p:nvSpPr>
        <p:spPr>
          <a:xfrm>
            <a:off x="7424928" y="31272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word_count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806440" y="3749040"/>
            <a:ext cx="2971800" cy="5486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61" name="Text 59"/>
          <p:cNvSpPr/>
          <p:nvPr/>
        </p:nvSpPr>
        <p:spPr>
          <a:xfrm>
            <a:off x="589788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{'joke': '...', 'word_count': 22}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Runnable Primitives — Quick Reference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8778240" cy="76809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658368"/>
            <a:ext cx="73152" cy="768096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859536"/>
            <a:ext cx="365760" cy="365760"/>
          </a:xfrm>
          <a:prstGeom prst="ellipse">
            <a:avLst/>
          </a:prstGeom>
          <a:solidFill>
            <a:srgbClr val="6EE7B7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859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713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RunnableSequence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1024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runnables one after another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768096"/>
            <a:ext cx="347472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3127248" y="76809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| R2 | R3  or  RunnableSequence(R1, R2, R3)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29400" y="768096"/>
            <a:ext cx="2194560" cy="5486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768096"/>
            <a:ext cx="54864" cy="54864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7680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— the backbone of every pipeline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1517904"/>
            <a:ext cx="8778240" cy="76809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1517904"/>
            <a:ext cx="73152" cy="768096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" y="1719072"/>
            <a:ext cx="365760" cy="365760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RunnableParallel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1883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branches on same input concurrently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63240" y="1627632"/>
            <a:ext cx="347472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2" name="Text 20"/>
          <p:cNvSpPr/>
          <p:nvPr/>
        </p:nvSpPr>
        <p:spPr>
          <a:xfrm>
            <a:off x="3127248" y="162763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RunnableParallel({'key1': chain1, 'key2': chain2})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1627632"/>
            <a:ext cx="2194560" cy="5486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24" name="Shape 22"/>
          <p:cNvSpPr/>
          <p:nvPr/>
        </p:nvSpPr>
        <p:spPr>
          <a:xfrm>
            <a:off x="6629400" y="1627632"/>
            <a:ext cx="54864" cy="54864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6276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Multi-output: tweet + linkedin post, joke + explanation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2377440"/>
            <a:ext cx="8778240" cy="76809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2377440"/>
            <a:ext cx="73152" cy="76809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8" name="Shape 26"/>
          <p:cNvSpPr/>
          <p:nvPr/>
        </p:nvSpPr>
        <p:spPr>
          <a:xfrm>
            <a:off x="292608" y="2578608"/>
            <a:ext cx="365760" cy="36576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" y="24323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RunnableBranch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 (if/elif/else logic)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63240" y="2487168"/>
            <a:ext cx="347472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3" name="Text 31"/>
          <p:cNvSpPr/>
          <p:nvPr/>
        </p:nvSpPr>
        <p:spPr>
          <a:xfrm>
            <a:off x="3127248" y="2487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RunnableBranch((cond_fn, chain), ..., default)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2487168"/>
            <a:ext cx="2194560" cy="5486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5" name="Shape 33"/>
          <p:cNvSpPr/>
          <p:nvPr/>
        </p:nvSpPr>
        <p:spPr>
          <a:xfrm>
            <a:off x="6629400" y="2487168"/>
            <a:ext cx="54864" cy="5486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24871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long reports, route by sentiment/category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2880" y="3236976"/>
            <a:ext cx="8778240" cy="76809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82880" y="3236976"/>
            <a:ext cx="73152" cy="7680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9" name="Shape 37"/>
          <p:cNvSpPr/>
          <p:nvPr/>
        </p:nvSpPr>
        <p:spPr>
          <a:xfrm>
            <a:off x="292608" y="3438144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0" name="Text 38"/>
          <p:cNvSpPr/>
          <p:nvPr/>
        </p:nvSpPr>
        <p:spPr>
          <a:xfrm>
            <a:off x="292608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λ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49808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RunnableLambda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49808" y="3602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any Python function as a Runnable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063240" y="3346704"/>
            <a:ext cx="347472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4" name="Text 42"/>
          <p:cNvSpPr/>
          <p:nvPr/>
        </p:nvSpPr>
        <p:spPr>
          <a:xfrm>
            <a:off x="3127248" y="334670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RunnableLambda(my_fn)  or  RunnableLambda(lambda x: ...)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29400" y="3346704"/>
            <a:ext cx="2194560" cy="5486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6" name="Shape 44"/>
          <p:cNvSpPr/>
          <p:nvPr/>
        </p:nvSpPr>
        <p:spPr>
          <a:xfrm>
            <a:off x="6629400" y="3346704"/>
            <a:ext cx="54864" cy="5486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7" name="Text 45"/>
          <p:cNvSpPr/>
          <p:nvPr/>
        </p:nvSpPr>
        <p:spPr>
          <a:xfrm>
            <a:off x="6720840" y="334670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word count, data formatting, API calls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82880" y="4096512"/>
            <a:ext cx="8778240" cy="76809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82880" y="4096512"/>
            <a:ext cx="73152" cy="768096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50" name="Shape 48"/>
          <p:cNvSpPr/>
          <p:nvPr/>
        </p:nvSpPr>
        <p:spPr>
          <a:xfrm>
            <a:off x="292608" y="4297680"/>
            <a:ext cx="365760" cy="365760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51" name="Text 49"/>
          <p:cNvSpPr/>
          <p:nvPr/>
        </p:nvSpPr>
        <p:spPr>
          <a:xfrm>
            <a:off x="292608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⊙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49808" y="4151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RunnablePassthrough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49808" y="4462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input as output without any change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063240" y="4206240"/>
            <a:ext cx="347472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5" name="Text 53"/>
          <p:cNvSpPr/>
          <p:nvPr/>
        </p:nvSpPr>
        <p:spPr>
          <a:xfrm>
            <a:off x="3127248" y="42062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RunnablePassthrough()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629400" y="4206240"/>
            <a:ext cx="2194560" cy="5486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57" name="Shape 55"/>
          <p:cNvSpPr/>
          <p:nvPr/>
        </p:nvSpPr>
        <p:spPr>
          <a:xfrm>
            <a:off x="6629400" y="4206240"/>
            <a:ext cx="54864" cy="5486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58" name="Text 56"/>
          <p:cNvSpPr/>
          <p:nvPr/>
        </p:nvSpPr>
        <p:spPr>
          <a:xfrm>
            <a:off x="672084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original value in parallel chains, default in Branch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— LangChain Expression Language: Complete Syntax Guide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8778240" cy="42519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594360"/>
            <a:ext cx="87782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5943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lcel_complete.py  —  All LCEL patterns in one file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941832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292608" y="1082650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langchain_core.prompts import PromptTemplate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292608" y="1223467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langchain_core.output_parsers import StrOutputParser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292608" y="1364285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langchain_core.runnables import RunnableParallel, RunnableBranch, RunnableLambda, RunnablePassthrough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292608" y="1505102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292608" y="1645920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my_prompt_a  = PromptTemplate(template='Explain {concept} in simple terms', input_variables=['concept'])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292608" y="1786738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my_prompt_b  = PromptTemplate(template='Give examples of: {content}', input_variables=['content'])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292608" y="1927555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my_model, my_parser = ChatOpenAI(), StrOutputParser()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292608" y="2068373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292608" y="2209190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Pattern 1: Simple sequential chain using LCEL pipe ──────────────────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292608" y="2350008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basic_chain  = my_prompt_a | my_model | my_parser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292608" y="249082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292608" y="2631643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Pattern 2: Parallel branches  ──────────────────────────────────────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292608" y="2772461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    = RunnableParallel({'explanation': basic_chain, 'examples': my_prompt_b | my_model | my_parser})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292608" y="2913278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292608" y="305409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Pattern 3: Branch (conditional) ────────────────────────────────────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292608" y="319491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      = RunnableBranch(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292608" y="3335731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(lambda txt: len(txt.split()) &gt; 200, my_prompt_b | my_model | my_parser),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292608" y="3476549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RunnablePassthrough())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292608" y="361736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292608" y="375818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Pattern 4: Lambda inline ────────────────────────────────────────────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292608" y="3899002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with_count   = RunnableParallel({'text': RunnablePassthrough(), 'words': RunnableLambda(lambda x: len(x.split()))})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292608" y="4039819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292608" y="4180637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Pattern 5: Composing all patterns together ──────────────────────────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292608" y="4321454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master_chain = basic_chain | branch | with_count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292608" y="4462272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292608" y="4603090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     = master_chain.invoke({'concept': 'neural networks'})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292608" y="4743907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print(output['text'])     # final text (full or summarized)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292608" y="4884725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print(output['words'])    # word count of final output</a:t>
            </a:r>
            <a:endParaRPr lang="en-US" sz="9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Summary — LangChain Runnables Mastery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667512"/>
            <a:ext cx="283464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667512"/>
            <a:ext cx="2834640" cy="6400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822960"/>
            <a:ext cx="384048" cy="38404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8503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289304"/>
            <a:ext cx="257860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LangChain components inherit the Runnable abstract class and implement .invoke() — eliminating inconsistent APIs.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667512"/>
            <a:ext cx="283464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667512"/>
            <a:ext cx="2834640" cy="64008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2" name="Shape 10"/>
          <p:cNvSpPr/>
          <p:nvPr/>
        </p:nvSpPr>
        <p:spPr>
          <a:xfrm>
            <a:off x="3264408" y="822960"/>
            <a:ext cx="384048" cy="384048"/>
          </a:xfrm>
          <a:prstGeom prst="ellipse">
            <a:avLst/>
          </a:prstGeom>
          <a:solidFill>
            <a:srgbClr val="6EE7B7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21608" y="8503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RunnableSequence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289304"/>
            <a:ext cx="257860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| R2 | R3  — the backbone of every chain. Output of each step feeds the next.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667512"/>
            <a:ext cx="283464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667512"/>
            <a:ext cx="2834640" cy="64008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6208" y="822960"/>
            <a:ext cx="384048" cy="384048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93408" y="8503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RunnableParallel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289304"/>
            <a:ext cx="257860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chains on the same input simultaneously. Returns a dict of named results.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2816352"/>
            <a:ext cx="283464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2816352"/>
            <a:ext cx="2834640" cy="6400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92608" y="2971800"/>
            <a:ext cx="384048" cy="384048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29992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RunnableBranch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" y="3438144"/>
            <a:ext cx="257860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 like if/elif/else. First matching lambda condition triggers its chain.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54680" y="2816352"/>
            <a:ext cx="283464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816352"/>
            <a:ext cx="2834640" cy="6400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0" name="Shape 28"/>
          <p:cNvSpPr/>
          <p:nvPr/>
        </p:nvSpPr>
        <p:spPr>
          <a:xfrm>
            <a:off x="3264408" y="2971800"/>
            <a:ext cx="384048" cy="38404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1" name="Text 29"/>
          <p:cNvSpPr/>
          <p:nvPr/>
        </p:nvSpPr>
        <p:spPr>
          <a:xfrm>
            <a:off x="3264408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λ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21608" y="29992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RunnableLambda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91840" y="3438144"/>
            <a:ext cx="257860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any Python function into a Runnable so it plugs into your pipeline like any other step.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816352"/>
            <a:ext cx="283464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816352"/>
            <a:ext cx="2834640" cy="64008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6" name="Shape 34"/>
          <p:cNvSpPr/>
          <p:nvPr/>
        </p:nvSpPr>
        <p:spPr>
          <a:xfrm>
            <a:off x="6236208" y="2971800"/>
            <a:ext cx="384048" cy="38404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37" name="Text 35"/>
          <p:cNvSpPr/>
          <p:nvPr/>
        </p:nvSpPr>
        <p:spPr>
          <a:xfrm>
            <a:off x="6236208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|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93408" y="29992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 |  Pipe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63640" y="3438144"/>
            <a:ext cx="257860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shorthand for RunnableSequence. The | operator is the recommended style going forward.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Runnables - Part 2</dc:title>
  <dc:subject>PptxGenJS Presentation</dc:subject>
  <dc:creator>PptxGenJS</dc:creator>
  <cp:lastModifiedBy>PptxGenJS</cp:lastModifiedBy>
  <cp:revision>1</cp:revision>
  <dcterms:created xsi:type="dcterms:W3CDTF">2026-03-26T15:28:28Z</dcterms:created>
  <dcterms:modified xsi:type="dcterms:W3CDTF">2026-03-26T15:28:28Z</dcterms:modified>
</cp:coreProperties>
</file>