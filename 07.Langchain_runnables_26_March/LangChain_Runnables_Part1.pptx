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303DE5D-F6DC-4132-A73F-E5E34B5FF9C7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BD812F8-2387-4D60-94DB-D5A136312C1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FF29F8-A57A-4BD7-A8D1-EB5BB667C5F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160C1D-9D3F-42F8-81E6-650C895D658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33F7AA5-0711-4FB0-B49F-F4E7E83D9A5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7F4CFF-3BB0-4533-A09E-79AC96C6FD1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DFF1EA-2C5A-40F7-94E3-FECDEF99144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0300D4A-C458-4437-B61B-DD98047B654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951BC7-48A2-4EC7-A63A-1BE2DBD1677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7D4D7F-8DF9-41B3-A4DD-4CC5373587B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0EFC5B-958A-4247-B78B-843686B2047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365760" y="640080"/>
            <a:ext cx="8412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8fafc"/>
                </a:solidFill>
                <a:latin typeface="Calibri"/>
                <a:ea typeface="Calibri"/>
              </a:rPr>
              <a:t>LangChain Runnables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365760" y="173736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6ee7b7"/>
                </a:solidFill>
                <a:latin typeface="Calibri"/>
                <a:ea typeface="Calibri"/>
              </a:rPr>
              <a:t>Complete Guide — Part 1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365760" y="2468880"/>
            <a:ext cx="5486040" cy="3636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365760" y="2743200"/>
            <a:ext cx="1919880" cy="5940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" name="Shape 5"/>
          <p:cNvSpPr/>
          <p:nvPr/>
        </p:nvSpPr>
        <p:spPr>
          <a:xfrm>
            <a:off x="365760" y="2743200"/>
            <a:ext cx="63720" cy="59400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475560" y="27432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Runnable Overview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2560320" y="2743200"/>
            <a:ext cx="1919880" cy="5940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" name="Shape 8"/>
          <p:cNvSpPr/>
          <p:nvPr/>
        </p:nvSpPr>
        <p:spPr>
          <a:xfrm>
            <a:off x="2560320" y="2743200"/>
            <a:ext cx="63720" cy="59400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9"/>
          <p:cNvSpPr/>
          <p:nvPr/>
        </p:nvSpPr>
        <p:spPr>
          <a:xfrm>
            <a:off x="2670120" y="27432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Runnable Sequence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4754880" y="2743200"/>
            <a:ext cx="1919880" cy="5940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" name="Shape 11"/>
          <p:cNvSpPr/>
          <p:nvPr/>
        </p:nvSpPr>
        <p:spPr>
          <a:xfrm>
            <a:off x="4754880" y="2743200"/>
            <a:ext cx="63720" cy="59400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12"/>
          <p:cNvSpPr/>
          <p:nvPr/>
        </p:nvSpPr>
        <p:spPr>
          <a:xfrm>
            <a:off x="4864680" y="27432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Runnable Parallel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7" name="Shape 13"/>
          <p:cNvSpPr/>
          <p:nvPr/>
        </p:nvSpPr>
        <p:spPr>
          <a:xfrm>
            <a:off x="6949440" y="2743200"/>
            <a:ext cx="1919880" cy="5940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8" name="Shape 14"/>
          <p:cNvSpPr/>
          <p:nvPr/>
        </p:nvSpPr>
        <p:spPr>
          <a:xfrm>
            <a:off x="6949440" y="2743200"/>
            <a:ext cx="63720" cy="594000"/>
          </a:xfrm>
          <a:prstGeom prst="rect">
            <a:avLst/>
          </a:prstGeom>
          <a:solidFill>
            <a:srgbClr val="c084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5"/>
          <p:cNvSpPr/>
          <p:nvPr/>
        </p:nvSpPr>
        <p:spPr>
          <a:xfrm>
            <a:off x="7059240" y="27432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LCEL Intro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" name="Text 16"/>
          <p:cNvSpPr/>
          <p:nvPr/>
        </p:nvSpPr>
        <p:spPr>
          <a:xfrm>
            <a:off x="365760" y="43891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  <a:ea typeface="Calibri"/>
              </a:rPr>
              <a:t>Runnable Primitives | Task-Specific Runnables | LCEL Pipe Operator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f871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"/>
          <p:cNvSpPr/>
          <p:nvPr/>
        </p:nvSpPr>
        <p:spPr>
          <a:xfrm>
            <a:off x="274320" y="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  <a:ea typeface="Calibri"/>
              </a:rPr>
              <a:t>The Problem: Lack of Standardization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182880" y="685800"/>
            <a:ext cx="3931560" cy="41144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4" name="Text 3"/>
          <p:cNvSpPr/>
          <p:nvPr/>
        </p:nvSpPr>
        <p:spPr>
          <a:xfrm>
            <a:off x="320040" y="77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87171"/>
                </a:solidFill>
                <a:latin typeface="Calibri"/>
                <a:ea typeface="Calibri"/>
              </a:rPr>
              <a:t>Before Runnables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365760" y="1325880"/>
            <a:ext cx="3565800" cy="594000"/>
          </a:xfrm>
          <a:prstGeom prst="rect">
            <a:avLst/>
          </a:prstGeom>
          <a:solidFill>
            <a:srgbClr val="1a2840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" name="Text 5"/>
          <p:cNvSpPr/>
          <p:nvPr/>
        </p:nvSpPr>
        <p:spPr>
          <a:xfrm>
            <a:off x="502920" y="1362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Prompt Template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502920" y="160020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87171"/>
                </a:solidFill>
                <a:latin typeface="Consolas"/>
                <a:ea typeface="Consolas"/>
              </a:rPr>
              <a:t>.format()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365760" y="2075760"/>
            <a:ext cx="3565800" cy="594000"/>
          </a:xfrm>
          <a:prstGeom prst="rect">
            <a:avLst/>
          </a:prstGeom>
          <a:solidFill>
            <a:srgbClr val="1a2840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9" name="Text 8"/>
          <p:cNvSpPr/>
          <p:nvPr/>
        </p:nvSpPr>
        <p:spPr>
          <a:xfrm>
            <a:off x="502920" y="21121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LLM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502920" y="235008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87171"/>
                </a:solidFill>
                <a:latin typeface="Consolas"/>
                <a:ea typeface="Consolas"/>
              </a:rPr>
              <a:t>.predict()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365760" y="2825640"/>
            <a:ext cx="3565800" cy="594000"/>
          </a:xfrm>
          <a:prstGeom prst="rect">
            <a:avLst/>
          </a:prstGeom>
          <a:solidFill>
            <a:srgbClr val="1a2840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Text 11"/>
          <p:cNvSpPr/>
          <p:nvPr/>
        </p:nvSpPr>
        <p:spPr>
          <a:xfrm>
            <a:off x="502920" y="28620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Parser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502920" y="309996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87171"/>
                </a:solidFill>
                <a:latin typeface="Consolas"/>
                <a:ea typeface="Consolas"/>
              </a:rPr>
              <a:t>.parse()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4" name="Shape 13"/>
          <p:cNvSpPr/>
          <p:nvPr/>
        </p:nvSpPr>
        <p:spPr>
          <a:xfrm>
            <a:off x="365760" y="3575160"/>
            <a:ext cx="3565800" cy="594000"/>
          </a:xfrm>
          <a:prstGeom prst="rect">
            <a:avLst/>
          </a:prstGeom>
          <a:solidFill>
            <a:srgbClr val="1a2840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5" name="Text 14"/>
          <p:cNvSpPr/>
          <p:nvPr/>
        </p:nvSpPr>
        <p:spPr>
          <a:xfrm>
            <a:off x="502920" y="361188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Retriever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502920" y="384948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87171"/>
                </a:solidFill>
                <a:latin typeface="Consolas"/>
                <a:ea typeface="Consolas"/>
              </a:rPr>
              <a:t>.get_relevant_documents()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7" name="Shape 16"/>
          <p:cNvSpPr/>
          <p:nvPr/>
        </p:nvSpPr>
        <p:spPr>
          <a:xfrm>
            <a:off x="4846320" y="685800"/>
            <a:ext cx="3931560" cy="41144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8" name="Text 17"/>
          <p:cNvSpPr/>
          <p:nvPr/>
        </p:nvSpPr>
        <p:spPr>
          <a:xfrm>
            <a:off x="4983480" y="77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ee7b7"/>
                </a:solidFill>
                <a:latin typeface="Calibri"/>
                <a:ea typeface="Calibri"/>
              </a:rPr>
              <a:t>After Runnables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9" name="Shape 18"/>
          <p:cNvSpPr/>
          <p:nvPr/>
        </p:nvSpPr>
        <p:spPr>
          <a:xfrm>
            <a:off x="5029200" y="1325880"/>
            <a:ext cx="3565800" cy="594000"/>
          </a:xfrm>
          <a:prstGeom prst="rect">
            <a:avLst/>
          </a:prstGeom>
          <a:solidFill>
            <a:srgbClr val="0d2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9"/>
          <p:cNvSpPr/>
          <p:nvPr/>
        </p:nvSpPr>
        <p:spPr>
          <a:xfrm>
            <a:off x="5120640" y="136260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Prompt Template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1" name="Text 20"/>
          <p:cNvSpPr/>
          <p:nvPr/>
        </p:nvSpPr>
        <p:spPr>
          <a:xfrm>
            <a:off x="5120640" y="160020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ee7b7"/>
                </a:solidFill>
                <a:latin typeface="Consolas"/>
                <a:ea typeface="Consolas"/>
              </a:rPr>
              <a:t>.invoke()  ✓  Standardized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2" name="Shape 21"/>
          <p:cNvSpPr/>
          <p:nvPr/>
        </p:nvSpPr>
        <p:spPr>
          <a:xfrm>
            <a:off x="5029200" y="2075760"/>
            <a:ext cx="3565800" cy="594000"/>
          </a:xfrm>
          <a:prstGeom prst="rect">
            <a:avLst/>
          </a:prstGeom>
          <a:solidFill>
            <a:srgbClr val="0d2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22"/>
          <p:cNvSpPr/>
          <p:nvPr/>
        </p:nvSpPr>
        <p:spPr>
          <a:xfrm>
            <a:off x="5120640" y="21121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LLM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Text 23"/>
          <p:cNvSpPr/>
          <p:nvPr/>
        </p:nvSpPr>
        <p:spPr>
          <a:xfrm>
            <a:off x="5120640" y="235008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ee7b7"/>
                </a:solidFill>
                <a:latin typeface="Consolas"/>
                <a:ea typeface="Consolas"/>
              </a:rPr>
              <a:t>.invoke()  ✓  Standardized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5" name="Shape 24"/>
          <p:cNvSpPr/>
          <p:nvPr/>
        </p:nvSpPr>
        <p:spPr>
          <a:xfrm>
            <a:off x="5029200" y="2825640"/>
            <a:ext cx="3565800" cy="594000"/>
          </a:xfrm>
          <a:prstGeom prst="rect">
            <a:avLst/>
          </a:prstGeom>
          <a:solidFill>
            <a:srgbClr val="0d2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25"/>
          <p:cNvSpPr/>
          <p:nvPr/>
        </p:nvSpPr>
        <p:spPr>
          <a:xfrm>
            <a:off x="5120640" y="286200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Parser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7" name="Text 26"/>
          <p:cNvSpPr/>
          <p:nvPr/>
        </p:nvSpPr>
        <p:spPr>
          <a:xfrm>
            <a:off x="5120640" y="309996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ee7b7"/>
                </a:solidFill>
                <a:latin typeface="Consolas"/>
                <a:ea typeface="Consolas"/>
              </a:rPr>
              <a:t>.invoke()  ✓  Standardized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8" name="Shape 27"/>
          <p:cNvSpPr/>
          <p:nvPr/>
        </p:nvSpPr>
        <p:spPr>
          <a:xfrm>
            <a:off x="5029200" y="3575160"/>
            <a:ext cx="3565800" cy="594000"/>
          </a:xfrm>
          <a:prstGeom prst="rect">
            <a:avLst/>
          </a:prstGeom>
          <a:solidFill>
            <a:srgbClr val="0d2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28"/>
          <p:cNvSpPr/>
          <p:nvPr/>
        </p:nvSpPr>
        <p:spPr>
          <a:xfrm>
            <a:off x="5120640" y="3611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Retriever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0" name="Text 29"/>
          <p:cNvSpPr/>
          <p:nvPr/>
        </p:nvSpPr>
        <p:spPr>
          <a:xfrm>
            <a:off x="5120640" y="384948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ee7b7"/>
                </a:solidFill>
                <a:latin typeface="Consolas"/>
                <a:ea typeface="Consolas"/>
              </a:rPr>
              <a:t>.invoke()  ✓  Standardized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" name="Shape 30"/>
          <p:cNvSpPr/>
          <p:nvPr/>
        </p:nvSpPr>
        <p:spPr>
          <a:xfrm>
            <a:off x="4251960" y="2651760"/>
            <a:ext cx="548280" cy="3636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31"/>
          <p:cNvSpPr/>
          <p:nvPr/>
        </p:nvSpPr>
        <p:spPr>
          <a:xfrm>
            <a:off x="4206240" y="242316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cd34d"/>
                </a:solidFill>
                <a:latin typeface="Calibri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3" name="Text 32"/>
          <p:cNvSpPr/>
          <p:nvPr/>
        </p:nvSpPr>
        <p:spPr>
          <a:xfrm>
            <a:off x="4160520" y="2788920"/>
            <a:ext cx="731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fcd34d"/>
                </a:solidFill>
                <a:latin typeface="Calibri"/>
                <a:ea typeface="Calibri"/>
              </a:rPr>
              <a:t>Runnable</a:t>
            </a:r>
            <a:endParaRPr b="0" lang="en-IN" sz="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fcd34d"/>
                </a:solidFill>
                <a:latin typeface="Calibri"/>
                <a:ea typeface="Calibri"/>
              </a:rPr>
              <a:t>Abstract Class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1"/>
          <p:cNvSpPr/>
          <p:nvPr/>
        </p:nvSpPr>
        <p:spPr>
          <a:xfrm>
            <a:off x="274320" y="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  <a:ea typeface="Calibri"/>
              </a:rPr>
              <a:t>Two Types of Runnables in LangChain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228600" y="685800"/>
            <a:ext cx="4114440" cy="41601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7" name="Shape 3"/>
          <p:cNvSpPr/>
          <p:nvPr/>
        </p:nvSpPr>
        <p:spPr>
          <a:xfrm>
            <a:off x="228600" y="685800"/>
            <a:ext cx="4114440" cy="456840"/>
          </a:xfrm>
          <a:prstGeom prst="rect">
            <a:avLst/>
          </a:prstGeom>
          <a:solidFill>
            <a:srgbClr val="0e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4"/>
          <p:cNvSpPr/>
          <p:nvPr/>
        </p:nvSpPr>
        <p:spPr>
          <a:xfrm>
            <a:off x="365760" y="68580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ee7b7"/>
                </a:solidFill>
                <a:latin typeface="Calibri"/>
                <a:ea typeface="Calibri"/>
              </a:rPr>
              <a:t>Task-Specific Runnables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365760" y="126180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Core LangChain components converted to Runnables.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Each has its own specific purpose.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365760" y="1901880"/>
            <a:ext cx="3657240" cy="548280"/>
          </a:xfrm>
          <a:prstGeom prst="rect">
            <a:avLst/>
          </a:prstGeom>
          <a:solidFill>
            <a:srgbClr val="162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Shape 7"/>
          <p:cNvSpPr/>
          <p:nvPr/>
        </p:nvSpPr>
        <p:spPr>
          <a:xfrm>
            <a:off x="365760" y="1901880"/>
            <a:ext cx="54360" cy="54828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8"/>
          <p:cNvSpPr/>
          <p:nvPr/>
        </p:nvSpPr>
        <p:spPr>
          <a:xfrm>
            <a:off x="475560" y="192024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onsolas"/>
                <a:ea typeface="Consolas"/>
              </a:rPr>
              <a:t>PromptTemplate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475560" y="214884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Designs &amp; formats prompts dynamically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365760" y="2578680"/>
            <a:ext cx="3657240" cy="548280"/>
          </a:xfrm>
          <a:prstGeom prst="rect">
            <a:avLst/>
          </a:prstGeom>
          <a:solidFill>
            <a:srgbClr val="162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Shape 11"/>
          <p:cNvSpPr/>
          <p:nvPr/>
        </p:nvSpPr>
        <p:spPr>
          <a:xfrm>
            <a:off x="365760" y="2578680"/>
            <a:ext cx="54360" cy="54828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12"/>
          <p:cNvSpPr/>
          <p:nvPr/>
        </p:nvSpPr>
        <p:spPr>
          <a:xfrm>
            <a:off x="475560" y="259704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onsolas"/>
                <a:ea typeface="Consolas"/>
              </a:rPr>
              <a:t>ChatOpenAI / LLM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475560" y="282564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Interacts with language models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365760" y="3255120"/>
            <a:ext cx="3657240" cy="548280"/>
          </a:xfrm>
          <a:prstGeom prst="rect">
            <a:avLst/>
          </a:prstGeom>
          <a:solidFill>
            <a:srgbClr val="162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Shape 15"/>
          <p:cNvSpPr/>
          <p:nvPr/>
        </p:nvSpPr>
        <p:spPr>
          <a:xfrm>
            <a:off x="365760" y="3255120"/>
            <a:ext cx="54360" cy="54828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16"/>
          <p:cNvSpPr/>
          <p:nvPr/>
        </p:nvSpPr>
        <p:spPr>
          <a:xfrm>
            <a:off x="475560" y="327348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onsolas"/>
                <a:ea typeface="Consolas"/>
              </a:rPr>
              <a:t>StrOutputParser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475560" y="350208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Parses LLM output as clean strings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2" name="Shape 18"/>
          <p:cNvSpPr/>
          <p:nvPr/>
        </p:nvSpPr>
        <p:spPr>
          <a:xfrm>
            <a:off x="365760" y="3931920"/>
            <a:ext cx="3657240" cy="548280"/>
          </a:xfrm>
          <a:prstGeom prst="rect">
            <a:avLst/>
          </a:prstGeom>
          <a:solidFill>
            <a:srgbClr val="162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Shape 19"/>
          <p:cNvSpPr/>
          <p:nvPr/>
        </p:nvSpPr>
        <p:spPr>
          <a:xfrm>
            <a:off x="365760" y="3931920"/>
            <a:ext cx="54360" cy="54828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20"/>
          <p:cNvSpPr/>
          <p:nvPr/>
        </p:nvSpPr>
        <p:spPr>
          <a:xfrm>
            <a:off x="475560" y="395028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onsolas"/>
                <a:ea typeface="Consolas"/>
              </a:rPr>
              <a:t>Retriever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5" name="Text 21"/>
          <p:cNvSpPr/>
          <p:nvPr/>
        </p:nvSpPr>
        <p:spPr>
          <a:xfrm>
            <a:off x="475560" y="417888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Fetches relevant documents from store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6" name="Shape 22"/>
          <p:cNvSpPr/>
          <p:nvPr/>
        </p:nvSpPr>
        <p:spPr>
          <a:xfrm>
            <a:off x="4800600" y="685800"/>
            <a:ext cx="4114440" cy="41601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7" name="Shape 23"/>
          <p:cNvSpPr/>
          <p:nvPr/>
        </p:nvSpPr>
        <p:spPr>
          <a:xfrm>
            <a:off x="4800600" y="685800"/>
            <a:ext cx="4114440" cy="45684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24"/>
          <p:cNvSpPr/>
          <p:nvPr/>
        </p:nvSpPr>
        <p:spPr>
          <a:xfrm>
            <a:off x="4937760" y="68580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c084fc"/>
                </a:solidFill>
                <a:latin typeface="Calibri"/>
                <a:ea typeface="Calibri"/>
              </a:rPr>
              <a:t>Runnable Primitives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9" name="Text 25"/>
          <p:cNvSpPr/>
          <p:nvPr/>
        </p:nvSpPr>
        <p:spPr>
          <a:xfrm>
            <a:off x="4937760" y="126180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Orchestrators that connect &amp; compose task-specific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Runnables into complex AI workflows.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0" name="Shape 26"/>
          <p:cNvSpPr/>
          <p:nvPr/>
        </p:nvSpPr>
        <p:spPr>
          <a:xfrm>
            <a:off x="4937760" y="1901880"/>
            <a:ext cx="3657240" cy="42012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27"/>
          <p:cNvSpPr/>
          <p:nvPr/>
        </p:nvSpPr>
        <p:spPr>
          <a:xfrm>
            <a:off x="4937760" y="1901880"/>
            <a:ext cx="54360" cy="42012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28"/>
          <p:cNvSpPr/>
          <p:nvPr/>
        </p:nvSpPr>
        <p:spPr>
          <a:xfrm>
            <a:off x="5047560" y="1901880"/>
            <a:ext cx="3474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Consolas"/>
                <a:ea typeface="Consolas"/>
              </a:rPr>
              <a:t>RunnableSequence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23" name="Shape 29"/>
          <p:cNvSpPr/>
          <p:nvPr/>
        </p:nvSpPr>
        <p:spPr>
          <a:xfrm>
            <a:off x="4937760" y="2432160"/>
            <a:ext cx="3657240" cy="42012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Shape 30"/>
          <p:cNvSpPr/>
          <p:nvPr/>
        </p:nvSpPr>
        <p:spPr>
          <a:xfrm>
            <a:off x="4937760" y="2432160"/>
            <a:ext cx="54360" cy="42012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31"/>
          <p:cNvSpPr/>
          <p:nvPr/>
        </p:nvSpPr>
        <p:spPr>
          <a:xfrm>
            <a:off x="5047560" y="2432160"/>
            <a:ext cx="3474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Consolas"/>
                <a:ea typeface="Consolas"/>
              </a:rPr>
              <a:t>RunnableParallel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26" name="Shape 32"/>
          <p:cNvSpPr/>
          <p:nvPr/>
        </p:nvSpPr>
        <p:spPr>
          <a:xfrm>
            <a:off x="4937760" y="2962800"/>
            <a:ext cx="3657240" cy="42012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33"/>
          <p:cNvSpPr/>
          <p:nvPr/>
        </p:nvSpPr>
        <p:spPr>
          <a:xfrm>
            <a:off x="4937760" y="2962800"/>
            <a:ext cx="54360" cy="42012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34"/>
          <p:cNvSpPr/>
          <p:nvPr/>
        </p:nvSpPr>
        <p:spPr>
          <a:xfrm>
            <a:off x="5047560" y="2962800"/>
            <a:ext cx="3474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Consolas"/>
                <a:ea typeface="Consolas"/>
              </a:rPr>
              <a:t>RunnableBranch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29" name="Shape 35"/>
          <p:cNvSpPr/>
          <p:nvPr/>
        </p:nvSpPr>
        <p:spPr>
          <a:xfrm>
            <a:off x="4937760" y="3493080"/>
            <a:ext cx="3657240" cy="42012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Shape 36"/>
          <p:cNvSpPr/>
          <p:nvPr/>
        </p:nvSpPr>
        <p:spPr>
          <a:xfrm>
            <a:off x="4937760" y="3493080"/>
            <a:ext cx="54360" cy="420120"/>
          </a:xfrm>
          <a:prstGeom prst="rect">
            <a:avLst/>
          </a:prstGeom>
          <a:solidFill>
            <a:srgbClr val="f871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37"/>
          <p:cNvSpPr/>
          <p:nvPr/>
        </p:nvSpPr>
        <p:spPr>
          <a:xfrm>
            <a:off x="5047560" y="3493080"/>
            <a:ext cx="3474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Consolas"/>
                <a:ea typeface="Consolas"/>
              </a:rPr>
              <a:t>RunnableLambda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32" name="Shape 38"/>
          <p:cNvSpPr/>
          <p:nvPr/>
        </p:nvSpPr>
        <p:spPr>
          <a:xfrm>
            <a:off x="4937760" y="4023360"/>
            <a:ext cx="3657240" cy="42012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39"/>
          <p:cNvSpPr/>
          <p:nvPr/>
        </p:nvSpPr>
        <p:spPr>
          <a:xfrm>
            <a:off x="4937760" y="4023360"/>
            <a:ext cx="54360" cy="420120"/>
          </a:xfrm>
          <a:prstGeom prst="rect">
            <a:avLst/>
          </a:prstGeom>
          <a:solidFill>
            <a:srgbClr val="c084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40"/>
          <p:cNvSpPr/>
          <p:nvPr/>
        </p:nvSpPr>
        <p:spPr>
          <a:xfrm>
            <a:off x="5047560" y="4023360"/>
            <a:ext cx="3474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Consolas"/>
                <a:ea typeface="Consolas"/>
              </a:rPr>
              <a:t>RunnablePassthrough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1"/>
          <p:cNvSpPr/>
          <p:nvPr/>
        </p:nvSpPr>
        <p:spPr>
          <a:xfrm>
            <a:off x="274320" y="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  <a:ea typeface="Calibri"/>
              </a:rPr>
              <a:t>Runnable Primitive 1: RunnableSequence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182880" y="640080"/>
            <a:ext cx="8777880" cy="822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3"/>
          <p:cNvSpPr/>
          <p:nvPr/>
        </p:nvSpPr>
        <p:spPr>
          <a:xfrm>
            <a:off x="182880" y="640080"/>
            <a:ext cx="63720" cy="82260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4"/>
          <p:cNvSpPr/>
          <p:nvPr/>
        </p:nvSpPr>
        <p:spPr>
          <a:xfrm>
            <a:off x="347400" y="7315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ee7b7"/>
                </a:solidFill>
                <a:latin typeface="Calibri"/>
                <a:ea typeface="Calibri"/>
              </a:rPr>
              <a:t>Definition: 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1371600" y="731520"/>
            <a:ext cx="7406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Connects two or more Runnables sequentially so that the output of each step becomes the input to the next. Executes steps in order, forming a pipeline (chain).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274320" y="1691640"/>
            <a:ext cx="1234080" cy="8226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2" name="Shape 7"/>
          <p:cNvSpPr/>
          <p:nvPr/>
        </p:nvSpPr>
        <p:spPr>
          <a:xfrm>
            <a:off x="274320" y="1691640"/>
            <a:ext cx="1234080" cy="10944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8"/>
          <p:cNvSpPr/>
          <p:nvPr/>
        </p:nvSpPr>
        <p:spPr>
          <a:xfrm>
            <a:off x="274320" y="1801440"/>
            <a:ext cx="1234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8fafc"/>
                </a:solidFill>
                <a:latin typeface="Calibri"/>
                <a:ea typeface="Calibri"/>
              </a:rPr>
              <a:t>Input</a:t>
            </a:r>
            <a:endParaRPr b="0" lang="en-IN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8fafc"/>
                </a:solidFill>
                <a:latin typeface="Calibri"/>
                <a:ea typeface="Calibri"/>
              </a:rPr>
              <a:t>Topic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1536120" y="2057400"/>
            <a:ext cx="383760" cy="54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0"/>
          <p:cNvSpPr/>
          <p:nvPr/>
        </p:nvSpPr>
        <p:spPr>
          <a:xfrm>
            <a:off x="1810440" y="1920240"/>
            <a:ext cx="18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▶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6" name="Shape 11"/>
          <p:cNvSpPr/>
          <p:nvPr/>
        </p:nvSpPr>
        <p:spPr>
          <a:xfrm>
            <a:off x="1691640" y="1691640"/>
            <a:ext cx="1234080" cy="8226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7" name="Shape 12"/>
          <p:cNvSpPr/>
          <p:nvPr/>
        </p:nvSpPr>
        <p:spPr>
          <a:xfrm>
            <a:off x="1691640" y="1691640"/>
            <a:ext cx="1234080" cy="10944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3"/>
          <p:cNvSpPr/>
          <p:nvPr/>
        </p:nvSpPr>
        <p:spPr>
          <a:xfrm>
            <a:off x="1691640" y="1801440"/>
            <a:ext cx="1234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8fafc"/>
                </a:solidFill>
                <a:latin typeface="Calibri"/>
                <a:ea typeface="Calibri"/>
              </a:rPr>
              <a:t>Prompt</a:t>
            </a:r>
            <a:endParaRPr b="0" lang="en-IN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8fafc"/>
                </a:solidFill>
                <a:latin typeface="Calibri"/>
                <a:ea typeface="Calibri"/>
              </a:rPr>
              <a:t>Template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49" name="Shape 14"/>
          <p:cNvSpPr/>
          <p:nvPr/>
        </p:nvSpPr>
        <p:spPr>
          <a:xfrm>
            <a:off x="2953440" y="2057400"/>
            <a:ext cx="383760" cy="54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15"/>
          <p:cNvSpPr/>
          <p:nvPr/>
        </p:nvSpPr>
        <p:spPr>
          <a:xfrm>
            <a:off x="3227760" y="1920240"/>
            <a:ext cx="18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▶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1" name="Shape 16"/>
          <p:cNvSpPr/>
          <p:nvPr/>
        </p:nvSpPr>
        <p:spPr>
          <a:xfrm>
            <a:off x="3611880" y="1691640"/>
            <a:ext cx="1234080" cy="8226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Shape 17"/>
          <p:cNvSpPr/>
          <p:nvPr/>
        </p:nvSpPr>
        <p:spPr>
          <a:xfrm>
            <a:off x="3611880" y="1691640"/>
            <a:ext cx="1234080" cy="109440"/>
          </a:xfrm>
          <a:prstGeom prst="rect">
            <a:avLst/>
          </a:prstGeom>
          <a:solidFill>
            <a:srgbClr val="c084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8"/>
          <p:cNvSpPr/>
          <p:nvPr/>
        </p:nvSpPr>
        <p:spPr>
          <a:xfrm>
            <a:off x="3611880" y="1801440"/>
            <a:ext cx="1234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8fafc"/>
                </a:solidFill>
                <a:latin typeface="Calibri"/>
                <a:ea typeface="Calibri"/>
              </a:rPr>
              <a:t>LLM</a:t>
            </a:r>
            <a:endParaRPr b="0" lang="en-IN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8fafc"/>
                </a:solidFill>
                <a:latin typeface="Calibri"/>
                <a:ea typeface="Calibri"/>
              </a:rPr>
              <a:t>Model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54" name="Shape 19"/>
          <p:cNvSpPr/>
          <p:nvPr/>
        </p:nvSpPr>
        <p:spPr>
          <a:xfrm>
            <a:off x="4873680" y="2057400"/>
            <a:ext cx="383760" cy="54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0"/>
          <p:cNvSpPr/>
          <p:nvPr/>
        </p:nvSpPr>
        <p:spPr>
          <a:xfrm>
            <a:off x="5148000" y="1920240"/>
            <a:ext cx="18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▶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6" name="Shape 21"/>
          <p:cNvSpPr/>
          <p:nvPr/>
        </p:nvSpPr>
        <p:spPr>
          <a:xfrm>
            <a:off x="5532120" y="1691640"/>
            <a:ext cx="1234080" cy="8226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Shape 22"/>
          <p:cNvSpPr/>
          <p:nvPr/>
        </p:nvSpPr>
        <p:spPr>
          <a:xfrm>
            <a:off x="5532120" y="1691640"/>
            <a:ext cx="1234080" cy="10944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23"/>
          <p:cNvSpPr/>
          <p:nvPr/>
        </p:nvSpPr>
        <p:spPr>
          <a:xfrm>
            <a:off x="5532120" y="1801440"/>
            <a:ext cx="1234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8fafc"/>
                </a:solidFill>
                <a:latin typeface="Calibri"/>
                <a:ea typeface="Calibri"/>
              </a:rPr>
              <a:t>Output</a:t>
            </a:r>
            <a:endParaRPr b="0" lang="en-IN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8fafc"/>
                </a:solidFill>
                <a:latin typeface="Calibri"/>
                <a:ea typeface="Calibri"/>
              </a:rPr>
              <a:t>Parser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59" name="Shape 24"/>
          <p:cNvSpPr/>
          <p:nvPr/>
        </p:nvSpPr>
        <p:spPr>
          <a:xfrm>
            <a:off x="6793920" y="2057400"/>
            <a:ext cx="383760" cy="54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25"/>
          <p:cNvSpPr/>
          <p:nvPr/>
        </p:nvSpPr>
        <p:spPr>
          <a:xfrm>
            <a:off x="7068240" y="1920240"/>
            <a:ext cx="18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▶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1" name="Shape 26"/>
          <p:cNvSpPr/>
          <p:nvPr/>
        </p:nvSpPr>
        <p:spPr>
          <a:xfrm>
            <a:off x="7452360" y="1691640"/>
            <a:ext cx="1234080" cy="8226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Shape 27"/>
          <p:cNvSpPr/>
          <p:nvPr/>
        </p:nvSpPr>
        <p:spPr>
          <a:xfrm>
            <a:off x="7452360" y="1691640"/>
            <a:ext cx="1234080" cy="10944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28"/>
          <p:cNvSpPr/>
          <p:nvPr/>
        </p:nvSpPr>
        <p:spPr>
          <a:xfrm>
            <a:off x="7452360" y="1801440"/>
            <a:ext cx="1234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8fafc"/>
                </a:solidFill>
                <a:latin typeface="Calibri"/>
                <a:ea typeface="Calibri"/>
              </a:rPr>
              <a:t>Final</a:t>
            </a:r>
            <a:endParaRPr b="0" lang="en-IN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8fafc"/>
                </a:solidFill>
                <a:latin typeface="Calibri"/>
                <a:ea typeface="Calibri"/>
              </a:rPr>
              <a:t>Output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64" name="Shape 29"/>
          <p:cNvSpPr/>
          <p:nvPr/>
        </p:nvSpPr>
        <p:spPr>
          <a:xfrm>
            <a:off x="182880" y="2788920"/>
            <a:ext cx="8777880" cy="402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30"/>
          <p:cNvSpPr/>
          <p:nvPr/>
        </p:nvSpPr>
        <p:spPr>
          <a:xfrm>
            <a:off x="182880" y="2788920"/>
            <a:ext cx="45360" cy="40212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31"/>
          <p:cNvSpPr/>
          <p:nvPr/>
        </p:nvSpPr>
        <p:spPr>
          <a:xfrm>
            <a:off x="320040" y="2788920"/>
            <a:ext cx="8503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✦  </a:t>
            </a: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Output of R1 automatically feeds as input to R2, R3, and so 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67" name="Shape 32"/>
          <p:cNvSpPr/>
          <p:nvPr/>
        </p:nvSpPr>
        <p:spPr>
          <a:xfrm>
            <a:off x="182880" y="3300840"/>
            <a:ext cx="8777880" cy="402120"/>
          </a:xfrm>
          <a:prstGeom prst="rect">
            <a:avLst/>
          </a:prstGeom>
          <a:solidFill>
            <a:srgbClr val="131f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Shape 33"/>
          <p:cNvSpPr/>
          <p:nvPr/>
        </p:nvSpPr>
        <p:spPr>
          <a:xfrm>
            <a:off x="182880" y="3300840"/>
            <a:ext cx="45360" cy="40212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34"/>
          <p:cNvSpPr/>
          <p:nvPr/>
        </p:nvSpPr>
        <p:spPr>
          <a:xfrm>
            <a:off x="320040" y="3300840"/>
            <a:ext cx="8503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✦  </a:t>
            </a: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No limit on number of Runnables — chain as many as needed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70" name="Shape 35"/>
          <p:cNvSpPr/>
          <p:nvPr/>
        </p:nvSpPr>
        <p:spPr>
          <a:xfrm>
            <a:off x="182880" y="3813120"/>
            <a:ext cx="8777880" cy="402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Shape 36"/>
          <p:cNvSpPr/>
          <p:nvPr/>
        </p:nvSpPr>
        <p:spPr>
          <a:xfrm>
            <a:off x="182880" y="3813120"/>
            <a:ext cx="45360" cy="40212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37"/>
          <p:cNvSpPr/>
          <p:nvPr/>
        </p:nvSpPr>
        <p:spPr>
          <a:xfrm>
            <a:off x="320040" y="3813120"/>
            <a:ext cx="8503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✦  </a:t>
            </a: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Equivalent to the | (pipe) operator in LCEL syntax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73" name="Shape 38"/>
          <p:cNvSpPr/>
          <p:nvPr/>
        </p:nvSpPr>
        <p:spPr>
          <a:xfrm>
            <a:off x="182880" y="4325040"/>
            <a:ext cx="8777880" cy="402120"/>
          </a:xfrm>
          <a:prstGeom prst="rect">
            <a:avLst/>
          </a:prstGeom>
          <a:solidFill>
            <a:srgbClr val="131f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Shape 39"/>
          <p:cNvSpPr/>
          <p:nvPr/>
        </p:nvSpPr>
        <p:spPr>
          <a:xfrm>
            <a:off x="182880" y="4325040"/>
            <a:ext cx="45360" cy="40212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40"/>
          <p:cNvSpPr/>
          <p:nvPr/>
        </p:nvSpPr>
        <p:spPr>
          <a:xfrm>
            <a:off x="320040" y="4325040"/>
            <a:ext cx="8503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✦  </a:t>
            </a: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Most commonly used Runnable Primitive — used inside every other primitive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1"/>
          <p:cNvSpPr/>
          <p:nvPr/>
        </p:nvSpPr>
        <p:spPr>
          <a:xfrm>
            <a:off x="274320" y="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f172a"/>
                </a:solidFill>
                <a:latin typeface="Calibri"/>
                <a:ea typeface="Calibri"/>
              </a:rPr>
              <a:t>RunnableSequence — Code Example: Content Generator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78" name="Shape 2"/>
          <p:cNvSpPr/>
          <p:nvPr/>
        </p:nvSpPr>
        <p:spPr>
          <a:xfrm>
            <a:off x="182880" y="594360"/>
            <a:ext cx="5211720" cy="425160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2708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9" name="Shape 3"/>
          <p:cNvSpPr/>
          <p:nvPr/>
        </p:nvSpPr>
        <p:spPr>
          <a:xfrm>
            <a:off x="182880" y="594360"/>
            <a:ext cx="5211720" cy="29232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4"/>
          <p:cNvSpPr/>
          <p:nvPr/>
        </p:nvSpPr>
        <p:spPr>
          <a:xfrm>
            <a:off x="320040" y="59436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content_generator.py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292680" y="96012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d2a8ff"/>
                </a:solidFill>
                <a:latin typeface="Consolas"/>
                <a:ea typeface="Consolas"/>
              </a:rPr>
              <a:t>from </a:t>
            </a: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langchain_openai </a:t>
            </a:r>
            <a:r>
              <a:rPr b="0" lang="en-US" sz="1000" spc="-1" strike="noStrike">
                <a:solidFill>
                  <a:srgbClr val="d2a8ff"/>
                </a:solidFill>
                <a:latin typeface="Consolas"/>
                <a:ea typeface="Consolas"/>
              </a:rPr>
              <a:t>import </a:t>
            </a:r>
            <a:r>
              <a:rPr b="0" lang="en-US" sz="1000" spc="-1" strike="noStrike">
                <a:solidFill>
                  <a:srgbClr val="79c0ff"/>
                </a:solidFill>
                <a:latin typeface="Consolas"/>
                <a:ea typeface="Consolas"/>
              </a:rPr>
              <a:t>ChatOpenAI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292680" y="111096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d2a8ff"/>
                </a:solidFill>
                <a:latin typeface="Consolas"/>
                <a:ea typeface="Consolas"/>
              </a:rPr>
              <a:t>from </a:t>
            </a: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langchain_core.prompts </a:t>
            </a:r>
            <a:r>
              <a:rPr b="0" lang="en-US" sz="1000" spc="-1" strike="noStrike">
                <a:solidFill>
                  <a:srgbClr val="d2a8ff"/>
                </a:solidFill>
                <a:latin typeface="Consolas"/>
                <a:ea typeface="Consolas"/>
              </a:rPr>
              <a:t>import </a:t>
            </a:r>
            <a:r>
              <a:rPr b="0" lang="en-US" sz="1000" spc="-1" strike="noStrike">
                <a:solidFill>
                  <a:srgbClr val="79c0ff"/>
                </a:solidFill>
                <a:latin typeface="Consolas"/>
                <a:ea typeface="Consolas"/>
              </a:rPr>
              <a:t>PromptTemplate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292680" y="126180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d2a8ff"/>
                </a:solidFill>
                <a:latin typeface="Consolas"/>
                <a:ea typeface="Consolas"/>
              </a:rPr>
              <a:t>from </a:t>
            </a: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langchain_core.output_parsers </a:t>
            </a:r>
            <a:r>
              <a:rPr b="0" lang="en-US" sz="1000" spc="-1" strike="noStrike">
                <a:solidFill>
                  <a:srgbClr val="d2a8ff"/>
                </a:solidFill>
                <a:latin typeface="Consolas"/>
                <a:ea typeface="Consolas"/>
              </a:rPr>
              <a:t>import </a:t>
            </a:r>
            <a:r>
              <a:rPr b="0" lang="en-US" sz="1000" spc="-1" strike="noStrike">
                <a:solidFill>
                  <a:srgbClr val="79c0ff"/>
                </a:solidFill>
                <a:latin typeface="Consolas"/>
                <a:ea typeface="Consolas"/>
              </a:rPr>
              <a:t>StrOutputParser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4" name="Text 8"/>
          <p:cNvSpPr/>
          <p:nvPr/>
        </p:nvSpPr>
        <p:spPr>
          <a:xfrm>
            <a:off x="292680" y="141264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d2a8ff"/>
                </a:solidFill>
                <a:latin typeface="Consolas"/>
                <a:ea typeface="Consolas"/>
              </a:rPr>
              <a:t>from </a:t>
            </a: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langchain_core.runnables </a:t>
            </a:r>
            <a:r>
              <a:rPr b="0" lang="en-US" sz="1000" spc="-1" strike="noStrike">
                <a:solidFill>
                  <a:srgbClr val="d2a8ff"/>
                </a:solidFill>
                <a:latin typeface="Consolas"/>
                <a:ea typeface="Consolas"/>
              </a:rPr>
              <a:t>import </a:t>
            </a:r>
            <a:r>
              <a:rPr b="0" lang="en-US" sz="1000" spc="-1" strike="noStrike">
                <a:solidFill>
                  <a:srgbClr val="79c0ff"/>
                </a:solidFill>
                <a:latin typeface="Consolas"/>
                <a:ea typeface="Consolas"/>
              </a:rPr>
              <a:t>RunnableSequence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292680" y="171468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a737d"/>
                </a:solidFill>
                <a:latin typeface="Consolas"/>
                <a:ea typeface="Consolas"/>
              </a:rPr>
              <a:t># Step 1: Define prompt template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292680" y="186552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my_prompt </a:t>
            </a:r>
            <a:r>
              <a:rPr b="0" lang="en-US" sz="1000" spc="-1" strike="noStrike">
                <a:solidFill>
                  <a:srgbClr val="ffa657"/>
                </a:solidFill>
                <a:latin typeface="Consolas"/>
                <a:ea typeface="Consolas"/>
              </a:rPr>
              <a:t>= </a:t>
            </a: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PromptTemplate(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292680" y="201636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template</a:t>
            </a:r>
            <a:r>
              <a:rPr b="0" lang="en-US" sz="1000" spc="-1" strike="noStrike">
                <a:solidFill>
                  <a:srgbClr val="ffa657"/>
                </a:solidFill>
                <a:latin typeface="Consolas"/>
                <a:ea typeface="Consolas"/>
              </a:rPr>
              <a:t>=</a:t>
            </a:r>
            <a:r>
              <a:rPr b="0" lang="en-US" sz="1000" spc="-1" strike="noStrike">
                <a:solidFill>
                  <a:srgbClr val="7ee787"/>
                </a:solidFill>
                <a:latin typeface="Consolas"/>
                <a:ea typeface="Consolas"/>
              </a:rPr>
              <a:t>'Describe the topic: {subject}'</a:t>
            </a: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,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8" name="Text 12"/>
          <p:cNvSpPr/>
          <p:nvPr/>
        </p:nvSpPr>
        <p:spPr>
          <a:xfrm>
            <a:off x="292680" y="216720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input_variables</a:t>
            </a:r>
            <a:r>
              <a:rPr b="0" lang="en-US" sz="1000" spc="-1" strike="noStrike">
                <a:solidFill>
                  <a:srgbClr val="ffa657"/>
                </a:solidFill>
                <a:latin typeface="Consolas"/>
                <a:ea typeface="Consolas"/>
              </a:rPr>
              <a:t>=</a:t>
            </a:r>
            <a:r>
              <a:rPr b="0" lang="en-US" sz="1000" spc="-1" strike="noStrike">
                <a:solidFill>
                  <a:srgbClr val="79c0ff"/>
                </a:solidFill>
                <a:latin typeface="Consolas"/>
                <a:ea typeface="Consolas"/>
              </a:rPr>
              <a:t>['subject']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9" name="Text 13"/>
          <p:cNvSpPr/>
          <p:nvPr/>
        </p:nvSpPr>
        <p:spPr>
          <a:xfrm>
            <a:off x="292680" y="231804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0" name="Text 14"/>
          <p:cNvSpPr/>
          <p:nvPr/>
        </p:nvSpPr>
        <p:spPr>
          <a:xfrm>
            <a:off x="292680" y="261972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a737d"/>
                </a:solidFill>
                <a:latin typeface="Consolas"/>
                <a:ea typeface="Consolas"/>
              </a:rPr>
              <a:t># Step 2: LLM and parser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1" name="Text 15"/>
          <p:cNvSpPr/>
          <p:nvPr/>
        </p:nvSpPr>
        <p:spPr>
          <a:xfrm>
            <a:off x="292680" y="277056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my_model  </a:t>
            </a:r>
            <a:r>
              <a:rPr b="0" lang="en-US" sz="1000" spc="-1" strike="noStrike">
                <a:solidFill>
                  <a:srgbClr val="ffa657"/>
                </a:solidFill>
                <a:latin typeface="Consolas"/>
                <a:ea typeface="Consolas"/>
              </a:rPr>
              <a:t>= </a:t>
            </a: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ChatOpenAI()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2" name="Text 16"/>
          <p:cNvSpPr/>
          <p:nvPr/>
        </p:nvSpPr>
        <p:spPr>
          <a:xfrm>
            <a:off x="292680" y="292140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my_parser </a:t>
            </a:r>
            <a:r>
              <a:rPr b="0" lang="en-US" sz="1000" spc="-1" strike="noStrike">
                <a:solidFill>
                  <a:srgbClr val="ffa657"/>
                </a:solidFill>
                <a:latin typeface="Consolas"/>
                <a:ea typeface="Consolas"/>
              </a:rPr>
              <a:t>= </a:t>
            </a: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StrOutputParser()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3" name="Text 17"/>
          <p:cNvSpPr/>
          <p:nvPr/>
        </p:nvSpPr>
        <p:spPr>
          <a:xfrm>
            <a:off x="292680" y="322344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a737d"/>
                </a:solidFill>
                <a:latin typeface="Consolas"/>
                <a:ea typeface="Consolas"/>
              </a:rPr>
              <a:t># Step 3: Build the sequence chain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4" name="Text 18"/>
          <p:cNvSpPr/>
          <p:nvPr/>
        </p:nvSpPr>
        <p:spPr>
          <a:xfrm>
            <a:off x="292680" y="337428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pipeline </a:t>
            </a:r>
            <a:r>
              <a:rPr b="0" lang="en-US" sz="1000" spc="-1" strike="noStrike">
                <a:solidFill>
                  <a:srgbClr val="ffa657"/>
                </a:solidFill>
                <a:latin typeface="Consolas"/>
                <a:ea typeface="Consolas"/>
              </a:rPr>
              <a:t>= </a:t>
            </a: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RunnableSequence(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5" name="Text 19"/>
          <p:cNvSpPr/>
          <p:nvPr/>
        </p:nvSpPr>
        <p:spPr>
          <a:xfrm>
            <a:off x="292680" y="352512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9c0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79c0ff"/>
                </a:solidFill>
                <a:latin typeface="Consolas"/>
                <a:ea typeface="Consolas"/>
              </a:rPr>
              <a:t>my_prompt, my_model, my_parser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6" name="Text 20"/>
          <p:cNvSpPr/>
          <p:nvPr/>
        </p:nvSpPr>
        <p:spPr>
          <a:xfrm>
            <a:off x="292680" y="367596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292680" y="397764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result </a:t>
            </a:r>
            <a:r>
              <a:rPr b="0" lang="en-US" sz="1000" spc="-1" strike="noStrike">
                <a:solidFill>
                  <a:srgbClr val="ffa657"/>
                </a:solidFill>
                <a:latin typeface="Consolas"/>
                <a:ea typeface="Consolas"/>
              </a:rPr>
              <a:t>= </a:t>
            </a: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pipeline.invoke(</a:t>
            </a:r>
            <a:r>
              <a:rPr b="0" lang="en-US" sz="1000" spc="-1" strike="noStrike">
                <a:solidFill>
                  <a:srgbClr val="7ee787"/>
                </a:solidFill>
                <a:latin typeface="Consolas"/>
                <a:ea typeface="Consolas"/>
              </a:rPr>
              <a:t>{'subject': 'machine learning'}</a:t>
            </a: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8" name="Text 22"/>
          <p:cNvSpPr/>
          <p:nvPr/>
        </p:nvSpPr>
        <p:spPr>
          <a:xfrm>
            <a:off x="292680" y="412848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d2a8ff"/>
                </a:solidFill>
                <a:latin typeface="Consolas"/>
                <a:ea typeface="Consolas"/>
              </a:rPr>
              <a:t>print</a:t>
            </a:r>
            <a:r>
              <a:rPr b="0" lang="en-US" sz="1000" spc="-1" strike="noStrike">
                <a:solidFill>
                  <a:srgbClr val="e6edf3"/>
                </a:solidFill>
                <a:latin typeface="Consolas"/>
                <a:ea typeface="Consolas"/>
              </a:rPr>
              <a:t>(result)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9" name="Shape 23"/>
          <p:cNvSpPr/>
          <p:nvPr/>
        </p:nvSpPr>
        <p:spPr>
          <a:xfrm>
            <a:off x="5577840" y="594360"/>
            <a:ext cx="3382920" cy="4251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24"/>
          <p:cNvSpPr/>
          <p:nvPr/>
        </p:nvSpPr>
        <p:spPr>
          <a:xfrm>
            <a:off x="5715000" y="6858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6ee7b7"/>
                </a:solidFill>
                <a:latin typeface="Calibri"/>
                <a:ea typeface="Calibri"/>
              </a:rPr>
              <a:t>How It Works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1" name="Shape 25"/>
          <p:cNvSpPr/>
          <p:nvPr/>
        </p:nvSpPr>
        <p:spPr>
          <a:xfrm>
            <a:off x="5669280" y="1188720"/>
            <a:ext cx="3108600" cy="712800"/>
          </a:xfrm>
          <a:prstGeom prst="rect">
            <a:avLst/>
          </a:prstGeom>
          <a:solidFill>
            <a:srgbClr val="1620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Shape 26"/>
          <p:cNvSpPr/>
          <p:nvPr/>
        </p:nvSpPr>
        <p:spPr>
          <a:xfrm>
            <a:off x="5687640" y="1243440"/>
            <a:ext cx="310680" cy="310680"/>
          </a:xfrm>
          <a:prstGeom prst="ellipse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27"/>
          <p:cNvSpPr/>
          <p:nvPr/>
        </p:nvSpPr>
        <p:spPr>
          <a:xfrm>
            <a:off x="5687640" y="1243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4" name="Text 28"/>
          <p:cNvSpPr/>
          <p:nvPr/>
        </p:nvSpPr>
        <p:spPr>
          <a:xfrm>
            <a:off x="6053400" y="122544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onsolas"/>
                <a:ea typeface="Consolas"/>
              </a:rPr>
              <a:t>my_prompt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5" name="Text 29"/>
          <p:cNvSpPr/>
          <p:nvPr/>
        </p:nvSpPr>
        <p:spPr>
          <a:xfrm>
            <a:off x="6053400" y="14630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Formats user input into a full prompt string for the LLM.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6" name="Shape 30"/>
          <p:cNvSpPr/>
          <p:nvPr/>
        </p:nvSpPr>
        <p:spPr>
          <a:xfrm>
            <a:off x="5669280" y="2011680"/>
            <a:ext cx="3108600" cy="7128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31"/>
          <p:cNvSpPr/>
          <p:nvPr/>
        </p:nvSpPr>
        <p:spPr>
          <a:xfrm>
            <a:off x="5687640" y="2066400"/>
            <a:ext cx="310680" cy="310680"/>
          </a:xfrm>
          <a:prstGeom prst="ellipse">
            <a:avLst/>
          </a:prstGeom>
          <a:solidFill>
            <a:srgbClr val="c084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32"/>
          <p:cNvSpPr/>
          <p:nvPr/>
        </p:nvSpPr>
        <p:spPr>
          <a:xfrm>
            <a:off x="5687640" y="20664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9" name="Text 33"/>
          <p:cNvSpPr/>
          <p:nvPr/>
        </p:nvSpPr>
        <p:spPr>
          <a:xfrm>
            <a:off x="6053400" y="20484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onsolas"/>
                <a:ea typeface="Consolas"/>
              </a:rPr>
              <a:t>my_model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0" name="Text 34"/>
          <p:cNvSpPr/>
          <p:nvPr/>
        </p:nvSpPr>
        <p:spPr>
          <a:xfrm>
            <a:off x="6053400" y="228600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Sends the prompt to the LLM and receives a raw AI message.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1" name="Shape 35"/>
          <p:cNvSpPr/>
          <p:nvPr/>
        </p:nvSpPr>
        <p:spPr>
          <a:xfrm>
            <a:off x="5669280" y="2834640"/>
            <a:ext cx="3108600" cy="712800"/>
          </a:xfrm>
          <a:prstGeom prst="rect">
            <a:avLst/>
          </a:prstGeom>
          <a:solidFill>
            <a:srgbClr val="1620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Shape 36"/>
          <p:cNvSpPr/>
          <p:nvPr/>
        </p:nvSpPr>
        <p:spPr>
          <a:xfrm>
            <a:off x="5687640" y="2889360"/>
            <a:ext cx="310680" cy="310680"/>
          </a:xfrm>
          <a:prstGeom prst="ellipse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37"/>
          <p:cNvSpPr/>
          <p:nvPr/>
        </p:nvSpPr>
        <p:spPr>
          <a:xfrm>
            <a:off x="5687640" y="28893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4" name="Text 38"/>
          <p:cNvSpPr/>
          <p:nvPr/>
        </p:nvSpPr>
        <p:spPr>
          <a:xfrm>
            <a:off x="6053400" y="287136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onsolas"/>
                <a:ea typeface="Consolas"/>
              </a:rPr>
              <a:t>my_parser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5" name="Text 39"/>
          <p:cNvSpPr/>
          <p:nvPr/>
        </p:nvSpPr>
        <p:spPr>
          <a:xfrm>
            <a:off x="6053400" y="310896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Extracts clean string text from the LLM's response object.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6" name="Shape 40"/>
          <p:cNvSpPr/>
          <p:nvPr/>
        </p:nvSpPr>
        <p:spPr>
          <a:xfrm>
            <a:off x="5669280" y="3657600"/>
            <a:ext cx="3108600" cy="7128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Shape 41"/>
          <p:cNvSpPr/>
          <p:nvPr/>
        </p:nvSpPr>
        <p:spPr>
          <a:xfrm>
            <a:off x="5687640" y="3712320"/>
            <a:ext cx="310680" cy="310680"/>
          </a:xfrm>
          <a:prstGeom prst="ellipse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42"/>
          <p:cNvSpPr/>
          <p:nvPr/>
        </p:nvSpPr>
        <p:spPr>
          <a:xfrm>
            <a:off x="5687640" y="37123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9" name="Text 43"/>
          <p:cNvSpPr/>
          <p:nvPr/>
        </p:nvSpPr>
        <p:spPr>
          <a:xfrm>
            <a:off x="6053400" y="369432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onsolas"/>
                <a:ea typeface="Consolas"/>
              </a:rPr>
              <a:t>pipeline.invoke()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0" name="Text 44"/>
          <p:cNvSpPr/>
          <p:nvPr/>
        </p:nvSpPr>
        <p:spPr>
          <a:xfrm>
            <a:off x="6053400" y="393192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Runs all 3 steps end-to-end with a single call.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1"/>
          <p:cNvSpPr/>
          <p:nvPr/>
        </p:nvSpPr>
        <p:spPr>
          <a:xfrm>
            <a:off x="274320" y="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f172a"/>
                </a:solidFill>
                <a:latin typeface="Calibri"/>
                <a:ea typeface="Calibri"/>
              </a:rPr>
              <a:t>RunnableSequence — Extended Chain with 6 Steps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23" name="Shape 2"/>
          <p:cNvSpPr/>
          <p:nvPr/>
        </p:nvSpPr>
        <p:spPr>
          <a:xfrm>
            <a:off x="137160" y="685800"/>
            <a:ext cx="1298160" cy="10054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Shape 3"/>
          <p:cNvSpPr/>
          <p:nvPr/>
        </p:nvSpPr>
        <p:spPr>
          <a:xfrm>
            <a:off x="137160" y="685800"/>
            <a:ext cx="1298160" cy="11844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4"/>
          <p:cNvSpPr/>
          <p:nvPr/>
        </p:nvSpPr>
        <p:spPr>
          <a:xfrm>
            <a:off x="137160" y="822960"/>
            <a:ext cx="129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Consolas"/>
                <a:ea typeface="Consolas"/>
              </a:rPr>
              <a:t>prompt_a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137160" y="1143000"/>
            <a:ext cx="129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Generate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content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27" name="Shape 6"/>
          <p:cNvSpPr/>
          <p:nvPr/>
        </p:nvSpPr>
        <p:spPr>
          <a:xfrm>
            <a:off x="1454040" y="1161360"/>
            <a:ext cx="145800" cy="36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Shape 7"/>
          <p:cNvSpPr/>
          <p:nvPr/>
        </p:nvSpPr>
        <p:spPr>
          <a:xfrm>
            <a:off x="1627560" y="685800"/>
            <a:ext cx="1298160" cy="10054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9" name="Shape 8"/>
          <p:cNvSpPr/>
          <p:nvPr/>
        </p:nvSpPr>
        <p:spPr>
          <a:xfrm>
            <a:off x="1627560" y="685800"/>
            <a:ext cx="1298160" cy="118440"/>
          </a:xfrm>
          <a:prstGeom prst="rect">
            <a:avLst/>
          </a:prstGeom>
          <a:solidFill>
            <a:srgbClr val="c084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9"/>
          <p:cNvSpPr/>
          <p:nvPr/>
        </p:nvSpPr>
        <p:spPr>
          <a:xfrm>
            <a:off x="1627560" y="822960"/>
            <a:ext cx="129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Consolas"/>
                <a:ea typeface="Consolas"/>
              </a:rPr>
              <a:t>my_model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1627560" y="1143000"/>
            <a:ext cx="129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LLM Call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#1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2944440" y="1161360"/>
            <a:ext cx="145800" cy="36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Shape 12"/>
          <p:cNvSpPr/>
          <p:nvPr/>
        </p:nvSpPr>
        <p:spPr>
          <a:xfrm>
            <a:off x="3117960" y="685800"/>
            <a:ext cx="1298160" cy="10054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4" name="Shape 13"/>
          <p:cNvSpPr/>
          <p:nvPr/>
        </p:nvSpPr>
        <p:spPr>
          <a:xfrm>
            <a:off x="3117960" y="685800"/>
            <a:ext cx="1298160" cy="11844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14"/>
          <p:cNvSpPr/>
          <p:nvPr/>
        </p:nvSpPr>
        <p:spPr>
          <a:xfrm>
            <a:off x="3117960" y="822960"/>
            <a:ext cx="129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Consolas"/>
                <a:ea typeface="Consolas"/>
              </a:rPr>
              <a:t>my_parser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3117960" y="1143000"/>
            <a:ext cx="129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Parse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Output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4434840" y="1161360"/>
            <a:ext cx="145800" cy="36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17"/>
          <p:cNvSpPr/>
          <p:nvPr/>
        </p:nvSpPr>
        <p:spPr>
          <a:xfrm>
            <a:off x="4608720" y="685800"/>
            <a:ext cx="1298160" cy="10054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9" name="Shape 18"/>
          <p:cNvSpPr/>
          <p:nvPr/>
        </p:nvSpPr>
        <p:spPr>
          <a:xfrm>
            <a:off x="4608720" y="685800"/>
            <a:ext cx="1298160" cy="11844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19"/>
          <p:cNvSpPr/>
          <p:nvPr/>
        </p:nvSpPr>
        <p:spPr>
          <a:xfrm>
            <a:off x="4608720" y="822960"/>
            <a:ext cx="129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Consolas"/>
                <a:ea typeface="Consolas"/>
              </a:rPr>
              <a:t>prompt_b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1" name="Text 20"/>
          <p:cNvSpPr/>
          <p:nvPr/>
        </p:nvSpPr>
        <p:spPr>
          <a:xfrm>
            <a:off x="4608720" y="1143000"/>
            <a:ext cx="129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Explain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result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2" name="Shape 21"/>
          <p:cNvSpPr/>
          <p:nvPr/>
        </p:nvSpPr>
        <p:spPr>
          <a:xfrm>
            <a:off x="5925240" y="1161360"/>
            <a:ext cx="145800" cy="36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Shape 22"/>
          <p:cNvSpPr/>
          <p:nvPr/>
        </p:nvSpPr>
        <p:spPr>
          <a:xfrm>
            <a:off x="6099120" y="685800"/>
            <a:ext cx="1298160" cy="10054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4" name="Shape 23"/>
          <p:cNvSpPr/>
          <p:nvPr/>
        </p:nvSpPr>
        <p:spPr>
          <a:xfrm>
            <a:off x="6099120" y="685800"/>
            <a:ext cx="1298160" cy="118440"/>
          </a:xfrm>
          <a:prstGeom prst="rect">
            <a:avLst/>
          </a:prstGeom>
          <a:solidFill>
            <a:srgbClr val="c084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24"/>
          <p:cNvSpPr/>
          <p:nvPr/>
        </p:nvSpPr>
        <p:spPr>
          <a:xfrm>
            <a:off x="6099120" y="822960"/>
            <a:ext cx="129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Consolas"/>
                <a:ea typeface="Consolas"/>
              </a:rPr>
              <a:t>my_model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6" name="Text 25"/>
          <p:cNvSpPr/>
          <p:nvPr/>
        </p:nvSpPr>
        <p:spPr>
          <a:xfrm>
            <a:off x="6099120" y="1143000"/>
            <a:ext cx="129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LLM Call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#2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7" name="Shape 26"/>
          <p:cNvSpPr/>
          <p:nvPr/>
        </p:nvSpPr>
        <p:spPr>
          <a:xfrm>
            <a:off x="7415640" y="1161360"/>
            <a:ext cx="145800" cy="36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Shape 27"/>
          <p:cNvSpPr/>
          <p:nvPr/>
        </p:nvSpPr>
        <p:spPr>
          <a:xfrm>
            <a:off x="7589520" y="685800"/>
            <a:ext cx="1298160" cy="10054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9" name="Shape 28"/>
          <p:cNvSpPr/>
          <p:nvPr/>
        </p:nvSpPr>
        <p:spPr>
          <a:xfrm>
            <a:off x="7589520" y="685800"/>
            <a:ext cx="1298160" cy="11844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29"/>
          <p:cNvSpPr/>
          <p:nvPr/>
        </p:nvSpPr>
        <p:spPr>
          <a:xfrm>
            <a:off x="7589520" y="822960"/>
            <a:ext cx="129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Consolas"/>
                <a:ea typeface="Consolas"/>
              </a:rPr>
              <a:t>my_parser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1" name="Text 30"/>
          <p:cNvSpPr/>
          <p:nvPr/>
        </p:nvSpPr>
        <p:spPr>
          <a:xfrm>
            <a:off x="7589520" y="1143000"/>
            <a:ext cx="129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Parse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Output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2" name="Shape 31"/>
          <p:cNvSpPr/>
          <p:nvPr/>
        </p:nvSpPr>
        <p:spPr>
          <a:xfrm>
            <a:off x="182880" y="1874520"/>
            <a:ext cx="8777880" cy="297144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3" name="Shape 32"/>
          <p:cNvSpPr/>
          <p:nvPr/>
        </p:nvSpPr>
        <p:spPr>
          <a:xfrm>
            <a:off x="182880" y="1874520"/>
            <a:ext cx="8777880" cy="25560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33"/>
          <p:cNvSpPr/>
          <p:nvPr/>
        </p:nvSpPr>
        <p:spPr>
          <a:xfrm>
            <a:off x="320040" y="1874520"/>
            <a:ext cx="850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onsolas"/>
                <a:ea typeface="Consolas"/>
              </a:rPr>
              <a:t>extended_chain.py  —  6-step sequential pipeline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5" name="Text 34"/>
          <p:cNvSpPr/>
          <p:nvPr/>
        </p:nvSpPr>
        <p:spPr>
          <a:xfrm>
            <a:off x="320040" y="219456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6edf3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56" name="Text 35"/>
          <p:cNvSpPr/>
          <p:nvPr/>
        </p:nvSpPr>
        <p:spPr>
          <a:xfrm>
            <a:off x="320040" y="235008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6edf3"/>
                </a:solidFill>
                <a:latin typeface="Consolas"/>
                <a:ea typeface="Consolas"/>
              </a:rPr>
              <a:t>from langchain_core.prompts import PromptTemplate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57" name="Text 36"/>
          <p:cNvSpPr/>
          <p:nvPr/>
        </p:nvSpPr>
        <p:spPr>
          <a:xfrm>
            <a:off x="320040" y="250560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6edf3"/>
                </a:solidFill>
                <a:latin typeface="Consolas"/>
                <a:ea typeface="Consolas"/>
              </a:rPr>
              <a:t>from langchain_core.output_parsers import StrOutputParser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58" name="Text 37"/>
          <p:cNvSpPr/>
          <p:nvPr/>
        </p:nvSpPr>
        <p:spPr>
          <a:xfrm>
            <a:off x="320040" y="266076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6edf3"/>
                </a:solidFill>
                <a:latin typeface="Consolas"/>
                <a:ea typeface="Consolas"/>
              </a:rPr>
              <a:t>from langchain_core.runnables import RunnableSequence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59" name="Text 38"/>
          <p:cNvSpPr/>
          <p:nvPr/>
        </p:nvSpPr>
        <p:spPr>
          <a:xfrm>
            <a:off x="320040" y="281628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39"/>
          <p:cNvSpPr/>
          <p:nvPr/>
        </p:nvSpPr>
        <p:spPr>
          <a:xfrm>
            <a:off x="320040" y="297180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6edf3"/>
                </a:solidFill>
                <a:latin typeface="Consolas"/>
                <a:ea typeface="Consolas"/>
              </a:rPr>
              <a:t>prompt_a = PromptTemplate(template='Write a short story about {subject}',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61" name="Text 40"/>
          <p:cNvSpPr/>
          <p:nvPr/>
        </p:nvSpPr>
        <p:spPr>
          <a:xfrm>
            <a:off x="320040" y="312732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6edf3"/>
                </a:solidFill>
                <a:latin typeface="Consolas"/>
                <a:ea typeface="Consolas"/>
              </a:rPr>
              <a:t>                          </a:t>
            </a:r>
            <a:r>
              <a:rPr b="0" lang="en-US" sz="980" spc="-1" strike="noStrike">
                <a:solidFill>
                  <a:srgbClr val="e6edf3"/>
                </a:solidFill>
                <a:latin typeface="Consolas"/>
                <a:ea typeface="Consolas"/>
              </a:rPr>
              <a:t>input_variables=['subject'])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62" name="Text 41"/>
          <p:cNvSpPr/>
          <p:nvPr/>
        </p:nvSpPr>
        <p:spPr>
          <a:xfrm>
            <a:off x="320040" y="328284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6edf3"/>
                </a:solidFill>
                <a:latin typeface="Consolas"/>
                <a:ea typeface="Consolas"/>
              </a:rPr>
              <a:t>prompt_b = PromptTemplate(template='Summarize this story: {text}',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63" name="Text 42"/>
          <p:cNvSpPr/>
          <p:nvPr/>
        </p:nvSpPr>
        <p:spPr>
          <a:xfrm>
            <a:off x="320040" y="343800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6edf3"/>
                </a:solidFill>
                <a:latin typeface="Consolas"/>
                <a:ea typeface="Consolas"/>
              </a:rPr>
              <a:t>                          </a:t>
            </a:r>
            <a:r>
              <a:rPr b="0" lang="en-US" sz="980" spc="-1" strike="noStrike">
                <a:solidFill>
                  <a:srgbClr val="e6edf3"/>
                </a:solidFill>
                <a:latin typeface="Consolas"/>
                <a:ea typeface="Consolas"/>
              </a:rPr>
              <a:t>input_variables=['text'])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64" name="Text 43"/>
          <p:cNvSpPr/>
          <p:nvPr/>
        </p:nvSpPr>
        <p:spPr>
          <a:xfrm>
            <a:off x="320040" y="359352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6edf3"/>
                </a:solidFill>
                <a:latin typeface="Consolas"/>
                <a:ea typeface="Consolas"/>
              </a:rPr>
              <a:t>my_model, my_parser = ChatOpenAI(), StrOutputParser()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65" name="Text 44"/>
          <p:cNvSpPr/>
          <p:nvPr/>
        </p:nvSpPr>
        <p:spPr>
          <a:xfrm>
            <a:off x="320040" y="374904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45"/>
          <p:cNvSpPr/>
          <p:nvPr/>
        </p:nvSpPr>
        <p:spPr>
          <a:xfrm>
            <a:off x="320040" y="390456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6a737d"/>
                </a:solidFill>
                <a:latin typeface="Consolas"/>
                <a:ea typeface="Consolas"/>
              </a:rPr>
              <a:t># 6-step chain: generate → parse → explain → parse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67" name="Text 46"/>
          <p:cNvSpPr/>
          <p:nvPr/>
        </p:nvSpPr>
        <p:spPr>
          <a:xfrm>
            <a:off x="320040" y="406008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6edf3"/>
                </a:solidFill>
                <a:latin typeface="Consolas"/>
                <a:ea typeface="Consolas"/>
              </a:rPr>
              <a:t>long_pipeline = RunnableSequence(prompt_a, my_model, my_parser, prompt_b, my_model, my_parser)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68" name="Text 47"/>
          <p:cNvSpPr/>
          <p:nvPr/>
        </p:nvSpPr>
        <p:spPr>
          <a:xfrm>
            <a:off x="320040" y="421524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6edf3"/>
                </a:solidFill>
                <a:latin typeface="Consolas"/>
                <a:ea typeface="Consolas"/>
              </a:rPr>
              <a:t>print(long_pipeline.invoke({'subject': 'space exploration'}))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69" name="Text 48"/>
          <p:cNvSpPr/>
          <p:nvPr/>
        </p:nvSpPr>
        <p:spPr>
          <a:xfrm>
            <a:off x="320040" y="437076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49"/>
          <p:cNvSpPr/>
          <p:nvPr/>
        </p:nvSpPr>
        <p:spPr>
          <a:xfrm>
            <a:off x="320040" y="452628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6a737d"/>
                </a:solidFill>
                <a:latin typeface="Consolas"/>
                <a:ea typeface="Consolas"/>
              </a:rPr>
              <a:t># LCEL equivalent (same result, cleaner syntax):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71" name="Text 50"/>
          <p:cNvSpPr/>
          <p:nvPr/>
        </p:nvSpPr>
        <p:spPr>
          <a:xfrm>
            <a:off x="320040" y="4681800"/>
            <a:ext cx="84121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6edf3"/>
                </a:solidFill>
                <a:latin typeface="Consolas"/>
                <a:ea typeface="Consolas"/>
              </a:rPr>
              <a:t>lcel_pipeline = prompt_a | my_model | my_parser | prompt_b | my_model | my_parser</a:t>
            </a:r>
            <a:endParaRPr b="0" lang="en-IN" sz="9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1"/>
          <p:cNvSpPr/>
          <p:nvPr/>
        </p:nvSpPr>
        <p:spPr>
          <a:xfrm>
            <a:off x="274320" y="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  <a:ea typeface="Calibri"/>
              </a:rPr>
              <a:t>Runnable Primitive 2: RunnableParallel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74" name="Shape 2"/>
          <p:cNvSpPr/>
          <p:nvPr/>
        </p:nvSpPr>
        <p:spPr>
          <a:xfrm>
            <a:off x="182880" y="621720"/>
            <a:ext cx="8777880" cy="6854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Shape 3"/>
          <p:cNvSpPr/>
          <p:nvPr/>
        </p:nvSpPr>
        <p:spPr>
          <a:xfrm>
            <a:off x="182880" y="621720"/>
            <a:ext cx="63720" cy="68544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4"/>
          <p:cNvSpPr/>
          <p:nvPr/>
        </p:nvSpPr>
        <p:spPr>
          <a:xfrm>
            <a:off x="347400" y="7131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93c5fd"/>
                </a:solidFill>
                <a:latin typeface="Calibri"/>
                <a:ea typeface="Calibri"/>
              </a:rPr>
              <a:t>Definition: 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7" name="Text 5"/>
          <p:cNvSpPr/>
          <p:nvPr/>
        </p:nvSpPr>
        <p:spPr>
          <a:xfrm>
            <a:off x="1417320" y="71316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Runs multiple Runnables simultaneously. Each branch receives the same input and executes independently. Returns a dictionary of outputs — one key per branch.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78" name="Shape 6"/>
          <p:cNvSpPr/>
          <p:nvPr/>
        </p:nvSpPr>
        <p:spPr>
          <a:xfrm>
            <a:off x="274320" y="1508760"/>
            <a:ext cx="1371240" cy="6854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Shape 7"/>
          <p:cNvSpPr/>
          <p:nvPr/>
        </p:nvSpPr>
        <p:spPr>
          <a:xfrm>
            <a:off x="274320" y="1508760"/>
            <a:ext cx="1371240" cy="10944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Text 8"/>
          <p:cNvSpPr/>
          <p:nvPr/>
        </p:nvSpPr>
        <p:spPr>
          <a:xfrm>
            <a:off x="274320" y="164592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Input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{topic}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1" name="Shape 9"/>
          <p:cNvSpPr/>
          <p:nvPr/>
        </p:nvSpPr>
        <p:spPr>
          <a:xfrm>
            <a:off x="1673280" y="1810440"/>
            <a:ext cx="456840" cy="2700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Shape 10"/>
          <p:cNvSpPr/>
          <p:nvPr/>
        </p:nvSpPr>
        <p:spPr>
          <a:xfrm>
            <a:off x="2130480" y="1417320"/>
            <a:ext cx="27000" cy="42012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Shape 11"/>
          <p:cNvSpPr/>
          <p:nvPr/>
        </p:nvSpPr>
        <p:spPr>
          <a:xfrm>
            <a:off x="2130480" y="1417320"/>
            <a:ext cx="456840" cy="2700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Shape 12"/>
          <p:cNvSpPr/>
          <p:nvPr/>
        </p:nvSpPr>
        <p:spPr>
          <a:xfrm>
            <a:off x="2130480" y="1810440"/>
            <a:ext cx="27000" cy="63972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13"/>
          <p:cNvSpPr/>
          <p:nvPr/>
        </p:nvSpPr>
        <p:spPr>
          <a:xfrm>
            <a:off x="2130480" y="2423160"/>
            <a:ext cx="456840" cy="2700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Shape 14"/>
          <p:cNvSpPr/>
          <p:nvPr/>
        </p:nvSpPr>
        <p:spPr>
          <a:xfrm>
            <a:off x="2651760" y="1280160"/>
            <a:ext cx="1298160" cy="5299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Shape 15"/>
          <p:cNvSpPr/>
          <p:nvPr/>
        </p:nvSpPr>
        <p:spPr>
          <a:xfrm>
            <a:off x="2651760" y="1280160"/>
            <a:ext cx="1298160" cy="9108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16"/>
          <p:cNvSpPr/>
          <p:nvPr/>
        </p:nvSpPr>
        <p:spPr>
          <a:xfrm>
            <a:off x="2651760" y="1371600"/>
            <a:ext cx="1298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8fafc"/>
                </a:solidFill>
                <a:latin typeface="Consolas"/>
                <a:ea typeface="Consolas"/>
              </a:rPr>
              <a:t>prompt_x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9" name="Shape 17"/>
          <p:cNvSpPr/>
          <p:nvPr/>
        </p:nvSpPr>
        <p:spPr>
          <a:xfrm>
            <a:off x="3968640" y="1499760"/>
            <a:ext cx="164160" cy="2700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Shape 18"/>
          <p:cNvSpPr/>
          <p:nvPr/>
        </p:nvSpPr>
        <p:spPr>
          <a:xfrm>
            <a:off x="4160520" y="1280160"/>
            <a:ext cx="1298160" cy="5299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Shape 19"/>
          <p:cNvSpPr/>
          <p:nvPr/>
        </p:nvSpPr>
        <p:spPr>
          <a:xfrm>
            <a:off x="4160520" y="1280160"/>
            <a:ext cx="1298160" cy="91080"/>
          </a:xfrm>
          <a:prstGeom prst="rect">
            <a:avLst/>
          </a:prstGeom>
          <a:solidFill>
            <a:srgbClr val="c084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 20"/>
          <p:cNvSpPr/>
          <p:nvPr/>
        </p:nvSpPr>
        <p:spPr>
          <a:xfrm>
            <a:off x="4160520" y="1371600"/>
            <a:ext cx="1298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8fafc"/>
                </a:solidFill>
                <a:latin typeface="Consolas"/>
                <a:ea typeface="Consolas"/>
              </a:rPr>
              <a:t>llm_tweet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3" name="Shape 21"/>
          <p:cNvSpPr/>
          <p:nvPr/>
        </p:nvSpPr>
        <p:spPr>
          <a:xfrm>
            <a:off x="5477400" y="1499760"/>
            <a:ext cx="164160" cy="2700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Shape 22"/>
          <p:cNvSpPr/>
          <p:nvPr/>
        </p:nvSpPr>
        <p:spPr>
          <a:xfrm>
            <a:off x="5669280" y="1280160"/>
            <a:ext cx="1298160" cy="5299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Shape 23"/>
          <p:cNvSpPr/>
          <p:nvPr/>
        </p:nvSpPr>
        <p:spPr>
          <a:xfrm>
            <a:off x="5669280" y="1280160"/>
            <a:ext cx="1298160" cy="9108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24"/>
          <p:cNvSpPr/>
          <p:nvPr/>
        </p:nvSpPr>
        <p:spPr>
          <a:xfrm>
            <a:off x="5669280" y="1371600"/>
            <a:ext cx="1298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8fafc"/>
                </a:solidFill>
                <a:latin typeface="Consolas"/>
                <a:ea typeface="Consolas"/>
              </a:rPr>
              <a:t>my_parser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7" name="Shape 25"/>
          <p:cNvSpPr/>
          <p:nvPr/>
        </p:nvSpPr>
        <p:spPr>
          <a:xfrm>
            <a:off x="2651760" y="2286000"/>
            <a:ext cx="1298160" cy="5299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Shape 26"/>
          <p:cNvSpPr/>
          <p:nvPr/>
        </p:nvSpPr>
        <p:spPr>
          <a:xfrm>
            <a:off x="2651760" y="2286000"/>
            <a:ext cx="1298160" cy="9108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27"/>
          <p:cNvSpPr/>
          <p:nvPr/>
        </p:nvSpPr>
        <p:spPr>
          <a:xfrm>
            <a:off x="2651760" y="2377440"/>
            <a:ext cx="1298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8fafc"/>
                </a:solidFill>
                <a:latin typeface="Consolas"/>
                <a:ea typeface="Consolas"/>
              </a:rPr>
              <a:t>prompt_y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0" name="Shape 28"/>
          <p:cNvSpPr/>
          <p:nvPr/>
        </p:nvSpPr>
        <p:spPr>
          <a:xfrm>
            <a:off x="3968640" y="2505600"/>
            <a:ext cx="164160" cy="2700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Shape 29"/>
          <p:cNvSpPr/>
          <p:nvPr/>
        </p:nvSpPr>
        <p:spPr>
          <a:xfrm>
            <a:off x="4160520" y="2286000"/>
            <a:ext cx="1298160" cy="5299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Shape 30"/>
          <p:cNvSpPr/>
          <p:nvPr/>
        </p:nvSpPr>
        <p:spPr>
          <a:xfrm>
            <a:off x="4160520" y="2286000"/>
            <a:ext cx="1298160" cy="91080"/>
          </a:xfrm>
          <a:prstGeom prst="rect">
            <a:avLst/>
          </a:prstGeom>
          <a:solidFill>
            <a:srgbClr val="c084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31"/>
          <p:cNvSpPr/>
          <p:nvPr/>
        </p:nvSpPr>
        <p:spPr>
          <a:xfrm>
            <a:off x="4160520" y="2377440"/>
            <a:ext cx="1298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8fafc"/>
                </a:solidFill>
                <a:latin typeface="Consolas"/>
                <a:ea typeface="Consolas"/>
              </a:rPr>
              <a:t>llm_posts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4" name="Shape 32"/>
          <p:cNvSpPr/>
          <p:nvPr/>
        </p:nvSpPr>
        <p:spPr>
          <a:xfrm>
            <a:off x="5477400" y="2505600"/>
            <a:ext cx="164160" cy="2700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Shape 33"/>
          <p:cNvSpPr/>
          <p:nvPr/>
        </p:nvSpPr>
        <p:spPr>
          <a:xfrm>
            <a:off x="5669280" y="2286000"/>
            <a:ext cx="1298160" cy="5299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Shape 34"/>
          <p:cNvSpPr/>
          <p:nvPr/>
        </p:nvSpPr>
        <p:spPr>
          <a:xfrm>
            <a:off x="5669280" y="2286000"/>
            <a:ext cx="1298160" cy="9108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35"/>
          <p:cNvSpPr/>
          <p:nvPr/>
        </p:nvSpPr>
        <p:spPr>
          <a:xfrm>
            <a:off x="5669280" y="2377440"/>
            <a:ext cx="1298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8fafc"/>
                </a:solidFill>
                <a:latin typeface="Consolas"/>
                <a:ea typeface="Consolas"/>
              </a:rPr>
              <a:t>my_parser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8" name="Shape 36"/>
          <p:cNvSpPr/>
          <p:nvPr/>
        </p:nvSpPr>
        <p:spPr>
          <a:xfrm>
            <a:off x="7178040" y="1417320"/>
            <a:ext cx="365400" cy="2700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Shape 37"/>
          <p:cNvSpPr/>
          <p:nvPr/>
        </p:nvSpPr>
        <p:spPr>
          <a:xfrm>
            <a:off x="7543800" y="1280160"/>
            <a:ext cx="1188360" cy="529920"/>
          </a:xfrm>
          <a:prstGeom prst="rect">
            <a:avLst/>
          </a:prstGeom>
          <a:solidFill>
            <a:srgbClr val="0d2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38"/>
          <p:cNvSpPr/>
          <p:nvPr/>
        </p:nvSpPr>
        <p:spPr>
          <a:xfrm>
            <a:off x="7543800" y="1280160"/>
            <a:ext cx="1188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ee7b7"/>
                </a:solidFill>
                <a:latin typeface="Consolas"/>
                <a:ea typeface="Consolas"/>
              </a:rPr>
              <a:t>tweet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ee7b7"/>
                </a:solidFill>
                <a:latin typeface="Consolas"/>
                <a:ea typeface="Consolas"/>
              </a:rPr>
              <a:t>output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1" name="Shape 39"/>
          <p:cNvSpPr/>
          <p:nvPr/>
        </p:nvSpPr>
        <p:spPr>
          <a:xfrm>
            <a:off x="7178040" y="2423160"/>
            <a:ext cx="365400" cy="2700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Shape 40"/>
          <p:cNvSpPr/>
          <p:nvPr/>
        </p:nvSpPr>
        <p:spPr>
          <a:xfrm>
            <a:off x="7543800" y="2286000"/>
            <a:ext cx="1188360" cy="529920"/>
          </a:xfrm>
          <a:prstGeom prst="rect">
            <a:avLst/>
          </a:prstGeom>
          <a:solidFill>
            <a:srgbClr val="0d2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41"/>
          <p:cNvSpPr/>
          <p:nvPr/>
        </p:nvSpPr>
        <p:spPr>
          <a:xfrm>
            <a:off x="7543800" y="2286000"/>
            <a:ext cx="1188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ee7b7"/>
                </a:solidFill>
                <a:latin typeface="Consolas"/>
                <a:ea typeface="Consolas"/>
              </a:rPr>
              <a:t>linkedin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ee7b7"/>
                </a:solidFill>
                <a:latin typeface="Consolas"/>
                <a:ea typeface="Consolas"/>
              </a:rPr>
              <a:t>output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4" name="Text 42"/>
          <p:cNvSpPr/>
          <p:nvPr/>
        </p:nvSpPr>
        <p:spPr>
          <a:xfrm>
            <a:off x="2651760" y="1783080"/>
            <a:ext cx="4525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3c5fd"/>
                </a:solidFill>
                <a:latin typeface="Calibri"/>
                <a:ea typeface="Calibri"/>
              </a:rPr>
              <a:t>Branch 1: Tweet Generator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5" name="Text 43"/>
          <p:cNvSpPr/>
          <p:nvPr/>
        </p:nvSpPr>
        <p:spPr>
          <a:xfrm>
            <a:off x="2651760" y="2788920"/>
            <a:ext cx="4525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cd34d"/>
                </a:solidFill>
                <a:latin typeface="Calibri"/>
                <a:ea typeface="Calibri"/>
              </a:rPr>
              <a:t>Branch 2: LinkedIn Post Generator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6" name="Shape 44"/>
          <p:cNvSpPr/>
          <p:nvPr/>
        </p:nvSpPr>
        <p:spPr>
          <a:xfrm>
            <a:off x="182880" y="3246120"/>
            <a:ext cx="8777880" cy="3654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Shape 45"/>
          <p:cNvSpPr/>
          <p:nvPr/>
        </p:nvSpPr>
        <p:spPr>
          <a:xfrm>
            <a:off x="182880" y="3246120"/>
            <a:ext cx="45360" cy="36540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46"/>
          <p:cNvSpPr/>
          <p:nvPr/>
        </p:nvSpPr>
        <p:spPr>
          <a:xfrm>
            <a:off x="292680" y="3246120"/>
            <a:ext cx="8503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  </a:t>
            </a: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Same input is broadcast to ALL branches simultaneously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19" name="Shape 47"/>
          <p:cNvSpPr/>
          <p:nvPr/>
        </p:nvSpPr>
        <p:spPr>
          <a:xfrm>
            <a:off x="182880" y="3703320"/>
            <a:ext cx="8777880" cy="365400"/>
          </a:xfrm>
          <a:prstGeom prst="rect">
            <a:avLst/>
          </a:prstGeom>
          <a:solidFill>
            <a:srgbClr val="131f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Shape 48"/>
          <p:cNvSpPr/>
          <p:nvPr/>
        </p:nvSpPr>
        <p:spPr>
          <a:xfrm>
            <a:off x="182880" y="3703320"/>
            <a:ext cx="45360" cy="36540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49"/>
          <p:cNvSpPr/>
          <p:nvPr/>
        </p:nvSpPr>
        <p:spPr>
          <a:xfrm>
            <a:off x="292680" y="3703320"/>
            <a:ext cx="8503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  </a:t>
            </a: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Branches execute in PARALLEL — not sequentially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22" name="Shape 50"/>
          <p:cNvSpPr/>
          <p:nvPr/>
        </p:nvSpPr>
        <p:spPr>
          <a:xfrm>
            <a:off x="182880" y="4160520"/>
            <a:ext cx="8777880" cy="3654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Shape 51"/>
          <p:cNvSpPr/>
          <p:nvPr/>
        </p:nvSpPr>
        <p:spPr>
          <a:xfrm>
            <a:off x="182880" y="4160520"/>
            <a:ext cx="45360" cy="36540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Text 52"/>
          <p:cNvSpPr/>
          <p:nvPr/>
        </p:nvSpPr>
        <p:spPr>
          <a:xfrm>
            <a:off x="292680" y="4160520"/>
            <a:ext cx="8503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  </a:t>
            </a: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Output is always a Python dictionary {key: result}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1"/>
          <p:cNvSpPr/>
          <p:nvPr/>
        </p:nvSpPr>
        <p:spPr>
          <a:xfrm>
            <a:off x="274320" y="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0f172a"/>
                </a:solidFill>
                <a:latin typeface="Calibri"/>
                <a:ea typeface="Calibri"/>
              </a:rPr>
              <a:t>RunnableParallel — Code: Multi-Platform Content Generator</a:t>
            </a:r>
            <a:endParaRPr b="0" lang="en-IN" sz="1900" spc="-1" strike="noStrike">
              <a:latin typeface="Arial"/>
            </a:endParaRPr>
          </a:p>
        </p:txBody>
      </p:sp>
      <p:sp>
        <p:nvSpPr>
          <p:cNvPr id="327" name="Shape 2"/>
          <p:cNvSpPr/>
          <p:nvPr/>
        </p:nvSpPr>
        <p:spPr>
          <a:xfrm>
            <a:off x="182880" y="594360"/>
            <a:ext cx="5394600" cy="425160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8" name="Shape 3"/>
          <p:cNvSpPr/>
          <p:nvPr/>
        </p:nvSpPr>
        <p:spPr>
          <a:xfrm>
            <a:off x="182880" y="594360"/>
            <a:ext cx="5394600" cy="27396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 4"/>
          <p:cNvSpPr/>
          <p:nvPr/>
        </p:nvSpPr>
        <p:spPr>
          <a:xfrm>
            <a:off x="320040" y="59436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multi_platform.py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0" name="Text 5"/>
          <p:cNvSpPr/>
          <p:nvPr/>
        </p:nvSpPr>
        <p:spPr>
          <a:xfrm>
            <a:off x="292680" y="94176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d2a8ff"/>
                </a:solidFill>
                <a:latin typeface="Consolas"/>
                <a:ea typeface="Consolas"/>
              </a:rPr>
              <a:t>from langchain_openai import 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31" name="Text 6"/>
          <p:cNvSpPr/>
          <p:nvPr/>
        </p:nvSpPr>
        <p:spPr>
          <a:xfrm>
            <a:off x="292680" y="108360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d2a8ff"/>
                </a:solidFill>
                <a:latin typeface="Consolas"/>
                <a:ea typeface="Consolas"/>
              </a:rPr>
              <a:t>from langchain_core.prompts import 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32" name="Text 7"/>
          <p:cNvSpPr/>
          <p:nvPr/>
        </p:nvSpPr>
        <p:spPr>
          <a:xfrm>
            <a:off x="292680" y="122544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d2a8ff"/>
                </a:solidFill>
                <a:latin typeface="Consolas"/>
                <a:ea typeface="Consolas"/>
              </a:rPr>
              <a:t>from langchain_core.output_parsers import 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33" name="Text 8"/>
          <p:cNvSpPr/>
          <p:nvPr/>
        </p:nvSpPr>
        <p:spPr>
          <a:xfrm>
            <a:off x="292680" y="136692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d2a8ff"/>
                </a:solidFill>
                <a:latin typeface="Consolas"/>
                <a:ea typeface="Consolas"/>
              </a:rPr>
              <a:t>from langchain_core.runnables import 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34" name="Text 9"/>
          <p:cNvSpPr/>
          <p:nvPr/>
        </p:nvSpPr>
        <p:spPr>
          <a:xfrm>
            <a:off x="292680" y="150876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Text 10"/>
          <p:cNvSpPr/>
          <p:nvPr/>
        </p:nvSpPr>
        <p:spPr>
          <a:xfrm>
            <a:off x="292680" y="165060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a737d"/>
                </a:solidFill>
                <a:latin typeface="Consolas"/>
                <a:ea typeface="Consolas"/>
              </a:rPr>
              <a:t># Two different prompt templates for different platforms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36" name="Text 11"/>
          <p:cNvSpPr/>
          <p:nvPr/>
        </p:nvSpPr>
        <p:spPr>
          <a:xfrm>
            <a:off x="292680" y="179208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6edf3"/>
                </a:solidFill>
                <a:latin typeface="Consolas"/>
                <a:ea typeface="Consolas"/>
              </a:rPr>
              <a:t>prompt_tweet = PromptTemplate(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37" name="Text 12"/>
          <p:cNvSpPr/>
          <p:nvPr/>
        </p:nvSpPr>
        <p:spPr>
          <a:xfrm>
            <a:off x="292680" y="193392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ee78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7ee787"/>
                </a:solidFill>
                <a:latin typeface="Consolas"/>
                <a:ea typeface="Consolas"/>
              </a:rPr>
              <a:t>template='Write a social media post about {topic}',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38" name="Text 13"/>
          <p:cNvSpPr/>
          <p:nvPr/>
        </p:nvSpPr>
        <p:spPr>
          <a:xfrm>
            <a:off x="292680" y="207576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9c0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79c0ff"/>
                </a:solidFill>
                <a:latin typeface="Consolas"/>
                <a:ea typeface="Consolas"/>
              </a:rPr>
              <a:t>input_variables=['topic'])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39" name="Text 14"/>
          <p:cNvSpPr/>
          <p:nvPr/>
        </p:nvSpPr>
        <p:spPr>
          <a:xfrm>
            <a:off x="292680" y="221760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6edf3"/>
                </a:solidFill>
                <a:latin typeface="Consolas"/>
                <a:ea typeface="Consolas"/>
              </a:rPr>
              <a:t>prompt_article = PromptTemplate(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40" name="Text 15"/>
          <p:cNvSpPr/>
          <p:nvPr/>
        </p:nvSpPr>
        <p:spPr>
          <a:xfrm>
            <a:off x="292680" y="235908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ee78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7ee787"/>
                </a:solidFill>
                <a:latin typeface="Consolas"/>
                <a:ea typeface="Consolas"/>
              </a:rPr>
              <a:t>template='Write a professional article about {topic}',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41" name="Text 16"/>
          <p:cNvSpPr/>
          <p:nvPr/>
        </p:nvSpPr>
        <p:spPr>
          <a:xfrm>
            <a:off x="292680" y="250092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9c0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79c0ff"/>
                </a:solidFill>
                <a:latin typeface="Consolas"/>
                <a:ea typeface="Consolas"/>
              </a:rPr>
              <a:t>input_variables=['topic'])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42" name="Text 17"/>
          <p:cNvSpPr/>
          <p:nvPr/>
        </p:nvSpPr>
        <p:spPr>
          <a:xfrm>
            <a:off x="292680" y="264276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18"/>
          <p:cNvSpPr/>
          <p:nvPr/>
        </p:nvSpPr>
        <p:spPr>
          <a:xfrm>
            <a:off x="292680" y="278424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6edf3"/>
                </a:solidFill>
                <a:latin typeface="Consolas"/>
                <a:ea typeface="Consolas"/>
              </a:rPr>
              <a:t>my_model  = ChatOpenAI()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44" name="Text 19"/>
          <p:cNvSpPr/>
          <p:nvPr/>
        </p:nvSpPr>
        <p:spPr>
          <a:xfrm>
            <a:off x="292680" y="292608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6edf3"/>
                </a:solidFill>
                <a:latin typeface="Consolas"/>
                <a:ea typeface="Consolas"/>
              </a:rPr>
              <a:t>my_parser = StrOutputParser()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45" name="Text 20"/>
          <p:cNvSpPr/>
          <p:nvPr/>
        </p:nvSpPr>
        <p:spPr>
          <a:xfrm>
            <a:off x="292680" y="306792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21"/>
          <p:cNvSpPr/>
          <p:nvPr/>
        </p:nvSpPr>
        <p:spPr>
          <a:xfrm>
            <a:off x="292680" y="320940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a737d"/>
                </a:solidFill>
                <a:latin typeface="Consolas"/>
                <a:ea typeface="Consolas"/>
              </a:rPr>
              <a:t># Build parallel chain — both branches run concurrently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47" name="Text 22"/>
          <p:cNvSpPr/>
          <p:nvPr/>
        </p:nvSpPr>
        <p:spPr>
          <a:xfrm>
            <a:off x="292680" y="335124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6edf3"/>
                </a:solidFill>
                <a:latin typeface="Consolas"/>
                <a:ea typeface="Consolas"/>
              </a:rPr>
              <a:t>multi_chain = RunnableParallel({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48" name="Text 23"/>
          <p:cNvSpPr/>
          <p:nvPr/>
        </p:nvSpPr>
        <p:spPr>
          <a:xfrm>
            <a:off x="292680" y="349308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9c0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79c0ff"/>
                </a:solidFill>
                <a:latin typeface="Consolas"/>
                <a:ea typeface="Consolas"/>
              </a:rPr>
              <a:t>'social_post' : RunnableSequence(prompt_tweet,   my_model, my_parser),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49" name="Text 24"/>
          <p:cNvSpPr/>
          <p:nvPr/>
        </p:nvSpPr>
        <p:spPr>
          <a:xfrm>
            <a:off x="279720" y="376308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9c0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79c0ff"/>
                </a:solidFill>
                <a:latin typeface="Consolas"/>
                <a:ea typeface="Consolas"/>
              </a:rPr>
              <a:t>'pro_article' : RunnableSequence(prompt_article, my_model, my_parser)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50" name="Text 25"/>
          <p:cNvSpPr/>
          <p:nvPr/>
        </p:nvSpPr>
        <p:spPr>
          <a:xfrm>
            <a:off x="292680" y="377640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6edf3"/>
                </a:solidFill>
                <a:latin typeface="Consolas"/>
                <a:ea typeface="Consolas"/>
              </a:rPr>
              <a:t>})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51" name="Text 26"/>
          <p:cNvSpPr/>
          <p:nvPr/>
        </p:nvSpPr>
        <p:spPr>
          <a:xfrm>
            <a:off x="292680" y="391824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27"/>
          <p:cNvSpPr/>
          <p:nvPr/>
        </p:nvSpPr>
        <p:spPr>
          <a:xfrm>
            <a:off x="292680" y="406008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6edf3"/>
                </a:solidFill>
                <a:latin typeface="Consolas"/>
                <a:ea typeface="Consolas"/>
              </a:rPr>
              <a:t>result = multi_chain.invoke({'topic': 'AI in healthcare'})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53" name="Text 28"/>
          <p:cNvSpPr/>
          <p:nvPr/>
        </p:nvSpPr>
        <p:spPr>
          <a:xfrm>
            <a:off x="292680" y="420156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a737d"/>
                </a:solidFill>
                <a:latin typeface="Consolas"/>
                <a:ea typeface="Consolas"/>
              </a:rPr>
              <a:t>print(result['social_post'])    # social media text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54" name="Text 29"/>
          <p:cNvSpPr/>
          <p:nvPr/>
        </p:nvSpPr>
        <p:spPr>
          <a:xfrm>
            <a:off x="292680" y="4343400"/>
            <a:ext cx="5120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a737d"/>
                </a:solidFill>
                <a:latin typeface="Consolas"/>
                <a:ea typeface="Consolas"/>
              </a:rPr>
              <a:t>print(result['pro_article'])    # professional article text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55" name="Shape 30"/>
          <p:cNvSpPr/>
          <p:nvPr/>
        </p:nvSpPr>
        <p:spPr>
          <a:xfrm>
            <a:off x="5760720" y="594360"/>
            <a:ext cx="3200040" cy="4251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 31"/>
          <p:cNvSpPr/>
          <p:nvPr/>
        </p:nvSpPr>
        <p:spPr>
          <a:xfrm>
            <a:off x="5897880" y="6858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93c5fd"/>
                </a:solidFill>
                <a:latin typeface="Calibri"/>
                <a:ea typeface="Calibri"/>
              </a:rPr>
              <a:t>Key Points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57" name="Shape 32"/>
          <p:cNvSpPr/>
          <p:nvPr/>
        </p:nvSpPr>
        <p:spPr>
          <a:xfrm>
            <a:off x="5806440" y="1170360"/>
            <a:ext cx="3062880" cy="758520"/>
          </a:xfrm>
          <a:prstGeom prst="rect">
            <a:avLst/>
          </a:prstGeom>
          <a:solidFill>
            <a:srgbClr val="1620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Shape 33"/>
          <p:cNvSpPr/>
          <p:nvPr/>
        </p:nvSpPr>
        <p:spPr>
          <a:xfrm>
            <a:off x="5806440" y="1170360"/>
            <a:ext cx="54360" cy="75852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Text 34"/>
          <p:cNvSpPr/>
          <p:nvPr/>
        </p:nvSpPr>
        <p:spPr>
          <a:xfrm>
            <a:off x="5916240" y="120708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Dictionary Input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0" name="Text 35"/>
          <p:cNvSpPr/>
          <p:nvPr/>
        </p:nvSpPr>
        <p:spPr>
          <a:xfrm>
            <a:off x="5916240" y="1444680"/>
            <a:ext cx="2834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Pass a dict to RunnableParallel where each key is a branch name and value is a chain.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1" name="Shape 36"/>
          <p:cNvSpPr/>
          <p:nvPr/>
        </p:nvSpPr>
        <p:spPr>
          <a:xfrm>
            <a:off x="5806440" y="2057400"/>
            <a:ext cx="3062880" cy="75852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Shape 37"/>
          <p:cNvSpPr/>
          <p:nvPr/>
        </p:nvSpPr>
        <p:spPr>
          <a:xfrm>
            <a:off x="5806440" y="2057400"/>
            <a:ext cx="54360" cy="75852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38"/>
          <p:cNvSpPr/>
          <p:nvPr/>
        </p:nvSpPr>
        <p:spPr>
          <a:xfrm>
            <a:off x="5916240" y="20941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Concurrent Execution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4" name="Text 39"/>
          <p:cNvSpPr/>
          <p:nvPr/>
        </p:nvSpPr>
        <p:spPr>
          <a:xfrm>
            <a:off x="5916240" y="2331720"/>
            <a:ext cx="2834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Both 'social_post' and 'pro_article' branches run at the same time — not one after another.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5" name="Shape 40"/>
          <p:cNvSpPr/>
          <p:nvPr/>
        </p:nvSpPr>
        <p:spPr>
          <a:xfrm>
            <a:off x="5806440" y="2944440"/>
            <a:ext cx="3062880" cy="758520"/>
          </a:xfrm>
          <a:prstGeom prst="rect">
            <a:avLst/>
          </a:prstGeom>
          <a:solidFill>
            <a:srgbClr val="1620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Shape 41"/>
          <p:cNvSpPr/>
          <p:nvPr/>
        </p:nvSpPr>
        <p:spPr>
          <a:xfrm>
            <a:off x="5806440" y="2944440"/>
            <a:ext cx="54360" cy="75852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42"/>
          <p:cNvSpPr/>
          <p:nvPr/>
        </p:nvSpPr>
        <p:spPr>
          <a:xfrm>
            <a:off x="5916240" y="298080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Same Input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8" name="Text 43"/>
          <p:cNvSpPr/>
          <p:nvPr/>
        </p:nvSpPr>
        <p:spPr>
          <a:xfrm>
            <a:off x="5916240" y="3218760"/>
            <a:ext cx="2834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{'topic': 'AI in healthcare'} is passed to BOTH chains automatically.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9" name="Shape 44"/>
          <p:cNvSpPr/>
          <p:nvPr/>
        </p:nvSpPr>
        <p:spPr>
          <a:xfrm>
            <a:off x="5806440" y="3831480"/>
            <a:ext cx="3062880" cy="75852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Shape 45"/>
          <p:cNvSpPr/>
          <p:nvPr/>
        </p:nvSpPr>
        <p:spPr>
          <a:xfrm>
            <a:off x="5806440" y="3831480"/>
            <a:ext cx="54360" cy="758520"/>
          </a:xfrm>
          <a:prstGeom prst="rect">
            <a:avLst/>
          </a:prstGeom>
          <a:solidFill>
            <a:srgbClr val="c084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Text 46"/>
          <p:cNvSpPr/>
          <p:nvPr/>
        </p:nvSpPr>
        <p:spPr>
          <a:xfrm>
            <a:off x="5916240" y="386784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Dict Output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2" name="Text 47"/>
          <p:cNvSpPr/>
          <p:nvPr/>
        </p:nvSpPr>
        <p:spPr>
          <a:xfrm>
            <a:off x="5916240" y="4105800"/>
            <a:ext cx="2834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result['social_post'] and result['pro_article'] — access outputs by their key names.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Text 1"/>
          <p:cNvSpPr/>
          <p:nvPr/>
        </p:nvSpPr>
        <p:spPr>
          <a:xfrm>
            <a:off x="274320" y="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f172a"/>
                </a:solidFill>
                <a:latin typeface="Calibri"/>
                <a:ea typeface="Calibri"/>
              </a:rPr>
              <a:t>LangChain Expression Language (LCEL) — The Pipe Operator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75" name="Shape 2"/>
          <p:cNvSpPr/>
          <p:nvPr/>
        </p:nvSpPr>
        <p:spPr>
          <a:xfrm>
            <a:off x="182880" y="640080"/>
            <a:ext cx="8777880" cy="7311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Shape 3"/>
          <p:cNvSpPr/>
          <p:nvPr/>
        </p:nvSpPr>
        <p:spPr>
          <a:xfrm>
            <a:off x="182880" y="640080"/>
            <a:ext cx="63720" cy="73116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Text 4"/>
          <p:cNvSpPr/>
          <p:nvPr/>
        </p:nvSpPr>
        <p:spPr>
          <a:xfrm>
            <a:off x="384120" y="7315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LCEL is a declarative syntax using the | (pipe) operator to define sequential chains — a cleaner alternative to writing RunnableSequence(r1, r2, r3...).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8" name="Shape 5"/>
          <p:cNvSpPr/>
          <p:nvPr/>
        </p:nvSpPr>
        <p:spPr>
          <a:xfrm>
            <a:off x="182880" y="1536120"/>
            <a:ext cx="4251600" cy="260568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9" name="Shape 6"/>
          <p:cNvSpPr/>
          <p:nvPr/>
        </p:nvSpPr>
        <p:spPr>
          <a:xfrm>
            <a:off x="182880" y="1536120"/>
            <a:ext cx="4251600" cy="292320"/>
          </a:xfrm>
          <a:prstGeom prst="rect">
            <a:avLst/>
          </a:prstGeom>
          <a:solidFill>
            <a:srgbClr val="3d1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Text 7"/>
          <p:cNvSpPr/>
          <p:nvPr/>
        </p:nvSpPr>
        <p:spPr>
          <a:xfrm>
            <a:off x="320040" y="153612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87171"/>
                </a:solidFill>
                <a:latin typeface="Calibri"/>
                <a:ea typeface="Calibri"/>
              </a:rPr>
              <a:t>❌  </a:t>
            </a:r>
            <a:r>
              <a:rPr b="0" lang="en-US" sz="1100" spc="-1" strike="noStrike">
                <a:solidFill>
                  <a:srgbClr val="f87171"/>
                </a:solidFill>
                <a:latin typeface="Calibri"/>
                <a:ea typeface="Calibri"/>
              </a:rPr>
              <a:t>Without LCEL (verbose)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1" name="Text 8"/>
          <p:cNvSpPr/>
          <p:nvPr/>
        </p:nvSpPr>
        <p:spPr>
          <a:xfrm>
            <a:off x="320040" y="192024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onsolas"/>
                <a:ea typeface="Consolas"/>
              </a:rPr>
              <a:t>chain = RunnableSequence(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82" name="Text 9"/>
          <p:cNvSpPr/>
          <p:nvPr/>
        </p:nvSpPr>
        <p:spPr>
          <a:xfrm>
            <a:off x="320040" y="216720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e6edf3"/>
                </a:solidFill>
                <a:latin typeface="Consolas"/>
                <a:ea typeface="Consolas"/>
              </a:rPr>
              <a:t>my_prompt,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83" name="Text 10"/>
          <p:cNvSpPr/>
          <p:nvPr/>
        </p:nvSpPr>
        <p:spPr>
          <a:xfrm>
            <a:off x="320040" y="241416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e6edf3"/>
                </a:solidFill>
                <a:latin typeface="Consolas"/>
                <a:ea typeface="Consolas"/>
              </a:rPr>
              <a:t>my_model,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84" name="Text 11"/>
          <p:cNvSpPr/>
          <p:nvPr/>
        </p:nvSpPr>
        <p:spPr>
          <a:xfrm>
            <a:off x="320040" y="266076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e6edf3"/>
                </a:solidFill>
                <a:latin typeface="Consolas"/>
                <a:ea typeface="Consolas"/>
              </a:rPr>
              <a:t>my_parser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85" name="Text 12"/>
          <p:cNvSpPr/>
          <p:nvPr/>
        </p:nvSpPr>
        <p:spPr>
          <a:xfrm>
            <a:off x="320040" y="290772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onsolas"/>
                <a:ea typeface="Consolas"/>
              </a:rPr>
              <a:t>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86" name="Text 13"/>
          <p:cNvSpPr/>
          <p:nvPr/>
        </p:nvSpPr>
        <p:spPr>
          <a:xfrm>
            <a:off x="320040" y="315468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Text 14"/>
          <p:cNvSpPr/>
          <p:nvPr/>
        </p:nvSpPr>
        <p:spPr>
          <a:xfrm>
            <a:off x="320040" y="340164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onsolas"/>
                <a:ea typeface="Consolas"/>
              </a:rPr>
              <a:t>result = chain.invoke({'subject': 'AI'})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88" name="Text 15"/>
          <p:cNvSpPr/>
          <p:nvPr/>
        </p:nvSpPr>
        <p:spPr>
          <a:xfrm>
            <a:off x="320040" y="364860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onsolas"/>
                <a:ea typeface="Consolas"/>
              </a:rPr>
              <a:t>print(result)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89" name="Shape 16"/>
          <p:cNvSpPr/>
          <p:nvPr/>
        </p:nvSpPr>
        <p:spPr>
          <a:xfrm>
            <a:off x="4754880" y="1536120"/>
            <a:ext cx="4251600" cy="260568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0" name="Shape 17"/>
          <p:cNvSpPr/>
          <p:nvPr/>
        </p:nvSpPr>
        <p:spPr>
          <a:xfrm>
            <a:off x="4754880" y="1536120"/>
            <a:ext cx="4251600" cy="292320"/>
          </a:xfrm>
          <a:prstGeom prst="rect">
            <a:avLst/>
          </a:prstGeom>
          <a:solidFill>
            <a:srgbClr val="0e2d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Text 18"/>
          <p:cNvSpPr/>
          <p:nvPr/>
        </p:nvSpPr>
        <p:spPr>
          <a:xfrm>
            <a:off x="4892040" y="153612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ee7b7"/>
                </a:solidFill>
                <a:latin typeface="Calibri"/>
                <a:ea typeface="Calibri"/>
              </a:rPr>
              <a:t>✅  </a:t>
            </a:r>
            <a:r>
              <a:rPr b="0" lang="en-US" sz="1100" spc="-1" strike="noStrike">
                <a:solidFill>
                  <a:srgbClr val="6ee7b7"/>
                </a:solidFill>
                <a:latin typeface="Calibri"/>
                <a:ea typeface="Calibri"/>
              </a:rPr>
              <a:t>With LCEL (clean &amp; expressive)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92" name="Text 19"/>
          <p:cNvSpPr/>
          <p:nvPr/>
        </p:nvSpPr>
        <p:spPr>
          <a:xfrm>
            <a:off x="4892040" y="192024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a737d"/>
                </a:solidFill>
                <a:latin typeface="Consolas"/>
                <a:ea typeface="Consolas"/>
              </a:rPr>
              <a:t># Pipe operator replaces RunnableSequence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93" name="Text 20"/>
          <p:cNvSpPr/>
          <p:nvPr/>
        </p:nvSpPr>
        <p:spPr>
          <a:xfrm>
            <a:off x="4892040" y="216720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cd34d"/>
                </a:solidFill>
                <a:latin typeface="Consolas"/>
                <a:ea typeface="Consolas"/>
              </a:rPr>
              <a:t>chain = my_prompt | my_model | my_parser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94" name="Text 21"/>
          <p:cNvSpPr/>
          <p:nvPr/>
        </p:nvSpPr>
        <p:spPr>
          <a:xfrm>
            <a:off x="4892040" y="241416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Text 22"/>
          <p:cNvSpPr/>
          <p:nvPr/>
        </p:nvSpPr>
        <p:spPr>
          <a:xfrm>
            <a:off x="4892040" y="266076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Text 23"/>
          <p:cNvSpPr/>
          <p:nvPr/>
        </p:nvSpPr>
        <p:spPr>
          <a:xfrm>
            <a:off x="4892040" y="290772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Text 24"/>
          <p:cNvSpPr/>
          <p:nvPr/>
        </p:nvSpPr>
        <p:spPr>
          <a:xfrm>
            <a:off x="4892040" y="315468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Text 25"/>
          <p:cNvSpPr/>
          <p:nvPr/>
        </p:nvSpPr>
        <p:spPr>
          <a:xfrm>
            <a:off x="4892040" y="340164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onsolas"/>
                <a:ea typeface="Consolas"/>
              </a:rPr>
              <a:t>result = chain.invoke({'subject': 'AI'})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99" name="Text 26"/>
          <p:cNvSpPr/>
          <p:nvPr/>
        </p:nvSpPr>
        <p:spPr>
          <a:xfrm>
            <a:off x="4892040" y="364860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6edf3"/>
                </a:solidFill>
                <a:latin typeface="Consolas"/>
                <a:ea typeface="Consolas"/>
              </a:rPr>
              <a:t>print(result)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00" name="Shape 27"/>
          <p:cNvSpPr/>
          <p:nvPr/>
        </p:nvSpPr>
        <p:spPr>
          <a:xfrm>
            <a:off x="4343400" y="2560320"/>
            <a:ext cx="456840" cy="456840"/>
          </a:xfrm>
          <a:prstGeom prst="ellipse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Text 28"/>
          <p:cNvSpPr/>
          <p:nvPr/>
        </p:nvSpPr>
        <p:spPr>
          <a:xfrm>
            <a:off x="4343400" y="2560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VS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2" name="Shape 29"/>
          <p:cNvSpPr/>
          <p:nvPr/>
        </p:nvSpPr>
        <p:spPr>
          <a:xfrm>
            <a:off x="182880" y="4325040"/>
            <a:ext cx="8777880" cy="3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Shape 30"/>
          <p:cNvSpPr/>
          <p:nvPr/>
        </p:nvSpPr>
        <p:spPr>
          <a:xfrm>
            <a:off x="182880" y="4325040"/>
            <a:ext cx="8777880" cy="3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Shape 31"/>
          <p:cNvSpPr/>
          <p:nvPr/>
        </p:nvSpPr>
        <p:spPr>
          <a:xfrm>
            <a:off x="182880" y="4325040"/>
            <a:ext cx="8777880" cy="3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Shape 32"/>
          <p:cNvSpPr/>
          <p:nvPr/>
        </p:nvSpPr>
        <p:spPr>
          <a:xfrm>
            <a:off x="182880" y="4251960"/>
            <a:ext cx="8777880" cy="6397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Shape 33"/>
          <p:cNvSpPr/>
          <p:nvPr/>
        </p:nvSpPr>
        <p:spPr>
          <a:xfrm>
            <a:off x="255960" y="4316040"/>
            <a:ext cx="310680" cy="310680"/>
          </a:xfrm>
          <a:prstGeom prst="ellipse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Text 34"/>
          <p:cNvSpPr/>
          <p:nvPr/>
        </p:nvSpPr>
        <p:spPr>
          <a:xfrm>
            <a:off x="255960" y="4316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|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8" name="Text 35"/>
          <p:cNvSpPr/>
          <p:nvPr/>
        </p:nvSpPr>
        <p:spPr>
          <a:xfrm>
            <a:off x="621720" y="4279320"/>
            <a:ext cx="2514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The pipe operator | chains any two Runnables — same as RunnableSequence but 10x cleaner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09" name="Shape 36"/>
          <p:cNvSpPr/>
          <p:nvPr/>
        </p:nvSpPr>
        <p:spPr>
          <a:xfrm>
            <a:off x="3227760" y="4316040"/>
            <a:ext cx="310680" cy="310680"/>
          </a:xfrm>
          <a:prstGeom prst="ellipse">
            <a:avLst/>
          </a:prstGeom>
          <a:solidFill>
            <a:srgbClr val="f871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 37"/>
          <p:cNvSpPr/>
          <p:nvPr/>
        </p:nvSpPr>
        <p:spPr>
          <a:xfrm>
            <a:off x="3227760" y="4316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11" name="Text 38"/>
          <p:cNvSpPr/>
          <p:nvPr/>
        </p:nvSpPr>
        <p:spPr>
          <a:xfrm>
            <a:off x="3593520" y="4279320"/>
            <a:ext cx="2514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Currently LCEL pipe syntax only works for sequential chains. Parallel &amp; Branch still need explicit classes.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12" name="Shape 39"/>
          <p:cNvSpPr/>
          <p:nvPr/>
        </p:nvSpPr>
        <p:spPr>
          <a:xfrm>
            <a:off x="6199560" y="4316040"/>
            <a:ext cx="310680" cy="310680"/>
          </a:xfrm>
          <a:prstGeom prst="ellipse">
            <a:avLst/>
          </a:prstGeom>
          <a:solidFill>
            <a:srgbClr val="c084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Text 40"/>
          <p:cNvSpPr/>
          <p:nvPr/>
        </p:nvSpPr>
        <p:spPr>
          <a:xfrm>
            <a:off x="6199560" y="4316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14" name="Text 41"/>
          <p:cNvSpPr/>
          <p:nvPr/>
        </p:nvSpPr>
        <p:spPr>
          <a:xfrm>
            <a:off x="6565320" y="4279320"/>
            <a:ext cx="2514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Future LCEL may introduce &amp; for parallel and other declarative syntax for all primitives.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c084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Text 1"/>
          <p:cNvSpPr/>
          <p:nvPr/>
        </p:nvSpPr>
        <p:spPr>
          <a:xfrm>
            <a:off x="274320" y="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0f172a"/>
                </a:solidFill>
                <a:latin typeface="Calibri"/>
                <a:ea typeface="Calibri"/>
              </a:rPr>
              <a:t>Part 1 Summary — LangChain Runnables Overview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417" name="Shape 2"/>
          <p:cNvSpPr/>
          <p:nvPr/>
        </p:nvSpPr>
        <p:spPr>
          <a:xfrm>
            <a:off x="182880" y="685800"/>
            <a:ext cx="2834280" cy="19198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8" name="Shape 3"/>
          <p:cNvSpPr/>
          <p:nvPr/>
        </p:nvSpPr>
        <p:spPr>
          <a:xfrm>
            <a:off x="182880" y="685800"/>
            <a:ext cx="2834280" cy="54360"/>
          </a:xfrm>
          <a:prstGeom prst="rect">
            <a:avLst/>
          </a:prstGeom>
          <a:solidFill>
            <a:srgbClr val="f871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Shape 4"/>
          <p:cNvSpPr/>
          <p:nvPr/>
        </p:nvSpPr>
        <p:spPr>
          <a:xfrm>
            <a:off x="292680" y="822960"/>
            <a:ext cx="383760" cy="383760"/>
          </a:xfrm>
          <a:prstGeom prst="ellipse">
            <a:avLst/>
          </a:prstGeom>
          <a:solidFill>
            <a:srgbClr val="f871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Text 5"/>
          <p:cNvSpPr/>
          <p:nvPr/>
        </p:nvSpPr>
        <p:spPr>
          <a:xfrm>
            <a:off x="292680" y="822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★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21" name="Text 6"/>
          <p:cNvSpPr/>
          <p:nvPr/>
        </p:nvSpPr>
        <p:spPr>
          <a:xfrm>
            <a:off x="749880" y="8503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Standardization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22" name="Text 7"/>
          <p:cNvSpPr/>
          <p:nvPr/>
        </p:nvSpPr>
        <p:spPr>
          <a:xfrm>
            <a:off x="320040" y="1280160"/>
            <a:ext cx="25783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Runnables solved the inconsistent API problem. All components now use .invoke() uniformly.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3" name="Shape 8"/>
          <p:cNvSpPr/>
          <p:nvPr/>
        </p:nvSpPr>
        <p:spPr>
          <a:xfrm>
            <a:off x="3154680" y="685800"/>
            <a:ext cx="2834280" cy="19198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4" name="Shape 9"/>
          <p:cNvSpPr/>
          <p:nvPr/>
        </p:nvSpPr>
        <p:spPr>
          <a:xfrm>
            <a:off x="3154680" y="685800"/>
            <a:ext cx="2834280" cy="54360"/>
          </a:xfrm>
          <a:prstGeom prst="rect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Shape 10"/>
          <p:cNvSpPr/>
          <p:nvPr/>
        </p:nvSpPr>
        <p:spPr>
          <a:xfrm>
            <a:off x="3264480" y="822960"/>
            <a:ext cx="383760" cy="383760"/>
          </a:xfrm>
          <a:prstGeom prst="ellipse">
            <a:avLst/>
          </a:prstGeom>
          <a:solidFill>
            <a:srgbClr val="93c5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Text 11"/>
          <p:cNvSpPr/>
          <p:nvPr/>
        </p:nvSpPr>
        <p:spPr>
          <a:xfrm>
            <a:off x="3264480" y="822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◆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27" name="Text 12"/>
          <p:cNvSpPr/>
          <p:nvPr/>
        </p:nvSpPr>
        <p:spPr>
          <a:xfrm>
            <a:off x="3721680" y="8503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Two Categories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28" name="Text 13"/>
          <p:cNvSpPr/>
          <p:nvPr/>
        </p:nvSpPr>
        <p:spPr>
          <a:xfrm>
            <a:off x="3291840" y="1280160"/>
            <a:ext cx="25783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Task-Specific (Prompt, LLM, Parser) vs Runnable Primitives (Sequence, Parallel, Branch, Lambda, PassThrough).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9" name="Shape 14"/>
          <p:cNvSpPr/>
          <p:nvPr/>
        </p:nvSpPr>
        <p:spPr>
          <a:xfrm>
            <a:off x="6126480" y="685800"/>
            <a:ext cx="2834280" cy="19198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0" name="Shape 15"/>
          <p:cNvSpPr/>
          <p:nvPr/>
        </p:nvSpPr>
        <p:spPr>
          <a:xfrm>
            <a:off x="6126480" y="685800"/>
            <a:ext cx="2834280" cy="5436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Shape 16"/>
          <p:cNvSpPr/>
          <p:nvPr/>
        </p:nvSpPr>
        <p:spPr>
          <a:xfrm>
            <a:off x="6236280" y="822960"/>
            <a:ext cx="383760" cy="383760"/>
          </a:xfrm>
          <a:prstGeom prst="ellipse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Text 17"/>
          <p:cNvSpPr/>
          <p:nvPr/>
        </p:nvSpPr>
        <p:spPr>
          <a:xfrm>
            <a:off x="6236280" y="822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→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3" name="Text 18"/>
          <p:cNvSpPr/>
          <p:nvPr/>
        </p:nvSpPr>
        <p:spPr>
          <a:xfrm>
            <a:off x="6693480" y="8503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RunnableSequence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4" name="Text 19"/>
          <p:cNvSpPr/>
          <p:nvPr/>
        </p:nvSpPr>
        <p:spPr>
          <a:xfrm>
            <a:off x="6263640" y="1280160"/>
            <a:ext cx="25783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Chains Runnables one after another. Output of step N is input to step N+1. Most-used primitive.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5" name="Shape 20"/>
          <p:cNvSpPr/>
          <p:nvPr/>
        </p:nvSpPr>
        <p:spPr>
          <a:xfrm>
            <a:off x="182880" y="2834640"/>
            <a:ext cx="2834280" cy="19198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6" name="Shape 21"/>
          <p:cNvSpPr/>
          <p:nvPr/>
        </p:nvSpPr>
        <p:spPr>
          <a:xfrm>
            <a:off x="182880" y="2834640"/>
            <a:ext cx="2834280" cy="5436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7" name="Shape 22"/>
          <p:cNvSpPr/>
          <p:nvPr/>
        </p:nvSpPr>
        <p:spPr>
          <a:xfrm>
            <a:off x="292680" y="2971800"/>
            <a:ext cx="383760" cy="383760"/>
          </a:xfrm>
          <a:prstGeom prst="ellipse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23"/>
          <p:cNvSpPr/>
          <p:nvPr/>
        </p:nvSpPr>
        <p:spPr>
          <a:xfrm>
            <a:off x="292680" y="29718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⇒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9" name="Text 24"/>
          <p:cNvSpPr/>
          <p:nvPr/>
        </p:nvSpPr>
        <p:spPr>
          <a:xfrm>
            <a:off x="749880" y="29991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RunnableParallel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40" name="Text 25"/>
          <p:cNvSpPr/>
          <p:nvPr/>
        </p:nvSpPr>
        <p:spPr>
          <a:xfrm>
            <a:off x="320040" y="3429000"/>
            <a:ext cx="25783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Runs multiple chains concurrently on the same input. Returns a dict of results keyed by branch name.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41" name="Shape 26"/>
          <p:cNvSpPr/>
          <p:nvPr/>
        </p:nvSpPr>
        <p:spPr>
          <a:xfrm>
            <a:off x="3154680" y="2834640"/>
            <a:ext cx="2834280" cy="19198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2" name="Shape 27"/>
          <p:cNvSpPr/>
          <p:nvPr/>
        </p:nvSpPr>
        <p:spPr>
          <a:xfrm>
            <a:off x="3154680" y="2834640"/>
            <a:ext cx="2834280" cy="54360"/>
          </a:xfrm>
          <a:prstGeom prst="rect">
            <a:avLst/>
          </a:prstGeom>
          <a:solidFill>
            <a:srgbClr val="c084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Shape 28"/>
          <p:cNvSpPr/>
          <p:nvPr/>
        </p:nvSpPr>
        <p:spPr>
          <a:xfrm>
            <a:off x="3264480" y="2971800"/>
            <a:ext cx="383760" cy="383760"/>
          </a:xfrm>
          <a:prstGeom prst="ellipse">
            <a:avLst/>
          </a:prstGeom>
          <a:solidFill>
            <a:srgbClr val="c084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Text 29"/>
          <p:cNvSpPr/>
          <p:nvPr/>
        </p:nvSpPr>
        <p:spPr>
          <a:xfrm>
            <a:off x="3264480" y="29718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|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45" name="Text 30"/>
          <p:cNvSpPr/>
          <p:nvPr/>
        </p:nvSpPr>
        <p:spPr>
          <a:xfrm>
            <a:off x="3721680" y="29991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LCEL Pipe  |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46" name="Text 31"/>
          <p:cNvSpPr/>
          <p:nvPr/>
        </p:nvSpPr>
        <p:spPr>
          <a:xfrm>
            <a:off x="3291840" y="3429000"/>
            <a:ext cx="25783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Shorthand for RunnableSequence. Write  R1 | R2 | R3  instead of RunnableSequence(R1, R2, R3).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47" name="Shape 32"/>
          <p:cNvSpPr/>
          <p:nvPr/>
        </p:nvSpPr>
        <p:spPr>
          <a:xfrm>
            <a:off x="6126480" y="2834640"/>
            <a:ext cx="2834280" cy="19198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8" name="Shape 33"/>
          <p:cNvSpPr/>
          <p:nvPr/>
        </p:nvSpPr>
        <p:spPr>
          <a:xfrm>
            <a:off x="6126480" y="2834640"/>
            <a:ext cx="2834280" cy="5436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Shape 34"/>
          <p:cNvSpPr/>
          <p:nvPr/>
        </p:nvSpPr>
        <p:spPr>
          <a:xfrm>
            <a:off x="6236280" y="2971800"/>
            <a:ext cx="383760" cy="383760"/>
          </a:xfrm>
          <a:prstGeom prst="ellipse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Text 35"/>
          <p:cNvSpPr/>
          <p:nvPr/>
        </p:nvSpPr>
        <p:spPr>
          <a:xfrm>
            <a:off x="6236280" y="29718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»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51" name="Text 36"/>
          <p:cNvSpPr/>
          <p:nvPr/>
        </p:nvSpPr>
        <p:spPr>
          <a:xfrm>
            <a:off x="6693480" y="29991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Part 2 Topics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52" name="Text 37"/>
          <p:cNvSpPr/>
          <p:nvPr/>
        </p:nvSpPr>
        <p:spPr>
          <a:xfrm>
            <a:off x="6263640" y="3429000"/>
            <a:ext cx="25783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RunnableBranch (conditional), RunnableLambda (custom fn), RunnablePassthrough (forward as-is).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2026-03-26T15:24:56Z</dcterms:created>
  <dc:creator>PptxGenJS</dc:creator>
  <dc:description/>
  <dc:language>en-IN</dc:language>
  <cp:lastModifiedBy/>
  <dcterms:modified xsi:type="dcterms:W3CDTF">2026-03-26T21:06:28Z</dcterms:modified>
  <cp:revision>2</cp:revision>
  <dc:subject>PptxGenJS Presentation</dc:subject>
  <dc:title>LangChain Runnables - Part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