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</a:t>
            </a:r>
            <a:r>
              <a:rPr b="0" lang="en-IN" sz="4400" spc="-1" strike="noStrike">
                <a:latin typeface="Arial"/>
              </a:rPr>
              <a:t>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m</a:t>
            </a:r>
            <a:r>
              <a:rPr b="0" lang="en-IN" sz="4400" spc="-1" strike="noStrike">
                <a:latin typeface="Arial"/>
              </a:rPr>
              <a:t>ov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th</a:t>
            </a:r>
            <a:r>
              <a:rPr b="0" lang="en-IN" sz="4400" spc="-1" strike="noStrike">
                <a:latin typeface="Arial"/>
              </a:rPr>
              <a:t>e </a:t>
            </a:r>
            <a:r>
              <a:rPr b="0" lang="en-IN" sz="4400" spc="-1" strike="noStrike">
                <a:latin typeface="Arial"/>
              </a:rPr>
              <a:t>sli</a:t>
            </a:r>
            <a:r>
              <a:rPr b="0" lang="en-IN" sz="4400" spc="-1" strike="noStrike">
                <a:latin typeface="Arial"/>
              </a:rPr>
              <a:t>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4C38894-A93E-410A-9C20-08F8BC2EE57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66AD70-3051-446F-A71D-AD0C965686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DB7D0F2-81B3-425F-888E-A759E82787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509528-A2A4-42D4-8E7E-EBCEA56E64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A758E8-DE7A-4C38-9219-8BAE7229D31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01569B-BDDA-4F3D-B60B-001D36B94D2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D1607C-7D80-42E1-BECB-2EA9E55AA2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AFB6DA-8E6A-4212-ACBD-3C6783D2F8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28F340-4E0A-4FD2-A454-11170C8D293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6AB2C66-0A06-46B5-B594-DA6FDD1178B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A1C3DC-5E35-48D3-B6D0-52C7F2C88E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272CFE-E699-48FA-9DA5-F87C7600D5C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FE5603-4A9D-48C8-809F-2B6D8BE89AD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114198-0A6C-4B84-979C-EC08569FA0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624031-13A1-4F51-8884-FBD41CC6CF9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BEED67-606E-4103-A332-22A3F99E4B8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22E079-1B62-4C5C-8325-E3352EE7C8E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54A952-E69A-47DB-B370-C509F43F2B1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355416E-970C-45B6-9C6D-690FB65ACB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925723-F463-4E20-B9C1-82EC2959DD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69AFE4-6ED8-4F96-AF34-2D46A820957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BCB1B7-108A-4EE2-B378-3DDDD15AC4E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E94FCA-7647-42A6-A54F-7E92AF85AF4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C8B8303-17F0-420A-A6B6-524DFD53D25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9D4224-6FE6-4CE2-9E22-49EB3983284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EB2AC7-628E-485A-927D-7B874253A6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</a:t>
            </a:r>
            <a:r>
              <a:rPr b="0" lang="en-IN" sz="4400" spc="-1" strike="noStrike">
                <a:latin typeface="Arial"/>
              </a:rPr>
              <a:t>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Python Code: Custom Separators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548640" y="1005840"/>
            <a:ext cx="80460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Language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python_code = 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class DataProcessor: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def __init__(self, source_file):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self.source = source_file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self.records = []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def load_data(self):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return pd.read_csv(self.source)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def validate_records(self):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return len(self.records) &gt; 0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 Create Python-specific splitter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code_splitter = RecursiveCharacterTextSplitter.from_language(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language=Language.PYTHON,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chunk_size=400,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chunk_overlap=40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code_chunks = code_splitter.split_text(python_code)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Output: Python Code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640080" y="1097280"/>
            <a:ext cx="786312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 (Clean class definition):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class DataProcessor: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def __init__(self, source_file):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self.source = source_file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self.records = []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 (Methods grouped together):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def load_data(self):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return pd.read_csv(self.source)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def validate_records(self):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return len(self.records) &gt;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Class definition preserved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Methods grouped logically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No mid-function splits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Markdown: Structure-Based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1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2"/>
          <p:cNvSpPr/>
          <p:nvPr/>
        </p:nvSpPr>
        <p:spPr>
          <a:xfrm>
            <a:off x="548640" y="1005840"/>
            <a:ext cx="80460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Language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markdown_doc = 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 Data Analysis Project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A comprehensive analytics platform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## Features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Real-time dashboards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Predictive modeling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Export capabilities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## Tech Stack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Python 3.10+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- PostgreSQL database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'''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md_splitter = RecursiveCharacterTextSplitter.from_language(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language=Language.MARKDOWN,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chunk_size=250,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chunk_overlap=25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md_chunks = md_splitter.split_text(markdown_doc)</a:t>
            </a:r>
            <a:endParaRPr b="0" lang="en-IN" sz="900" spc="-1" strike="noStrike">
              <a:latin typeface="Arial"/>
            </a:endParaRPr>
          </a:p>
          <a:p>
            <a:pPr>
              <a:lnSpc>
                <a:spcPts val="1199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e0e0e0"/>
                </a:solidFill>
                <a:latin typeface="Consolas"/>
                <a:ea typeface="Consolas"/>
              </a:rPr>
              <a:t>print(f"Sections: {len(md_chunks)}")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Output: Markdown Section Chunks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4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Text 2"/>
          <p:cNvSpPr/>
          <p:nvPr/>
        </p:nvSpPr>
        <p:spPr>
          <a:xfrm>
            <a:off x="640080" y="1097280"/>
            <a:ext cx="786312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Sections: 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# Data Analysis Project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A comprehensive analytics platform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## Features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Real-time dashboards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Predictive modeling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Export capabilities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3: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## Tech Stack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Python 3.10+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- PostgreSQL database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Each section becomes a chunk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Headers preserved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Clean section boundaries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Supported Document Types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11887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LangChain supports specialized chunking for: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8" name="Text 2"/>
          <p:cNvSpPr/>
          <p:nvPr/>
        </p:nvSpPr>
        <p:spPr>
          <a:xfrm>
            <a:off x="914400" y="1737360"/>
            <a:ext cx="731448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Programming Languages: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Python, JavaScript, TypeScript, Java, C++, C#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Go, Ruby, PHP, Kotlin, Swift, Rust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Markup Languages: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HTML, Markdown, LaTeX, XML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Configuration: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JSON, YAML, TOML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Other: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SQL, Solidity, Protocol Buffers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7bc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182880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DejaVu Sans"/>
              </a:rPr>
              <a:t>Method 4: Semantic Chunking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457200" y="274320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  <a:ea typeface="DejaVu Sans"/>
              </a:rPr>
              <a:t>(Experimental - Meaning-Based Splitting)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The Limitation of Structure-Based Chunking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731520" y="1188720"/>
            <a:ext cx="7680240" cy="1370880"/>
          </a:xfrm>
          <a:prstGeom prst="rect">
            <a:avLst/>
          </a:prstGeom>
          <a:solidFill>
            <a:srgbClr val="f5f5f5"/>
          </a:solidFill>
          <a:ln w="381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2"/>
          <p:cNvSpPr/>
          <p:nvPr/>
        </p:nvSpPr>
        <p:spPr>
          <a:xfrm>
            <a:off x="914400" y="1371600"/>
            <a:ext cx="73144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Farmers cultivated crops for the season. The weather was ideal.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The cricket championship attracted millions of viewers globally.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914400" y="27432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alibri"/>
                <a:ea typeface="DejaVu Sans"/>
              </a:rPr>
              <a:t>Problem: One paragraph, TWO different topics!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914400" y="3291840"/>
            <a:ext cx="73144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Structural splitter would create: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1 chunk (entire paragraph)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400" spc="-1" strike="noStrike">
                <a:solidFill>
                  <a:srgbClr val="97bc62"/>
                </a:solidFill>
                <a:latin typeface="Calibri"/>
                <a:ea typeface="DejaVu Sans"/>
              </a:rPr>
              <a:t>Ideal chunking should create: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Chunk 1: Agriculture topic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•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Chunk 2: Sports topic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Semantic Chunking: The Concept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457200" y="10972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800" spc="-1" strike="noStrike">
                <a:solidFill>
                  <a:srgbClr val="97bc62"/>
                </a:solidFill>
                <a:latin typeface="Calibri"/>
                <a:ea typeface="DejaVu Sans"/>
              </a:rPr>
              <a:t>Split based on meaning, not structure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731520" y="1462320"/>
            <a:ext cx="768024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Core Idea: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Detect when topic changes by analyzing semantic similarity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How it works: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1. Split text into individual sentences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2. Generate embedding vector for each sentence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3. Compare consecutive sentence embeddings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4. Calculate cosine similarity between pairs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5. When similarity drops sharply → topic changed → split!</a:t>
            </a:r>
            <a:endParaRPr b="0" lang="en-IN" sz="1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1a1a1a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 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Result: Chunks grouped by semantic meaning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Semantic Chunking Algorithm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0" name="Shape 1"/>
          <p:cNvSpPr/>
          <p:nvPr/>
        </p:nvSpPr>
        <p:spPr>
          <a:xfrm>
            <a:off x="914400" y="1280160"/>
            <a:ext cx="1645200" cy="5479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2"/>
          <p:cNvSpPr/>
          <p:nvPr/>
        </p:nvSpPr>
        <p:spPr>
          <a:xfrm>
            <a:off x="914400" y="13716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2743200" y="1280160"/>
            <a:ext cx="1645200" cy="5479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4"/>
          <p:cNvSpPr/>
          <p:nvPr/>
        </p:nvSpPr>
        <p:spPr>
          <a:xfrm>
            <a:off x="2743200" y="13716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4572000" y="1280160"/>
            <a:ext cx="1645200" cy="5479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6"/>
          <p:cNvSpPr/>
          <p:nvPr/>
        </p:nvSpPr>
        <p:spPr>
          <a:xfrm>
            <a:off x="4572000" y="13716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6400800" y="1280160"/>
            <a:ext cx="1645200" cy="54792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8"/>
          <p:cNvSpPr/>
          <p:nvPr/>
        </p:nvSpPr>
        <p:spPr>
          <a:xfrm>
            <a:off x="6400800" y="13716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4114800" y="192024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5f2d"/>
                </a:solidFill>
                <a:latin typeface="Calibri"/>
                <a:ea typeface="DejaVu Sans"/>
              </a:rPr>
              <a:t>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Shape 10"/>
          <p:cNvSpPr/>
          <p:nvPr/>
        </p:nvSpPr>
        <p:spPr>
          <a:xfrm>
            <a:off x="1828800" y="2286000"/>
            <a:ext cx="548568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1"/>
          <p:cNvSpPr/>
          <p:nvPr/>
        </p:nvSpPr>
        <p:spPr>
          <a:xfrm>
            <a:off x="1828800" y="23774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Generate Embeddings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114800" y="2926080"/>
            <a:ext cx="913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c5f2d"/>
                </a:solidFill>
                <a:latin typeface="Calibri"/>
                <a:ea typeface="DejaVu Sans"/>
              </a:rPr>
              <a:t>↓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1371600" y="3291840"/>
            <a:ext cx="6400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Compare Similarity: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sim(S1, S2) = 0.85 (high - same topic)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sim(S2, S3) = 0.32 (LOW - topic changed!) ← Split here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onsolas"/>
                <a:ea typeface="Consolas"/>
              </a:rPr>
              <a:t>sim(S3, S4) = 0.88 (high - same topic)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" name="Shape 14"/>
          <p:cNvSpPr/>
          <p:nvPr/>
        </p:nvSpPr>
        <p:spPr>
          <a:xfrm>
            <a:off x="2286000" y="4572000"/>
            <a:ext cx="4571280" cy="63936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15"/>
          <p:cNvSpPr/>
          <p:nvPr/>
        </p:nvSpPr>
        <p:spPr>
          <a:xfrm>
            <a:off x="2286000" y="466344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Result: 2 semantic chunks (S1-S2) and (S3-S4)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Code: Semantic Chunker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"/>
          <p:cNvSpPr/>
          <p:nvPr/>
        </p:nvSpPr>
        <p:spPr>
          <a:xfrm>
            <a:off x="548640" y="1005840"/>
            <a:ext cx="80460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langchain_experimental.text_splitter import SemanticChunker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langchain_openai.embeddings import OpenAIEmbeddings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mixed_topic_text = '''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Farmers cultivated crops for the season. The weather was ideal.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The cricket championship attracted millions globally.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Climate change threatens ecosystems. Scientists warn of rising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temperatures. Urgent action needed to prevent catastrophe.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'''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Create semantic chunker (experimental)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semantic_splitter = SemanticChunker(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OpenAIEmbeddings(),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breakpoint_threshold_type="standard_deviation",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breakpoint_threshold_amount=1  # 1 std dev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semantic_chunks = semantic_splitter.create_documents([mixed_topic_text])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print(f"Semantic chunks: {len(semantic_chunks)}")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for i, chunk in enumerate(semantic_chunks):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print(f"\nChunk {i+1}:\n{chunk.page_content}")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Output: Meaning-Based Chunks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9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1e1e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2"/>
          <p:cNvSpPr/>
          <p:nvPr/>
        </p:nvSpPr>
        <p:spPr>
          <a:xfrm>
            <a:off x="640080" y="1097280"/>
            <a:ext cx="786312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Semantic chunks: 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1 (Agriculture):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Farmers cultivated crops for the season. The weather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was ideal.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2 (Sports):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The cricket championship attracted millions globally.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Chunk 3 (Climate):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Climate change threatens ecosystems. Scientists warn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of rising temperatures. Urgent action needed to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prevent catastrophe.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Topics properly separated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✓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Semantic similarity detected topic shifts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⚠ </a:t>
            </a: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Consolas"/>
              </a:rPr>
              <a:t>Currently experimental - accuracy varies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Breakpoint Threshold Configuration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457200" y="109728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How to determine when similarity is 'low enough' to split: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731520" y="1737360"/>
            <a:ext cx="3656880" cy="63936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3"/>
          <p:cNvSpPr/>
          <p:nvPr/>
        </p:nvSpPr>
        <p:spPr>
          <a:xfrm>
            <a:off x="731520" y="182880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standard_deviation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31520" y="2560320"/>
            <a:ext cx="3656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Split when similarity differs by N standard deviations from mean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4754880" y="1737360"/>
            <a:ext cx="3656880" cy="63936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6"/>
          <p:cNvSpPr/>
          <p:nvPr/>
        </p:nvSpPr>
        <p:spPr>
          <a:xfrm>
            <a:off x="4754880" y="182880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percentile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4754880" y="2560320"/>
            <a:ext cx="3656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Split at bottom Nth percentile of similarity scores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731520" y="3474720"/>
            <a:ext cx="3656880" cy="63936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9"/>
          <p:cNvSpPr/>
          <p:nvPr/>
        </p:nvSpPr>
        <p:spPr>
          <a:xfrm>
            <a:off x="731520" y="356616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interquartile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731520" y="4297680"/>
            <a:ext cx="3656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Use interquartile range to identify outliers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4754880" y="3474720"/>
            <a:ext cx="3656880" cy="639360"/>
          </a:xfrm>
          <a:prstGeom prst="rect">
            <a:avLst/>
          </a:prstGeom>
          <a:solidFill>
            <a:srgbClr val="97bc6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2"/>
          <p:cNvSpPr/>
          <p:nvPr/>
        </p:nvSpPr>
        <p:spPr>
          <a:xfrm>
            <a:off x="4754880" y="3566160"/>
            <a:ext cx="3656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gradient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4754880" y="4297680"/>
            <a:ext cx="3656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Detect sudden drops in similarity gradient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Semantic Chunking: Current Status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914400" y="1371600"/>
            <a:ext cx="3474000" cy="3199680"/>
          </a:xfrm>
          <a:prstGeom prst="rect">
            <a:avLst/>
          </a:prstGeom>
          <a:solidFill>
            <a:srgbClr val="ffe5b4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2"/>
          <p:cNvSpPr/>
          <p:nvPr/>
        </p:nvSpPr>
        <p:spPr>
          <a:xfrm>
            <a:off x="914400" y="146304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Advantages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1097280" y="2103120"/>
            <a:ext cx="3108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Topic-aware splitting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Better embeddings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Handles mixed topics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✓ </a:t>
            </a:r>
            <a:r>
              <a:rPr b="0" lang="en-US" sz="1300" spc="-1" strike="noStrike">
                <a:solidFill>
                  <a:srgbClr val="97bc62"/>
                </a:solidFill>
                <a:latin typeface="Calibri"/>
                <a:ea typeface="DejaVu Sans"/>
              </a:rPr>
              <a:t>Semantic coherence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4754880" y="1371600"/>
            <a:ext cx="3474000" cy="3199680"/>
          </a:xfrm>
          <a:prstGeom prst="rect">
            <a:avLst/>
          </a:prstGeom>
          <a:solidFill>
            <a:srgbClr val="ffcdd2"/>
          </a:solidFill>
          <a:ln w="254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4754880" y="1463040"/>
            <a:ext cx="3474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cc0000"/>
                </a:solidFill>
                <a:latin typeface="Calibri"/>
                <a:ea typeface="DejaVu Sans"/>
              </a:rPr>
              <a:t>Limitations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937760" y="2103120"/>
            <a:ext cx="310824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Experimental status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Inconsistent results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Slower (embeddings)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Requires API calls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0" lang="en-US" sz="1300" spc="-1" strike="noStrike">
                <a:solidFill>
                  <a:srgbClr val="cc0000"/>
                </a:solidFill>
                <a:latin typeface="Calibri"/>
                <a:ea typeface="DejaVu Sans"/>
              </a:rPr>
              <a:t>Threshold tuning needed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2286000" y="4846320"/>
            <a:ext cx="4571280" cy="547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c5f2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2286000" y="493776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Recommendation: Use Recursive Splitter for production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Comprehensive Method Comparison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457200" y="914400"/>
            <a:ext cx="8228880" cy="456480"/>
          </a:xfrm>
          <a:prstGeom prst="rect">
            <a:avLst/>
          </a:prstGeom>
          <a:solidFill>
            <a:srgbClr val="2c5f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"/>
          <p:cNvSpPr/>
          <p:nvPr/>
        </p:nvSpPr>
        <p:spPr>
          <a:xfrm>
            <a:off x="457200" y="10058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Method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2560320" y="100584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Best For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4663440" y="1005840"/>
            <a:ext cx="1828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Pros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6583680" y="1005840"/>
            <a:ext cx="2102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457200" y="1463040"/>
            <a:ext cx="8228880" cy="91368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7"/>
          <p:cNvSpPr/>
          <p:nvPr/>
        </p:nvSpPr>
        <p:spPr>
          <a:xfrm>
            <a:off x="548640" y="155448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Character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Splitter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2651760" y="155448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Speed-critical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apps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4754880" y="1554480"/>
            <a:ext cx="1645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Fast,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Simple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4" name="Text 10"/>
          <p:cNvSpPr/>
          <p:nvPr/>
        </p:nvSpPr>
        <p:spPr>
          <a:xfrm>
            <a:off x="6675120" y="1554480"/>
            <a:ext cx="1919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  <a:ea typeface="DejaVu Sans"/>
              </a:rPr>
              <a:t>Breaks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  <a:ea typeface="DejaVu Sans"/>
              </a:rPr>
              <a:t>context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457200" y="2468880"/>
            <a:ext cx="8228880" cy="913680"/>
          </a:xfrm>
          <a:prstGeom prst="rect">
            <a:avLst/>
          </a:prstGeom>
          <a:solidFill>
            <a:srgbClr val="e8f5e9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2"/>
          <p:cNvSpPr/>
          <p:nvPr/>
        </p:nvSpPr>
        <p:spPr>
          <a:xfrm>
            <a:off x="548640" y="256032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Recursive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Splitter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2651760" y="256032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Production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RAG systems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4754880" y="2560320"/>
            <a:ext cx="1645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Structure-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aware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6675120" y="2560320"/>
            <a:ext cx="1919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  <a:ea typeface="DejaVu Sans"/>
              </a:rPr>
              <a:t>Slightly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  <a:ea typeface="DejaVu Sans"/>
              </a:rPr>
              <a:t>slower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457200" y="3474720"/>
            <a:ext cx="8228880" cy="91368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7"/>
          <p:cNvSpPr/>
          <p:nvPr/>
        </p:nvSpPr>
        <p:spPr>
          <a:xfrm>
            <a:off x="548640" y="356616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Document-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Specific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Text 18"/>
          <p:cNvSpPr/>
          <p:nvPr/>
        </p:nvSpPr>
        <p:spPr>
          <a:xfrm>
            <a:off x="2651760" y="356616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Code,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Markdown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3" name="Text 19"/>
          <p:cNvSpPr/>
          <p:nvPr/>
        </p:nvSpPr>
        <p:spPr>
          <a:xfrm>
            <a:off x="4754880" y="3566160"/>
            <a:ext cx="1645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Format-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aware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4" name="Text 20"/>
          <p:cNvSpPr/>
          <p:nvPr/>
        </p:nvSpPr>
        <p:spPr>
          <a:xfrm>
            <a:off x="6675120" y="3566160"/>
            <a:ext cx="1919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  <a:ea typeface="DejaVu Sans"/>
              </a:rPr>
              <a:t>Needs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9800"/>
                </a:solidFill>
                <a:latin typeface="Calibri"/>
                <a:ea typeface="DejaVu Sans"/>
              </a:rPr>
              <a:t>config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5" name="Shape 21"/>
          <p:cNvSpPr/>
          <p:nvPr/>
        </p:nvSpPr>
        <p:spPr>
          <a:xfrm>
            <a:off x="457200" y="4480560"/>
            <a:ext cx="8228880" cy="913680"/>
          </a:xfrm>
          <a:prstGeom prst="rect">
            <a:avLst/>
          </a:prstGeom>
          <a:solidFill>
            <a:srgbClr val="fff9c4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22"/>
          <p:cNvSpPr/>
          <p:nvPr/>
        </p:nvSpPr>
        <p:spPr>
          <a:xfrm>
            <a:off x="548640" y="457200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Semantic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Chunker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 23"/>
          <p:cNvSpPr/>
          <p:nvPr/>
        </p:nvSpPr>
        <p:spPr>
          <a:xfrm>
            <a:off x="2651760" y="4572000"/>
            <a:ext cx="1828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Experimental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1a1a1a"/>
                </a:solidFill>
                <a:latin typeface="Calibri"/>
                <a:ea typeface="DejaVu Sans"/>
              </a:rPr>
              <a:t>only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8" name="Text 24"/>
          <p:cNvSpPr/>
          <p:nvPr/>
        </p:nvSpPr>
        <p:spPr>
          <a:xfrm>
            <a:off x="4754880" y="4572000"/>
            <a:ext cx="1645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Topic-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97bc62"/>
                </a:solidFill>
                <a:latin typeface="Calibri"/>
                <a:ea typeface="DejaVu Sans"/>
              </a:rPr>
              <a:t>aware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9" name="Text 25"/>
          <p:cNvSpPr/>
          <p:nvPr/>
        </p:nvSpPr>
        <p:spPr>
          <a:xfrm>
            <a:off x="6675120" y="4572000"/>
            <a:ext cx="19195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  <a:ea typeface="DejaVu Sans"/>
              </a:rPr>
              <a:t>Unstable,</a:t>
            </a:r>
            <a:endParaRPr b="0" lang="en-IN" sz="9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cc0000"/>
                </a:solidFill>
                <a:latin typeface="Calibri"/>
                <a:ea typeface="DejaVu Sans"/>
              </a:rPr>
              <a:t>expensive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Chunking Best Practices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731520" y="1188720"/>
            <a:ext cx="768024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1. Choose the Right Method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Default: Recursive Character Splitter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For code: Document-specific splitter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Experiment with semantic for research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2. Optimize Chunk Size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Consider model's context window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Too small: loses context; Too large: poor retrieval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Typical range: 200-1000 characters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3. Set Appropriate Overlap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Recommended: 10-20% of chunk size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Preserves context at boundaries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4. Test and Iterate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Evaluate retrieval quality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   →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Measure embedding coherence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Chunk Size Selection Guide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914400" y="1371600"/>
            <a:ext cx="2285280" cy="1096560"/>
          </a:xfrm>
          <a:prstGeom prst="rect">
            <a:avLst/>
          </a:prstGeom>
          <a:solidFill>
            <a:srgbClr val="ffcdd2"/>
          </a:solidFill>
          <a:ln w="254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2"/>
          <p:cNvSpPr/>
          <p:nvPr/>
        </p:nvSpPr>
        <p:spPr>
          <a:xfrm>
            <a:off x="914400" y="14630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Small Chunks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(100-300 chars)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1005840" y="201168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Pros: Precise retrieval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Cons: Less context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Shape 4"/>
          <p:cNvSpPr/>
          <p:nvPr/>
        </p:nvSpPr>
        <p:spPr>
          <a:xfrm>
            <a:off x="3383280" y="1371600"/>
            <a:ext cx="2285280" cy="1096560"/>
          </a:xfrm>
          <a:prstGeom prst="rect">
            <a:avLst/>
          </a:prstGeom>
          <a:solidFill>
            <a:srgbClr val="c8e6c9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5"/>
          <p:cNvSpPr/>
          <p:nvPr/>
        </p:nvSpPr>
        <p:spPr>
          <a:xfrm>
            <a:off x="3383280" y="14630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Medium Chunks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(300-800 chars)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3474720" y="201168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Balanced approach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Recommended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5852160" y="1371600"/>
            <a:ext cx="2285280" cy="1096560"/>
          </a:xfrm>
          <a:prstGeom prst="rect">
            <a:avLst/>
          </a:prstGeom>
          <a:solidFill>
            <a:srgbClr val="fff9c4"/>
          </a:solidFill>
          <a:ln w="25400">
            <a:solidFill>
              <a:srgbClr val="ff98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8"/>
          <p:cNvSpPr/>
          <p:nvPr/>
        </p:nvSpPr>
        <p:spPr>
          <a:xfrm>
            <a:off x="5852160" y="1463040"/>
            <a:ext cx="2285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Large Chunks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(800-2000 chars)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5943600" y="201168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Pros: Full context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1a1a"/>
                </a:solidFill>
                <a:latin typeface="Calibri"/>
                <a:ea typeface="DejaVu Sans"/>
              </a:rPr>
              <a:t>Cons: Less precise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52" name="Text 10"/>
          <p:cNvSpPr/>
          <p:nvPr/>
        </p:nvSpPr>
        <p:spPr>
          <a:xfrm>
            <a:off x="914400" y="2743200"/>
            <a:ext cx="73144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Considerations: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Embedding model capabilities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Nature of your data (technical vs narrative)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Retrieval precision requirements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Downstream task (Q&amp;A vs summarization)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Computational resources available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Common Chunking Mistakes to Avoid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731520" y="1280160"/>
            <a:ext cx="7680240" cy="3931200"/>
          </a:xfrm>
          <a:prstGeom prst="rect">
            <a:avLst/>
          </a:prstGeom>
          <a:solidFill>
            <a:srgbClr val="ffebee"/>
          </a:solidFill>
          <a:ln w="2540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"/>
          <p:cNvSpPr/>
          <p:nvPr/>
        </p:nvSpPr>
        <p:spPr>
          <a:xfrm>
            <a:off x="914400" y="1463040"/>
            <a:ext cx="731448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Using zero overlap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Lost context at chunk boundaries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Inconsistent chunk sizes across dataset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Different quality embeddings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Ignoring document structure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Use document-specific splitters for code/markup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Not testing retrieval quality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Always validate on sample queries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Choosing chunk size based on guesswork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Experiment with different sizes and measure results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✗ </a:t>
            </a:r>
            <a:r>
              <a:rPr b="1" lang="en-US" sz="1500" spc="-1" strike="noStrike">
                <a:solidFill>
                  <a:srgbClr val="cc0000"/>
                </a:solidFill>
                <a:latin typeface="Calibri"/>
                <a:ea typeface="DejaVu Sans"/>
              </a:rPr>
              <a:t>Using experimental methods in production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   </a:t>
            </a:r>
            <a:r>
              <a:rPr b="0" lang="en-US" sz="1200" spc="-1" strike="noStrike">
                <a:solidFill>
                  <a:srgbClr val="1a1a1a"/>
                </a:solidFill>
                <a:latin typeface="Calibri"/>
                <a:ea typeface="DejaVu Sans"/>
              </a:rPr>
              <a:t>Stick to Recursive Splitter for reliability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36576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Complete RAG Pipeline Example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57" name="Shape 1"/>
          <p:cNvSpPr/>
          <p:nvPr/>
        </p:nvSpPr>
        <p:spPr>
          <a:xfrm>
            <a:off x="457200" y="914400"/>
            <a:ext cx="8228880" cy="4296960"/>
          </a:xfrm>
          <a:prstGeom prst="rect">
            <a:avLst/>
          </a:prstGeom>
          <a:solidFill>
            <a:srgbClr val="2d2d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2"/>
          <p:cNvSpPr/>
          <p:nvPr/>
        </p:nvSpPr>
        <p:spPr>
          <a:xfrm>
            <a:off x="548640" y="1005840"/>
            <a:ext cx="804600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langchain_community.document_loaders import PyPDFLoader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langchain.text_splitter import RecursiveCharacterTextSplitter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langchain_openai.embeddings import OpenAIEmbeddings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from langchain_community.vectorstores import FAISS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1: Load documents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pdf_loader = PyPDFLoader("knowledge_base.pdf")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documents = pdf_loader.load()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2: Split into chunks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text_splitter = RecursiveCharacterTextSplitter(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chunk_size=500,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    </a:t>
            </a: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chunk_overlap=50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chunks = text_splitter.split_documents(documents)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3: Create embeddings and vector store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embeddings = OpenAIEmbeddings()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vector_db = FAISS.from_documents(chunks, embeddings)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# Step 4: Query the system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results = vector_db.similarity_search("What is RAG?", k=3)</a:t>
            </a:r>
            <a:endParaRPr b="0" lang="en-IN" sz="850" spc="-1" strike="noStrike">
              <a:latin typeface="Arial"/>
            </a:endParaRPr>
          </a:p>
          <a:p>
            <a:pPr>
              <a:lnSpc>
                <a:spcPts val="11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e0e0e0"/>
                </a:solidFill>
                <a:latin typeface="Consolas"/>
                <a:ea typeface="Consolas"/>
              </a:rPr>
              <a:t>print(results[0].page_content)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Measuring Chunking Quality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0" name="Text 1"/>
          <p:cNvSpPr/>
          <p:nvPr/>
        </p:nvSpPr>
        <p:spPr>
          <a:xfrm>
            <a:off x="731520" y="1188720"/>
            <a:ext cx="768024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Retrieval Metrics: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Precision: Relevant chunks retrieved / Total retrieved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Recall: Relevant chunks retrieved / Total relevant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MRR: Mean Reciprocal Rank of first relevant result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Embedding Quality: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Coherence score: Intra-chunk similarity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Distinctiveness: Inter-chunk diversity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2c5f2d"/>
                </a:solidFill>
                <a:latin typeface="Calibri"/>
                <a:ea typeface="DejaVu Sans"/>
              </a:rPr>
              <a:t>Practical Tests: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Query 20-30 sample questions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Manually review top 5 results per query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Compare different chunk sizes/methods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1a1a1a"/>
                </a:solidFill>
                <a:latin typeface="Calibri"/>
                <a:ea typeface="DejaVu Sans"/>
              </a:rPr>
              <a:t>Measure end-to-end response quality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Advanced Chunking Techniques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31520" y="1371600"/>
            <a:ext cx="768024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Hybrid Chunking: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Combine multiple strategies (e.g., structure + semantic)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Parent-Child Chunks: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Store small chunks for retrieval, large chunks for context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Metadata Enrichment: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Add section headers, page numbers, timestamps to chunks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Dynamic Chunking: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Adjust chunk size based on content density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Multi-representation: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Generate summaries of chunks for better retrieval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2c5f2d"/>
                </a:solidFill>
                <a:latin typeface="Calibri"/>
                <a:ea typeface="DejaVu Sans"/>
              </a:rPr>
              <a:t>Troubleshooting Common Issues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731520" y="1280160"/>
            <a:ext cx="3656880" cy="54792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2"/>
          <p:cNvSpPr/>
          <p:nvPr/>
        </p:nvSpPr>
        <p:spPr>
          <a:xfrm>
            <a:off x="731520" y="13716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Problem: Poor Retrieval Accuracy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914400" y="1920240"/>
            <a:ext cx="3291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Try smaller chunks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Increase overlap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Use better embeddings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4754880" y="1280160"/>
            <a:ext cx="3656880" cy="54792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5"/>
          <p:cNvSpPr/>
          <p:nvPr/>
        </p:nvSpPr>
        <p:spPr>
          <a:xfrm>
            <a:off x="4754880" y="137160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Problem: Lost Context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4937760" y="1920240"/>
            <a:ext cx="3291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Increase chunk size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Add more overlap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Include metadata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731520" y="3017520"/>
            <a:ext cx="3656880" cy="54792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8"/>
          <p:cNvSpPr/>
          <p:nvPr/>
        </p:nvSpPr>
        <p:spPr>
          <a:xfrm>
            <a:off x="731520" y="31089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Problem: Slow Processing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914400" y="3657600"/>
            <a:ext cx="3291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Use Character Splitter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Larger chunks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Avoid semantic chunking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4754880" y="3017520"/>
            <a:ext cx="3656880" cy="547920"/>
          </a:xfrm>
          <a:prstGeom prst="rect">
            <a:avLst/>
          </a:prstGeom>
          <a:solidFill>
            <a:srgbClr val="ffcd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1"/>
          <p:cNvSpPr/>
          <p:nvPr/>
        </p:nvSpPr>
        <p:spPr>
          <a:xfrm>
            <a:off x="4754880" y="31089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1a"/>
                </a:solidFill>
                <a:latin typeface="Calibri"/>
                <a:ea typeface="DejaVu Sans"/>
              </a:rPr>
              <a:t>Problem: High Memory Usage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4937760" y="3657600"/>
            <a:ext cx="32911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Process in batches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Stream documents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→ </a:t>
            </a:r>
            <a:r>
              <a:rPr b="0" lang="en-US" sz="1200" spc="-1" strike="noStrike">
                <a:solidFill>
                  <a:srgbClr val="97bc62"/>
                </a:solidFill>
                <a:latin typeface="Calibri"/>
                <a:ea typeface="DejaVu Sans"/>
              </a:rPr>
              <a:t>Use disk-based storage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Real-World Applications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731520" y="1371600"/>
            <a:ext cx="3656880" cy="13708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2"/>
          <p:cNvSpPr/>
          <p:nvPr/>
        </p:nvSpPr>
        <p:spPr>
          <a:xfrm>
            <a:off x="731520" y="14630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DejaVu Sans"/>
              </a:rPr>
              <a:t>Customer Support Bot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914400" y="192024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Chunk Size: 300-500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Method: Recursive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Reason: Balance speed +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Shape 4"/>
          <p:cNvSpPr/>
          <p:nvPr/>
        </p:nvSpPr>
        <p:spPr>
          <a:xfrm>
            <a:off x="4572000" y="1371600"/>
            <a:ext cx="3656880" cy="13708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5"/>
          <p:cNvSpPr/>
          <p:nvPr/>
        </p:nvSpPr>
        <p:spPr>
          <a:xfrm>
            <a:off x="4572000" y="146304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DejaVu Sans"/>
              </a:rPr>
              <a:t>Legal Document Analysis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4754880" y="192024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Chunk Size: 800-1200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Method: Recursive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Reason: Preserve legal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731520" y="3017520"/>
            <a:ext cx="3656880" cy="13708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8"/>
          <p:cNvSpPr/>
          <p:nvPr/>
        </p:nvSpPr>
        <p:spPr>
          <a:xfrm>
            <a:off x="731520" y="31089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DejaVu Sans"/>
              </a:rPr>
              <a:t>Code Documentation Search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914400" y="356616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Chunk Size: 400-600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Method: Language-specific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Reason: Function/class boundaries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4572000" y="3017520"/>
            <a:ext cx="3656880" cy="1370880"/>
          </a:xfrm>
          <a:prstGeom prst="rect">
            <a:avLst/>
          </a:prstGeom>
          <a:solidFill>
            <a:srgbClr val="f5f5f5"/>
          </a:solidFill>
          <a:ln w="25400">
            <a:solidFill>
              <a:srgbClr val="97bc6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1"/>
          <p:cNvSpPr/>
          <p:nvPr/>
        </p:nvSpPr>
        <p:spPr>
          <a:xfrm>
            <a:off x="4572000" y="3108960"/>
            <a:ext cx="3656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5f2d"/>
                </a:solidFill>
                <a:latin typeface="Calibri"/>
                <a:ea typeface="DejaVu Sans"/>
              </a:rPr>
              <a:t>Medical Research Q&amp;A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8" name="Text 12"/>
          <p:cNvSpPr/>
          <p:nvPr/>
        </p:nvSpPr>
        <p:spPr>
          <a:xfrm>
            <a:off x="4754880" y="3566160"/>
            <a:ext cx="32911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Chunk Size: 600-1000 chars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Method: Recursive + Metadata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1a"/>
                </a:solidFill>
                <a:latin typeface="Calibri"/>
                <a:ea typeface="DejaVu Sans"/>
              </a:rPr>
              <a:t>Reason: Complex medical concepts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4572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2c5f2d"/>
                </a:solidFill>
                <a:latin typeface="Calibri"/>
                <a:ea typeface="DejaVu Sans"/>
              </a:rPr>
              <a:t>Additional Resources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731520" y="1280160"/>
            <a:ext cx="768024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DejaVu Sans"/>
              </a:rPr>
              <a:t>LangChain Documentation: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docs.langchain.com/text-splitters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Consolas"/>
              </a:rPr>
              <a:t>Chunking Visualization Tool: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onsolas"/>
                <a:ea typeface="Consolas"/>
              </a:rPr>
              <a:t>chunkviz.up.railway.app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Consolas"/>
              </a:rPr>
              <a:t>Research Papers: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'Optimizing Text Chunking for RAG Systems'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'Semantic Similarity in Document Segmentation'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97bc62"/>
                </a:solidFill>
                <a:latin typeface="Calibri"/>
                <a:ea typeface="Consolas"/>
              </a:rPr>
              <a:t>Community Forums: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LangChain Discord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r/LangChain subreddit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• </a:t>
            </a:r>
            <a:r>
              <a:rPr b="0" lang="en-US" sz="1300" spc="-1" strike="noStrike">
                <a:solidFill>
                  <a:srgbClr val="1a1a1a"/>
                </a:solidFill>
                <a:latin typeface="Calibri"/>
                <a:ea typeface="Consolas"/>
              </a:rPr>
              <a:t>Stack Overflow [langchain] tag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457200" y="7315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DejaVu Sans"/>
              </a:rPr>
              <a:t>Key Takeaways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914400" y="1645920"/>
            <a:ext cx="731448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Chunking is essential for LLM quality and performance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Recursive Character Splitter is production-ready default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Use document-specific splitters for code and markup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Chunk size: 300-800 chars with 10-20% overlap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Always test and measure retrieval quality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✓ </a:t>
            </a:r>
            <a:r>
              <a:rPr b="0" lang="en-US" sz="1600" spc="-1" strike="noStrike">
                <a:solidFill>
                  <a:srgbClr val="f5f5f5"/>
                </a:solidFill>
                <a:latin typeface="Calibri"/>
                <a:ea typeface="DejaVu Sans"/>
              </a:rPr>
              <a:t>Semantic chunking is experimental - use with caution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7bc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1828800"/>
            <a:ext cx="82288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DejaVu Sans"/>
              </a:rPr>
              <a:t>Thank You!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320040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  <a:ea typeface="DejaVu Sans"/>
              </a:rPr>
              <a:t>Questions?</a:t>
            </a:r>
            <a:endParaRPr b="0" lang="en-IN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5f5f5"/>
                </a:solidFill>
                <a:latin typeface="Calibri"/>
                <a:ea typeface="DejaVu Sans"/>
              </a:rPr>
              <a:t>Explore LangChain Documentation for More</a:t>
            </a:r>
            <a:endParaRPr b="0" lang="en-IN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2026-02-10T12:15:53Z</dcterms:created>
  <dc:creator>LangChain Text Splitters Guide - Part 2</dc:creator>
  <dc:description/>
  <dc:language>en-IN</dc:language>
  <cp:lastModifiedBy/>
  <dcterms:modified xsi:type="dcterms:W3CDTF">2026-04-08T22:41:35Z</dcterms:modified>
  <cp:revision>3</cp:revision>
  <dc:subject>PptxGenJS Presentation</dc:subject>
  <dc:title>Document-Specific and Semantic Chunking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25</vt:i4>
  </property>
  <property fmtid="{D5CDD505-2E9C-101B-9397-08002B2CF9AE}" pid="3" name="PresentationFormat">
    <vt:lpwstr>On-screen Show (16:9)</vt:lpwstr>
  </property>
  <property fmtid="{D5CDD505-2E9C-101B-9397-08002B2CF9AE}" pid="4" name="Slides">
    <vt:i4>25</vt:i4>
  </property>
</Properties>
</file>