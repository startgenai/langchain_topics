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ChatPromptTemplate: Full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166360" cy="35844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5166360" cy="320040"/>
          </a:xfrm>
          <a:prstGeom prst="rect">
            <a:avLst/>
          </a:prstGeom>
          <a:solidFill>
            <a:srgbClr val="111C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</a:rPr>
              <a:t>chat_prompt_template.py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4956048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ChatPromptTemplate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SystemMessage, HumanMessage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ai_model = ChatOpenAI()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multi-turn template with {placeholders}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chat_tpl = ChatPromptTemplate([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SystemMessage(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content="You are a knowledgeable {domain} expert"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HumanMessage(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content="Explain {concept} in simple terms"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Fill and inspect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filled = chat_tpl.invoke({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"domain":  "astrophysics",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"concept": "black holes",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print(filled.messages)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Build chain (recommended)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chat_tpl | ai_model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  = pipeline.invoke({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"domain":  "astrophysics",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"concept": "black holes",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print(result.content)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1389888"/>
            <a:ext cx="320040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572768"/>
            <a:ext cx="411480" cy="4114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Define the Template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1773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Ordered list of message objects — SystemMessage sets context, HumanMessage carries user query. Use {placeholders} anywhere.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2286000"/>
            <a:ext cx="320040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468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359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Invoke with Values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670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Pass a dict with all placeholder names. LangChain validates and fills them, returning a ChatPromptValue.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3182112"/>
            <a:ext cx="320040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3649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255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Pipe to LLM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200" y="35661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Create a chain with |. One invoke() call fills template AND calls the LLM — single-step pipeline.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23560" y="4078224"/>
            <a:ext cx="3200400" cy="7863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0" y="4261104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42611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41513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Get AIMessage Back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4462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Returns an AIMessage object. Access .content for the text string.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MessagesPlaceholder: Managing Chat History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5943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MessagesPlaceholder  — dynamically inserts a list of saved messages into a ChatPromptTemplate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8503920" cy="1298448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2084832"/>
            <a:ext cx="64008" cy="12984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1214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</a:rPr>
              <a:t>📦  Real-World Scenario: Customer Support Bot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8275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Day 1:  Customer asks — "I need a refund for order #56789" → Bot confirms it will arrive in 3–5 business days.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Day 3:  Customer returns — "Where is my refund?"   →   The chatbot must load the Day 1 conversation to know which refund is being asked about.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493008"/>
            <a:ext cx="425196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493008"/>
            <a:ext cx="4251960" cy="40233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3493008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🤔  The Problem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3968496"/>
            <a:ext cx="4069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Without MessagesPlaceholder, a new session has no knowledge of the Day 1 exchange. The bot cannot answer 'Where is my refund?' because it has no context about any previous refund request.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82312" y="3493008"/>
            <a:ext cx="425196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3493008"/>
            <a:ext cx="4251960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493008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The Solution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968496"/>
            <a:ext cx="4069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Load the Day 1 messages from a database or session store, then inject them into the template using MessagesPlaceholder. The LLM receives full context and can give a coherent, accurate reply.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MessagesPlaceholder: Code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36393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8503920" cy="320040"/>
          </a:xfrm>
          <a:prstGeom prst="rect">
            <a:avLst/>
          </a:prstGeom>
          <a:solidFill>
            <a:srgbClr val="111C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</a:rPr>
              <a:t>messages_placeholder_demo.py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302752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langchain_core.prompts import ChatPromptTemplate, MessagesPlaceholder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AIMessage, SystemMessage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ai_model = ChatOpenAI()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Template with a named slot for injecting saved messages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support_tpl = ChatPromptTemplate([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SystemMessage(content="You are a friendly customer support agent"),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MessagesPlaceholder(variable_name="prior_chat"),   # ← history slot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HumanMessage(content="{new_query}"),               # ← current question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Saved messages loaded from database / session store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prior_chat = [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HumanMessage(content="I need a refund for order #56789"),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AIMessage(content="Your refund will be processed within 3–5 business days"),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Fill template: inject history + new query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filled = support_tpl.invoke({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"prior_chat" : prior_chat,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"new_query"  : "Where is my refund?",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LLM now has FULL context — Day 1 + Day 3 combined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ai_model.invoke(filled)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print(result.content)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"Based on our earlier conversation, your refund for order #56789 should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arrive within the 3–5 business day window we discussed..."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Complete LangChain Prompt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PATH A — Single-turn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993392" cy="713232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28800"/>
            <a:ext cx="1993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Static String / User 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50592" y="1965960"/>
            <a:ext cx="155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6040" y="1828800"/>
            <a:ext cx="1993392" cy="71323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828800"/>
            <a:ext cx="1993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PromptTemplate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(Dynamic)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99432" y="1965960"/>
            <a:ext cx="155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1993392" cy="71323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828800"/>
            <a:ext cx="1993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LLM invoke()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48272" y="1965960"/>
            <a:ext cx="155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1993392" cy="713232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828800"/>
            <a:ext cx="1993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Response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432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PATH B — Multi-turn Chat with 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182112"/>
            <a:ext cx="1627632" cy="82296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31821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System Role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75104" y="3310128"/>
            <a:ext cx="109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84832" y="3182112"/>
            <a:ext cx="1627632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84832" y="31821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ChatPromptTemplate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+ Placeholders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12464" y="3310128"/>
            <a:ext cx="109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22192" y="3182112"/>
            <a:ext cx="1627632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22192" y="31821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MessagesPlaceholder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(Prior History)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9824" y="3310128"/>
            <a:ext cx="109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59552" y="3182112"/>
            <a:ext cx="1627632" cy="8229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59552" y="31821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LLM invoke()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87184" y="3310128"/>
            <a:ext cx="109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96912" y="3182112"/>
            <a:ext cx="1627632" cy="82296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96912" y="31821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AIMessage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Response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16052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1605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When to Use Which Template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590288"/>
            <a:ext cx="85039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4754880"/>
            <a:ext cx="85039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20040" y="4919472"/>
            <a:ext cx="8503920" cy="1463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20040" y="4590288"/>
            <a:ext cx="1874520" cy="1463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4590288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PromptTemplate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67712" y="4590288"/>
            <a:ext cx="6473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Single-turn: summarisation, translation, classification, one-shot Q&amp;A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754880"/>
            <a:ext cx="1874520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" y="4754880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ChatPromptTemplate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267712" y="4754880"/>
            <a:ext cx="6473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Multi-turn: chatbots, assistants, domain-expert conversations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" y="4919472"/>
            <a:ext cx="187452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" y="4919472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MessagesPlaceholder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267712" y="4919472"/>
            <a:ext cx="6473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Session continuity: customer support, persistent assistants, multi-day workflows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2793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6642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554480"/>
            <a:ext cx="3529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Temperature controls randomness: 0 = deterministic output, 1.5–2.0 = creative and varied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82312" y="1389888"/>
            <a:ext cx="42793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64208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554480"/>
            <a:ext cx="3529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Use PromptTemplate for single messages, ChatPromptTemplate for multi-turn conversations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32888"/>
            <a:ext cx="42793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8072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697480"/>
            <a:ext cx="3529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Message types (SystemMessage, HumanMessage, AIMessage) label who said what in chat history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82312" y="2532888"/>
            <a:ext cx="42793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807208"/>
            <a:ext cx="457200" cy="45720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2697480"/>
            <a:ext cx="3529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MessagesPlaceholder dynamically injects saved history — enabling true session continuity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675888"/>
            <a:ext cx="42793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" y="39502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3840480"/>
            <a:ext cx="3529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Chains (|) elegantly combine template + model into a single pipeline with one invoke() call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82312" y="3675888"/>
            <a:ext cx="4279392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950208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840480"/>
            <a:ext cx="35295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PromptTemplates provide built-in validation, JSON reusability, and seamless LangChain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Best Practices &amp; Common Pitfalls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4133088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4133088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89888"/>
            <a:ext cx="3950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Do This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2011680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011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Always use dynamic PromptTemplate in production — never hard-code prompts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38912" y="2615184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615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Label every message with SystemMessage, HumanMessage, or AIMessage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38912" y="3218688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Save templates as JSON files for reuse across projects and team members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38912" y="382219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80390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Use the | pipe operator to build clean, readable LangChain pipelines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38912" y="4425696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4425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40740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Use MessagesPlaceholder to restore session context across multiple days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718304" y="1389888"/>
            <a:ext cx="4133088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1389888"/>
            <a:ext cx="4133088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389888"/>
            <a:ext cx="3950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Avoid This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28032" y="201168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011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199339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Don't give users free text control over prompts — output becomes inconsistent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828032" y="2615184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2615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259689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Don't forget to maintain and pass the full chat history with every invoke()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828032" y="3218688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3218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320040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Don't embed prompts inside application logic — separate concerns properly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4828032" y="3822192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380390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Don't skip PromptTemplate validation — it catches bugs early at dev time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828032" y="4425696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4425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440740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</a:rPr>
              <a:t>Don't mix unlabelled plain strings with typed message objects in history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Resources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279392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481328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📚  LangChain Docs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865376"/>
            <a:ext cx="4041648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" y="186537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docs.langchain.com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1762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Official documentation — reference for all classes and APIs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82312" y="1389888"/>
            <a:ext cx="4279392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389888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46904" y="1481328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🤖  OpenAI API Docs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46904" y="1865376"/>
            <a:ext cx="4041648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001768" y="186537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platform.openai.com/docs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46904" y="217627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Model parameters, token pricing, and API reference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96896"/>
            <a:ext cx="4279392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596896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268833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🎈  Streamlit Documentation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" y="3072384"/>
            <a:ext cx="4041648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" y="307238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docs.streamlit.io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383280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Build interactive ML web apps quickly with Python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82312" y="2596896"/>
            <a:ext cx="4279392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596896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946904" y="2688336"/>
            <a:ext cx="4041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🐍  python-dotenv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46904" y="3072384"/>
            <a:ext cx="4041648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768" y="307238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pypi.org/project/python-dotenv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46904" y="3383280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Load .env files for secure API key management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840480"/>
            <a:ext cx="8503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8404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Explore Next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7472" y="4279392"/>
            <a:ext cx="208483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4279392"/>
            <a:ext cx="2084832" cy="2743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🕵️ LangChain Agents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0624" y="45720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Build autonomous agents that use tools to solve complex tasks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42032" y="4279392"/>
            <a:ext cx="208483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42032" y="4279392"/>
            <a:ext cx="2084832" cy="2743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8" name="Text 36"/>
          <p:cNvSpPr/>
          <p:nvPr/>
        </p:nvSpPr>
        <p:spPr>
          <a:xfrm>
            <a:off x="2615184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🗄️ RAG (Retrieval-Augmented Generation)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15184" y="45720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Connect LLMs to your own documents and knowledge bases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4279392"/>
            <a:ext cx="208483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4279392"/>
            <a:ext cx="2084832" cy="2743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🔢 Vector Stores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09744" y="45720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Store and retrieve embeddings for semantic search at scale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31152" y="4279392"/>
            <a:ext cx="2084832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31152" y="4279392"/>
            <a:ext cx="2084832" cy="2743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6" name="Text 44"/>
          <p:cNvSpPr/>
          <p:nvPr/>
        </p:nvSpPr>
        <p:spPr>
          <a:xfrm>
            <a:off x="7004304" y="42793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💾 Memory Modules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04304" y="45720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Automatic conversation memory with LangChain memory classes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065F46">
              <a:alpha val="12000"/>
            </a:srgbClr>
          </a:solidFill>
          <a:ln w="12700">
            <a:solidFill>
              <a:srgbClr val="065F4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Complete Series Summary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256032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207008"/>
            <a:ext cx="2084832" cy="3584448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07008"/>
            <a:ext cx="2084832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07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719072"/>
            <a:ext cx="1847088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Temperature: 0 = deterministic, 2.0 = creative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Text, Image, Multimodal prompt types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Static prompts vs dynamic templates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Research Assistant use-case demo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42032" y="1207008"/>
            <a:ext cx="2084832" cy="3584448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207008"/>
            <a:ext cx="2084832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207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1719072"/>
            <a:ext cx="1847088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PromptTemplate: validation + JSON reuse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Chains with | pipe operator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Rich guidelines in prompt templates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Streamlit UI with controlled inputs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736592" y="1207008"/>
            <a:ext cx="2084832" cy="3584448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207008"/>
            <a:ext cx="2084832" cy="4389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207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64608" y="1719072"/>
            <a:ext cx="1847088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Chat history solves LLM statelessness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SystemMessage, HumanMessage, AIMessage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Typed messages vs plain strings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Full production chatbot pattern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931152" y="1207008"/>
            <a:ext cx="2084832" cy="3584448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31152" y="1207008"/>
            <a:ext cx="2084832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207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 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59168" y="1719072"/>
            <a:ext cx="1847088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ChatPromptTemplate for multi-turn apps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MessagesPlaceholder for session history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Complete end-to-end workflow</a:t>
            </a:r>
            <a:endParaRPr lang="en-US" sz="98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CBD5E1"/>
                </a:solidFill>
              </a:rPr>
              <a:t>Best practices &amp; next-step topics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6111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Next: Explore LangChain Agents, RAG, Vector Stores &amp; Memory Modules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2026-03-14T03:20:29Z</dcterms:created>
  <dcterms:modified xsi:type="dcterms:W3CDTF">2026-03-14T03:20:29Z</dcterms:modified>
</cp:coreProperties>
</file>