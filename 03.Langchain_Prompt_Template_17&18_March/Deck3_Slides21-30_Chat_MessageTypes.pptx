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move 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</a:t>
            </a:r>
            <a:r>
              <a:rPr b="0" lang="en-IN" sz="2000" spc="-1" strike="noStrike">
                <a:latin typeface="Arial"/>
              </a:rPr>
              <a:t>edit the </a:t>
            </a:r>
            <a:r>
              <a:rPr b="0" lang="en-IN" sz="2000" spc="-1" strike="noStrike">
                <a:latin typeface="Arial"/>
              </a:rPr>
              <a:t>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22E08C3-2CC0-4CFC-99C0-3EC7AD1214C5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53F9FA-E63A-465D-B31A-EDC4ADF9C3F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BAC3AB-9F75-48C9-8133-A094C813BA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6D5F75-39C0-43BD-97CD-E6CE781FAFE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C11185-1745-48B1-BF89-D720FF85655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F404E7-0DD1-4F77-9E3E-5D28C5042E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BBB7F1A-FB8F-43FE-99AE-302C273DAF1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2F1403-7857-4C93-9E7F-3E3CF9DDBEC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C278B9-A454-45D0-8D17-58CE77115A9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405218-1809-4F53-AA87-7505E80957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E565BE-AA83-4D88-8D38-D482DD45A8D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libri"/>
              </a:rPr>
              <a:t>Building a Simple Chatbot — The Memory Problem</a:t>
            </a:r>
            <a:endParaRPr b="0" lang="en-IN" sz="2300" spc="-1" strike="noStrike"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21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320040" y="1389960"/>
            <a:ext cx="5028840" cy="2724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320040" y="1389960"/>
            <a:ext cx="5028840" cy="31968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457200" y="13899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</a:rPr>
              <a:t>simple_chatbot.py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1774080"/>
            <a:ext cx="4827600" cy="22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bot = ChatOpenAI()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while True: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user_msg = input("You: 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if user_msg.lower() == "exit":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break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reply = bot.invoke(user_msg)  # No history!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print(f"AI: {reply.content}")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320040" y="4206240"/>
            <a:ext cx="5028840" cy="749520"/>
          </a:xfrm>
          <a:prstGeom prst="rect">
            <a:avLst/>
          </a:prstGeom>
          <a:solidFill>
            <a:srgbClr val="ef444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9"/>
          <p:cNvSpPr/>
          <p:nvPr/>
        </p:nvSpPr>
        <p:spPr>
          <a:xfrm>
            <a:off x="320040" y="4206240"/>
            <a:ext cx="63720" cy="7495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457200" y="4206240"/>
            <a:ext cx="48459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🚫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Problem: No Memory of Previous Messages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Each bot.invoke() call is treated completely independently — the LLM sees only the latest message, not the conversation so far.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5486400" y="1389960"/>
            <a:ext cx="333720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Shape 12"/>
          <p:cNvSpPr/>
          <p:nvPr/>
        </p:nvSpPr>
        <p:spPr>
          <a:xfrm>
            <a:off x="5486400" y="1389960"/>
            <a:ext cx="3337200" cy="3837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3"/>
          <p:cNvSpPr/>
          <p:nvPr/>
        </p:nvSpPr>
        <p:spPr>
          <a:xfrm>
            <a:off x="5596200" y="138996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❌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Without Memory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5596200" y="1883520"/>
            <a:ext cx="2486880" cy="566640"/>
          </a:xfrm>
          <a:prstGeom prst="rect">
            <a:avLst/>
          </a:prstGeom>
          <a:solidFill>
            <a:srgbClr val="dbea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" name="Text 15"/>
          <p:cNvSpPr/>
          <p:nvPr/>
        </p:nvSpPr>
        <p:spPr>
          <a:xfrm>
            <a:off x="5669280" y="1938600"/>
            <a:ext cx="234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You: Hi, my name is Sarah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6144840" y="2597040"/>
            <a:ext cx="2486880" cy="566640"/>
          </a:xfrm>
          <a:prstGeom prst="rect">
            <a:avLst/>
          </a:prstGeom>
          <a:solidFill>
            <a:srgbClr val="f3f4f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Text 17"/>
          <p:cNvSpPr/>
          <p:nvPr/>
        </p:nvSpPr>
        <p:spPr>
          <a:xfrm>
            <a:off x="6217920" y="2651760"/>
            <a:ext cx="234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AI: Hello! How can I help you today?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5596200" y="3310200"/>
            <a:ext cx="2486880" cy="566640"/>
          </a:xfrm>
          <a:prstGeom prst="rect">
            <a:avLst/>
          </a:prstGeom>
          <a:solidFill>
            <a:srgbClr val="dbea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Text 19"/>
          <p:cNvSpPr/>
          <p:nvPr/>
        </p:nvSpPr>
        <p:spPr>
          <a:xfrm>
            <a:off x="5669280" y="3364920"/>
            <a:ext cx="234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You: What's my name?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4" name="Shape 20"/>
          <p:cNvSpPr/>
          <p:nvPr/>
        </p:nvSpPr>
        <p:spPr>
          <a:xfrm>
            <a:off x="6144840" y="4023360"/>
            <a:ext cx="2486880" cy="566640"/>
          </a:xfrm>
          <a:prstGeom prst="rect">
            <a:avLst/>
          </a:prstGeom>
          <a:solidFill>
            <a:srgbClr val="fef2f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Text 21"/>
          <p:cNvSpPr/>
          <p:nvPr/>
        </p:nvSpPr>
        <p:spPr>
          <a:xfrm>
            <a:off x="6217920" y="4078080"/>
            <a:ext cx="234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AI: I'm sorry, I don't know your name.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5532120" y="4736520"/>
            <a:ext cx="324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f4444"/>
                </a:solidFill>
                <a:latin typeface="Calibri"/>
              </a:rPr>
              <a:t>😔 </a:t>
            </a:r>
            <a:r>
              <a:rPr b="0" i="1" lang="en-US" sz="950" spc="-1" strike="noStrike">
                <a:solidFill>
                  <a:srgbClr val="ef4444"/>
                </a:solidFill>
                <a:latin typeface="Calibri"/>
              </a:rPr>
              <a:t>The bot forgets everything between calls!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Solution: Maintain Chat History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22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320040" y="1389960"/>
            <a:ext cx="4899960" cy="5450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5"/>
          <p:cNvSpPr/>
          <p:nvPr/>
        </p:nvSpPr>
        <p:spPr>
          <a:xfrm>
            <a:off x="320040" y="1389960"/>
            <a:ext cx="5028840" cy="31968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6"/>
          <p:cNvSpPr/>
          <p:nvPr/>
        </p:nvSpPr>
        <p:spPr>
          <a:xfrm>
            <a:off x="457200" y="13899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</a:rPr>
              <a:t>chatbot_with_memory.py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457200" y="1774080"/>
            <a:ext cx="482760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bot           = ChatOpenAI()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dialogue_log  = []   # accumulate ALL messages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while True: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user_text = input("You: ")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if user_text.lower() == "exit":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break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# ① Add user message to history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dialogue_log.append(user_text)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# ② Send ENTIRE history to LLM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reply = bot.invoke(dialogue_log)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# ③ Store AI response in history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dialogue_log.append(reply.content)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print(f"AI: {reply.content}")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# ✅ Bot can now reference earlier turns!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5486400" y="1389960"/>
            <a:ext cx="3337200" cy="3181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Shape 9"/>
          <p:cNvSpPr/>
          <p:nvPr/>
        </p:nvSpPr>
        <p:spPr>
          <a:xfrm>
            <a:off x="5486400" y="1389960"/>
            <a:ext cx="3337200" cy="3837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0"/>
          <p:cNvSpPr/>
          <p:nvPr/>
        </p:nvSpPr>
        <p:spPr>
          <a:xfrm>
            <a:off x="5596200" y="138996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With Memory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5596200" y="1883520"/>
            <a:ext cx="2486880" cy="529920"/>
          </a:xfrm>
          <a:prstGeom prst="rect">
            <a:avLst/>
          </a:prstGeom>
          <a:solidFill>
            <a:srgbClr val="dbea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Text 12"/>
          <p:cNvSpPr/>
          <p:nvPr/>
        </p:nvSpPr>
        <p:spPr>
          <a:xfrm>
            <a:off x="5669280" y="1929240"/>
            <a:ext cx="2340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You: Hi, my name is Sarah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6144840" y="2541960"/>
            <a:ext cx="2486880" cy="529920"/>
          </a:xfrm>
          <a:prstGeom prst="rect">
            <a:avLst/>
          </a:prstGeom>
          <a:solidFill>
            <a:srgbClr val="dcfce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Text 14"/>
          <p:cNvSpPr/>
          <p:nvPr/>
        </p:nvSpPr>
        <p:spPr>
          <a:xfrm>
            <a:off x="6217920" y="2587680"/>
            <a:ext cx="2340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AI: Hello Sarah! How can I help you?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5596200" y="3200400"/>
            <a:ext cx="2486880" cy="529920"/>
          </a:xfrm>
          <a:prstGeom prst="rect">
            <a:avLst/>
          </a:prstGeom>
          <a:solidFill>
            <a:srgbClr val="dbea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Text 16"/>
          <p:cNvSpPr/>
          <p:nvPr/>
        </p:nvSpPr>
        <p:spPr>
          <a:xfrm>
            <a:off x="5669280" y="3246120"/>
            <a:ext cx="2340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You: What's my name?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6144840" y="3858840"/>
            <a:ext cx="2486880" cy="529920"/>
          </a:xfrm>
          <a:prstGeom prst="rect">
            <a:avLst/>
          </a:prstGeom>
          <a:solidFill>
            <a:srgbClr val="dcfce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Text 18"/>
          <p:cNvSpPr/>
          <p:nvPr/>
        </p:nvSpPr>
        <p:spPr>
          <a:xfrm>
            <a:off x="6217920" y="3904560"/>
            <a:ext cx="2340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</a:rPr>
              <a:t>AI: Your name is Sarah! 😊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5532120" y="4626720"/>
            <a:ext cx="3245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0b981"/>
                </a:solidFill>
                <a:latin typeface="Calibri"/>
              </a:rPr>
              <a:t>😊 </a:t>
            </a:r>
            <a:r>
              <a:rPr b="0" i="1" lang="en-US" sz="950" spc="-1" strike="noStrike">
                <a:solidFill>
                  <a:srgbClr val="10b981"/>
                </a:solidFill>
                <a:latin typeface="Calibri"/>
              </a:rPr>
              <a:t>Bot remembers the entire conversation!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360000" y="648000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Key: Send the FULL dialogue_log list with every invoke() call — LLMs are stateless, the app provides the context.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Three Message Types in LangChain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23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320040" y="1389960"/>
            <a:ext cx="8503560" cy="438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5"/>
          <p:cNvSpPr/>
          <p:nvPr/>
        </p:nvSpPr>
        <p:spPr>
          <a:xfrm>
            <a:off x="411480" y="1389960"/>
            <a:ext cx="8320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ffffff"/>
                </a:solidFill>
                <a:latin typeface="Calibri"/>
              </a:rPr>
              <a:t>Typed message objects replace plain strings — they tell the LLM exactly who said what in the conversation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292680" y="1938600"/>
            <a:ext cx="2788560" cy="3108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" name="Shape 7"/>
          <p:cNvSpPr/>
          <p:nvPr/>
        </p:nvSpPr>
        <p:spPr>
          <a:xfrm>
            <a:off x="292680" y="1938600"/>
            <a:ext cx="2788560" cy="51156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8"/>
          <p:cNvSpPr/>
          <p:nvPr/>
        </p:nvSpPr>
        <p:spPr>
          <a:xfrm>
            <a:off x="402480" y="193860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⚙️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SystemMessage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402480" y="2523600"/>
            <a:ext cx="2633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</a:rPr>
              <a:t>Sets the AI's persona, rules, and behaviour constraints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402480" y="2944440"/>
            <a:ext cx="2633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1d4ed8"/>
                </a:solidFill>
                <a:latin typeface="Calibri"/>
              </a:rPr>
              <a:t>🕐 </a:t>
            </a:r>
            <a:r>
              <a:rPr b="1" lang="en-US" sz="950" spc="-1" strike="noStrike">
                <a:solidFill>
                  <a:srgbClr val="1d4ed8"/>
                </a:solidFill>
                <a:latin typeface="Calibri"/>
              </a:rPr>
              <a:t>Used once at the very start of the conversation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402480" y="3310200"/>
            <a:ext cx="263304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2"/>
          <p:cNvSpPr/>
          <p:nvPr/>
        </p:nvSpPr>
        <p:spPr>
          <a:xfrm>
            <a:off x="457200" y="3310200"/>
            <a:ext cx="2486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"You are a helpful medical assistant"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1" name="Shape 13"/>
          <p:cNvSpPr/>
          <p:nvPr/>
        </p:nvSpPr>
        <p:spPr>
          <a:xfrm>
            <a:off x="402480" y="3785760"/>
            <a:ext cx="263304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4"/>
          <p:cNvSpPr/>
          <p:nvPr/>
        </p:nvSpPr>
        <p:spPr>
          <a:xfrm>
            <a:off x="457200" y="3785760"/>
            <a:ext cx="2486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"Reply only in formal English"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3" name="Shape 15"/>
          <p:cNvSpPr/>
          <p:nvPr/>
        </p:nvSpPr>
        <p:spPr>
          <a:xfrm>
            <a:off x="402480" y="4260960"/>
            <a:ext cx="263304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6"/>
          <p:cNvSpPr/>
          <p:nvPr/>
        </p:nvSpPr>
        <p:spPr>
          <a:xfrm>
            <a:off x="457200" y="4260960"/>
            <a:ext cx="2486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"You are an expert Python developer"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3237120" y="1938600"/>
            <a:ext cx="2788560" cy="3108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Shape 18"/>
          <p:cNvSpPr/>
          <p:nvPr/>
        </p:nvSpPr>
        <p:spPr>
          <a:xfrm>
            <a:off x="3237120" y="1938600"/>
            <a:ext cx="2788560" cy="51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9"/>
          <p:cNvSpPr/>
          <p:nvPr/>
        </p:nvSpPr>
        <p:spPr>
          <a:xfrm>
            <a:off x="3346560" y="193860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👤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HumanMessage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3346560" y="2523600"/>
            <a:ext cx="2633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</a:rPr>
              <a:t>Represents each user input — questions or instructions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3346560" y="2944440"/>
            <a:ext cx="2633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0d9488"/>
                </a:solidFill>
                <a:latin typeface="Calibri"/>
              </a:rPr>
              <a:t>🕐 </a:t>
            </a:r>
            <a:r>
              <a:rPr b="1" lang="en-US" sz="950" spc="-1" strike="noStrike">
                <a:solidFill>
                  <a:srgbClr val="0d9488"/>
                </a:solidFill>
                <a:latin typeface="Calibri"/>
              </a:rPr>
              <a:t>Created for every turn the user speaks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0" name="Shape 22"/>
          <p:cNvSpPr/>
          <p:nvPr/>
        </p:nvSpPr>
        <p:spPr>
          <a:xfrm>
            <a:off x="3346560" y="3310200"/>
            <a:ext cx="263304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23"/>
          <p:cNvSpPr/>
          <p:nvPr/>
        </p:nvSpPr>
        <p:spPr>
          <a:xfrm>
            <a:off x="3401640" y="3310200"/>
            <a:ext cx="2486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"Explain photosynthesis"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12" name="Shape 24"/>
          <p:cNvSpPr/>
          <p:nvPr/>
        </p:nvSpPr>
        <p:spPr>
          <a:xfrm>
            <a:off x="3346560" y="3785760"/>
            <a:ext cx="263304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25"/>
          <p:cNvSpPr/>
          <p:nvPr/>
        </p:nvSpPr>
        <p:spPr>
          <a:xfrm>
            <a:off x="3401640" y="3785760"/>
            <a:ext cx="2486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"Summarise the BERT paper"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14" name="Shape 26"/>
          <p:cNvSpPr/>
          <p:nvPr/>
        </p:nvSpPr>
        <p:spPr>
          <a:xfrm>
            <a:off x="3346560" y="4260960"/>
            <a:ext cx="263304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27"/>
          <p:cNvSpPr/>
          <p:nvPr/>
        </p:nvSpPr>
        <p:spPr>
          <a:xfrm>
            <a:off x="3401640" y="4260960"/>
            <a:ext cx="2486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"Debug this Python code"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16" name="Shape 28"/>
          <p:cNvSpPr/>
          <p:nvPr/>
        </p:nvSpPr>
        <p:spPr>
          <a:xfrm>
            <a:off x="6181200" y="1938600"/>
            <a:ext cx="2788560" cy="3108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7" name="Shape 29"/>
          <p:cNvSpPr/>
          <p:nvPr/>
        </p:nvSpPr>
        <p:spPr>
          <a:xfrm>
            <a:off x="6181200" y="1938600"/>
            <a:ext cx="2788560" cy="5115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30"/>
          <p:cNvSpPr/>
          <p:nvPr/>
        </p:nvSpPr>
        <p:spPr>
          <a:xfrm>
            <a:off x="6291000" y="1938600"/>
            <a:ext cx="263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🤖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AIMessage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19" name="Text 31"/>
          <p:cNvSpPr/>
          <p:nvPr/>
        </p:nvSpPr>
        <p:spPr>
          <a:xfrm>
            <a:off x="6291000" y="2523600"/>
            <a:ext cx="2633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</a:rPr>
              <a:t>Stores the model's responses for ongoing context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0" name="Text 32"/>
          <p:cNvSpPr/>
          <p:nvPr/>
        </p:nvSpPr>
        <p:spPr>
          <a:xfrm>
            <a:off x="6291000" y="2944440"/>
            <a:ext cx="2633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7c3aed"/>
                </a:solidFill>
                <a:latin typeface="Calibri"/>
              </a:rPr>
              <a:t>🕐 </a:t>
            </a:r>
            <a:r>
              <a:rPr b="1" lang="en-US" sz="950" spc="-1" strike="noStrike">
                <a:solidFill>
                  <a:srgbClr val="7c3aed"/>
                </a:solidFill>
                <a:latin typeface="Calibri"/>
              </a:rPr>
              <a:t>Appended after every AI reply to maintain history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21" name="Shape 33"/>
          <p:cNvSpPr/>
          <p:nvPr/>
        </p:nvSpPr>
        <p:spPr>
          <a:xfrm>
            <a:off x="6291000" y="3310200"/>
            <a:ext cx="263304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34"/>
          <p:cNvSpPr/>
          <p:nvPr/>
        </p:nvSpPr>
        <p:spPr>
          <a:xfrm>
            <a:off x="6346080" y="3310200"/>
            <a:ext cx="2486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"Photosynthesis is the process by..."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23" name="Shape 35"/>
          <p:cNvSpPr/>
          <p:nvPr/>
        </p:nvSpPr>
        <p:spPr>
          <a:xfrm>
            <a:off x="6291000" y="3785760"/>
            <a:ext cx="263304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6"/>
          <p:cNvSpPr/>
          <p:nvPr/>
        </p:nvSpPr>
        <p:spPr>
          <a:xfrm>
            <a:off x="6346080" y="3785760"/>
            <a:ext cx="2486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"BERT stands for Bidirectional..."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25" name="Shape 37"/>
          <p:cNvSpPr/>
          <p:nvPr/>
        </p:nvSpPr>
        <p:spPr>
          <a:xfrm>
            <a:off x="6291000" y="4260960"/>
            <a:ext cx="263304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38"/>
          <p:cNvSpPr/>
          <p:nvPr/>
        </p:nvSpPr>
        <p:spPr>
          <a:xfrm>
            <a:off x="6346080" y="4260960"/>
            <a:ext cx="2486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"The error on line 3 is..."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Why Typed Messages Beat Plain Strings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24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292680" y="1389960"/>
            <a:ext cx="413280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2" name="Shape 5"/>
          <p:cNvSpPr/>
          <p:nvPr/>
        </p:nvSpPr>
        <p:spPr>
          <a:xfrm>
            <a:off x="292680" y="1389960"/>
            <a:ext cx="4132800" cy="43848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6"/>
          <p:cNvSpPr/>
          <p:nvPr/>
        </p:nvSpPr>
        <p:spPr>
          <a:xfrm>
            <a:off x="411480" y="1389960"/>
            <a:ext cx="3949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Plain String History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384120" y="1901880"/>
            <a:ext cx="3977280" cy="18100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8"/>
          <p:cNvSpPr/>
          <p:nvPr/>
        </p:nvSpPr>
        <p:spPr>
          <a:xfrm>
            <a:off x="475560" y="1938600"/>
            <a:ext cx="382176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 = []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history.append("Hi, I'm Alex")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history.append("Hello, how can I help?")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history.append("What's my name?")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history.append("I don't know your name.")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LLM can't tell who said what!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411480" y="3794760"/>
            <a:ext cx="391320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LLM cannot distinguish user from AI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No role information is conveyed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Ambiguous in multi-turn scenarios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Breaks role-play and system-level constraints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4718160" y="1389960"/>
            <a:ext cx="413280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Shape 11"/>
          <p:cNvSpPr/>
          <p:nvPr/>
        </p:nvSpPr>
        <p:spPr>
          <a:xfrm>
            <a:off x="4718160" y="1389960"/>
            <a:ext cx="4132800" cy="43848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12"/>
          <p:cNvSpPr/>
          <p:nvPr/>
        </p:nvSpPr>
        <p:spPr>
          <a:xfrm>
            <a:off x="4827960" y="1389960"/>
            <a:ext cx="3949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Typed Message History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4809600" y="1901880"/>
            <a:ext cx="3977280" cy="18100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4"/>
          <p:cNvSpPr/>
          <p:nvPr/>
        </p:nvSpPr>
        <p:spPr>
          <a:xfrm>
            <a:off x="4901040" y="1938600"/>
            <a:ext cx="382176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 = [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SystemMessage("You are a helpful assistant"),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HumanMessage("Hi, I'm Alex"),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AIMessage("Hello Alex, how can I help?"),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HumanMessage("What's my name?"),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LLM knows exactly who said what!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4846320" y="3794760"/>
            <a:ext cx="391320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Each message has a clear role label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LLM respects system-level instructions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Proper multi-turn context maintained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Consistent with how APIs expect input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Using Message Types in Code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25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320040" y="1389960"/>
            <a:ext cx="5079960" cy="4550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Shape 5"/>
          <p:cNvSpPr/>
          <p:nvPr/>
        </p:nvSpPr>
        <p:spPr>
          <a:xfrm>
            <a:off x="320040" y="1389960"/>
            <a:ext cx="5074560" cy="31968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6"/>
          <p:cNvSpPr/>
          <p:nvPr/>
        </p:nvSpPr>
        <p:spPr>
          <a:xfrm>
            <a:off x="457200" y="13899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</a:rPr>
              <a:t>typed_messages_demo.py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457200" y="1774080"/>
            <a:ext cx="4864320" cy="31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langchain_core.messages import (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SystemMessage, HumanMessage, AIMessage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ai_bot = ChatOpenAI()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Build an initial conversation with context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dialogue = [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SystemMessage(content="You are a helpful AI tutor"),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HumanMessage(content="Tell me about LangChain"),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AIMessage(content="LangChain is a framework for 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"building LLM-powered applications..."),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HumanMessage(content="What are its key features?"),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Send full typed history to LLM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response = ai_bot.invoke(dialogue)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Store response with its label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dialogue.append(AIMessage(content=response.content))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print(dialogue)   # All messages properly labelled!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5577840" y="138996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</a:rPr>
              <a:t>Message flow in dialogue list: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5577840" y="1828800"/>
            <a:ext cx="3245760" cy="43848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10"/>
          <p:cNvSpPr/>
          <p:nvPr/>
        </p:nvSpPr>
        <p:spPr>
          <a:xfrm>
            <a:off x="5577840" y="1828800"/>
            <a:ext cx="54360" cy="43848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1"/>
          <p:cNvSpPr/>
          <p:nvPr/>
        </p:nvSpPr>
        <p:spPr>
          <a:xfrm>
            <a:off x="5687640" y="1828800"/>
            <a:ext cx="1645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</a:rPr>
              <a:t>SystemMessage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7296840" y="182880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Sets AI persona once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6236280" y="2267640"/>
            <a:ext cx="36360" cy="1094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Shape 14"/>
          <p:cNvSpPr/>
          <p:nvPr/>
        </p:nvSpPr>
        <p:spPr>
          <a:xfrm>
            <a:off x="5577840" y="2359080"/>
            <a:ext cx="3245760" cy="43848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Shape 15"/>
          <p:cNvSpPr/>
          <p:nvPr/>
        </p:nvSpPr>
        <p:spPr>
          <a:xfrm>
            <a:off x="5577840" y="2359080"/>
            <a:ext cx="54360" cy="438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6"/>
          <p:cNvSpPr/>
          <p:nvPr/>
        </p:nvSpPr>
        <p:spPr>
          <a:xfrm>
            <a:off x="5687640" y="2359080"/>
            <a:ext cx="1645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</a:rPr>
              <a:t>HumanMessage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7296840" y="235908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First user question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6236280" y="2797920"/>
            <a:ext cx="36360" cy="1094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Shape 19"/>
          <p:cNvSpPr/>
          <p:nvPr/>
        </p:nvSpPr>
        <p:spPr>
          <a:xfrm>
            <a:off x="5577840" y="2889360"/>
            <a:ext cx="3245760" cy="43848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Shape 20"/>
          <p:cNvSpPr/>
          <p:nvPr/>
        </p:nvSpPr>
        <p:spPr>
          <a:xfrm>
            <a:off x="5577840" y="2889360"/>
            <a:ext cx="54360" cy="4384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21"/>
          <p:cNvSpPr/>
          <p:nvPr/>
        </p:nvSpPr>
        <p:spPr>
          <a:xfrm>
            <a:off x="5687640" y="2889360"/>
            <a:ext cx="1645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</a:rPr>
              <a:t>AIMessage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5" name="Text 22"/>
          <p:cNvSpPr/>
          <p:nvPr/>
        </p:nvSpPr>
        <p:spPr>
          <a:xfrm>
            <a:off x="7296840" y="288936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AI's first reply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6" name="Shape 23"/>
          <p:cNvSpPr/>
          <p:nvPr/>
        </p:nvSpPr>
        <p:spPr>
          <a:xfrm>
            <a:off x="6236280" y="3328560"/>
            <a:ext cx="36360" cy="1094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24"/>
          <p:cNvSpPr/>
          <p:nvPr/>
        </p:nvSpPr>
        <p:spPr>
          <a:xfrm>
            <a:off x="5577840" y="3420000"/>
            <a:ext cx="3245760" cy="43848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8" name="Shape 25"/>
          <p:cNvSpPr/>
          <p:nvPr/>
        </p:nvSpPr>
        <p:spPr>
          <a:xfrm>
            <a:off x="5577840" y="3420000"/>
            <a:ext cx="54360" cy="438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6"/>
          <p:cNvSpPr/>
          <p:nvPr/>
        </p:nvSpPr>
        <p:spPr>
          <a:xfrm>
            <a:off x="5687640" y="3420000"/>
            <a:ext cx="1645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</a:rPr>
              <a:t>HumanMessage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Text 27"/>
          <p:cNvSpPr/>
          <p:nvPr/>
        </p:nvSpPr>
        <p:spPr>
          <a:xfrm>
            <a:off x="7296840" y="342000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Follow-up question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1" name="Shape 28"/>
          <p:cNvSpPr/>
          <p:nvPr/>
        </p:nvSpPr>
        <p:spPr>
          <a:xfrm>
            <a:off x="6236280" y="3858840"/>
            <a:ext cx="36360" cy="1094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Shape 29"/>
          <p:cNvSpPr/>
          <p:nvPr/>
        </p:nvSpPr>
        <p:spPr>
          <a:xfrm>
            <a:off x="5577840" y="3950280"/>
            <a:ext cx="3245760" cy="438480"/>
          </a:xfrm>
          <a:prstGeom prst="rect">
            <a:avLst/>
          </a:prstGeom>
          <a:solidFill>
            <a:srgbClr val="f59e0b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3" name="Shape 30"/>
          <p:cNvSpPr/>
          <p:nvPr/>
        </p:nvSpPr>
        <p:spPr>
          <a:xfrm>
            <a:off x="5577840" y="3950280"/>
            <a:ext cx="54360" cy="4384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31"/>
          <p:cNvSpPr/>
          <p:nvPr/>
        </p:nvSpPr>
        <p:spPr>
          <a:xfrm>
            <a:off x="5687640" y="3950280"/>
            <a:ext cx="1645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</a:rPr>
              <a:t>→ </a:t>
            </a:r>
            <a:r>
              <a:rPr b="1" lang="en-US" sz="1050" spc="-1" strike="noStrike">
                <a:solidFill>
                  <a:srgbClr val="1e293b"/>
                </a:solidFill>
                <a:latin typeface="Calibri"/>
              </a:rPr>
              <a:t>invoke()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5" name="Text 32"/>
          <p:cNvSpPr/>
          <p:nvPr/>
        </p:nvSpPr>
        <p:spPr>
          <a:xfrm>
            <a:off x="7296840" y="395028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Full list sent to LLM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6" name="Shape 33"/>
          <p:cNvSpPr/>
          <p:nvPr/>
        </p:nvSpPr>
        <p:spPr>
          <a:xfrm>
            <a:off x="6236280" y="4389120"/>
            <a:ext cx="36360" cy="1094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34"/>
          <p:cNvSpPr/>
          <p:nvPr/>
        </p:nvSpPr>
        <p:spPr>
          <a:xfrm>
            <a:off x="5577840" y="4480560"/>
            <a:ext cx="3245760" cy="438480"/>
          </a:xfrm>
          <a:prstGeom prst="rect">
            <a:avLst/>
          </a:prstGeom>
          <a:solidFill>
            <a:srgbClr val="10b981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35"/>
          <p:cNvSpPr/>
          <p:nvPr/>
        </p:nvSpPr>
        <p:spPr>
          <a:xfrm>
            <a:off x="5577840" y="4480560"/>
            <a:ext cx="54360" cy="43848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36"/>
          <p:cNvSpPr/>
          <p:nvPr/>
        </p:nvSpPr>
        <p:spPr>
          <a:xfrm>
            <a:off x="5687640" y="4480560"/>
            <a:ext cx="1645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</a:rPr>
              <a:t>AIMessage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0" name="Text 37"/>
          <p:cNvSpPr/>
          <p:nvPr/>
        </p:nvSpPr>
        <p:spPr>
          <a:xfrm>
            <a:off x="7296840" y="448056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New reply appended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Production Chatbot with Typed Message Labels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26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5" name="Shape 4"/>
          <p:cNvSpPr/>
          <p:nvPr/>
        </p:nvSpPr>
        <p:spPr>
          <a:xfrm>
            <a:off x="320040" y="1389960"/>
            <a:ext cx="8499960" cy="5090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Shape 5"/>
          <p:cNvSpPr/>
          <p:nvPr/>
        </p:nvSpPr>
        <p:spPr>
          <a:xfrm>
            <a:off x="320040" y="1389960"/>
            <a:ext cx="8503560" cy="31968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6"/>
          <p:cNvSpPr/>
          <p:nvPr/>
        </p:nvSpPr>
        <p:spPr>
          <a:xfrm>
            <a:off x="457200" y="13899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</a:rPr>
              <a:t>production_chatbot.py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457200" y="1774080"/>
            <a:ext cx="8302320" cy="31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langchain_core.messages import SystemMessage, HumanMessage, AIMessage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from dotenv import load_dotenv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load_dotenv()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ai_engine   = ChatOpenAI(model="gpt-4o-mini", temperature=0.7)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SYSTEM_ROLE = "You are a knowledgeable and friendly AI assistant"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# Initialise conversation with system persona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 = [SystemMessage(content=SYSTEM_ROLE)]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print("Chatbot ready — type 'quit' to exit.\n")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while True: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user_input = input("You: ").strip()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if not user_input: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continue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if user_input.lower() == "quit":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print("Goodbye!")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break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dialogue.append(HumanMessage(content=user_input))   # ① Log user turn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response  = ai_engine.invoke(dialogue)               # ② Full context sent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ai_text   = response.content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dialogue.append(AIMessage(content=ai_text))          # ③ Log AI reply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print(f"AI: {ai_text}\n")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320040" y="5102280"/>
            <a:ext cx="85035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What Gets Sent to the LLM Each Turn?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27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411480" y="138996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Each invoke() call sends the ENTIRE growing conversation — context accumulates with every turn: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292680" y="1847160"/>
            <a:ext cx="2815920" cy="383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6"/>
          <p:cNvSpPr/>
          <p:nvPr/>
        </p:nvSpPr>
        <p:spPr>
          <a:xfrm>
            <a:off x="384120" y="18471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Turn 1 — sends: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365760" y="2304360"/>
            <a:ext cx="2688120" cy="43848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8"/>
          <p:cNvSpPr/>
          <p:nvPr/>
        </p:nvSpPr>
        <p:spPr>
          <a:xfrm>
            <a:off x="365760" y="2304360"/>
            <a:ext cx="54360" cy="43848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9"/>
          <p:cNvSpPr/>
          <p:nvPr/>
        </p:nvSpPr>
        <p:spPr>
          <a:xfrm>
            <a:off x="475560" y="230436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SystemMessage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1892880" y="230436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You are a helpful tutor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365760" y="2834640"/>
            <a:ext cx="2688120" cy="43848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12"/>
          <p:cNvSpPr/>
          <p:nvPr/>
        </p:nvSpPr>
        <p:spPr>
          <a:xfrm>
            <a:off x="365760" y="2834640"/>
            <a:ext cx="54360" cy="438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3"/>
          <p:cNvSpPr/>
          <p:nvPr/>
        </p:nvSpPr>
        <p:spPr>
          <a:xfrm>
            <a:off x="475560" y="283464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1892880" y="283464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What is Python?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3264480" y="1847160"/>
            <a:ext cx="2815920" cy="383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6"/>
          <p:cNvSpPr/>
          <p:nvPr/>
        </p:nvSpPr>
        <p:spPr>
          <a:xfrm>
            <a:off x="3355920" y="18471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Turn 2 — sends: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Shape 17"/>
          <p:cNvSpPr/>
          <p:nvPr/>
        </p:nvSpPr>
        <p:spPr>
          <a:xfrm>
            <a:off x="3337560" y="2304360"/>
            <a:ext cx="2688120" cy="43848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18"/>
          <p:cNvSpPr/>
          <p:nvPr/>
        </p:nvSpPr>
        <p:spPr>
          <a:xfrm>
            <a:off x="3337560" y="2304360"/>
            <a:ext cx="54360" cy="43848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9"/>
          <p:cNvSpPr/>
          <p:nvPr/>
        </p:nvSpPr>
        <p:spPr>
          <a:xfrm>
            <a:off x="3447360" y="230436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SystemMessage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4864680" y="230436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You are a helpful tutor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1" name="Shape 21"/>
          <p:cNvSpPr/>
          <p:nvPr/>
        </p:nvSpPr>
        <p:spPr>
          <a:xfrm>
            <a:off x="3337560" y="2834640"/>
            <a:ext cx="2688120" cy="43848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Shape 22"/>
          <p:cNvSpPr/>
          <p:nvPr/>
        </p:nvSpPr>
        <p:spPr>
          <a:xfrm>
            <a:off x="3337560" y="2834640"/>
            <a:ext cx="54360" cy="438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23"/>
          <p:cNvSpPr/>
          <p:nvPr/>
        </p:nvSpPr>
        <p:spPr>
          <a:xfrm>
            <a:off x="3447360" y="283464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4864680" y="283464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What is Python?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5" name="Shape 25"/>
          <p:cNvSpPr/>
          <p:nvPr/>
        </p:nvSpPr>
        <p:spPr>
          <a:xfrm>
            <a:off x="3337560" y="3364920"/>
            <a:ext cx="2688120" cy="43848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Shape 26"/>
          <p:cNvSpPr/>
          <p:nvPr/>
        </p:nvSpPr>
        <p:spPr>
          <a:xfrm>
            <a:off x="3337560" y="3364920"/>
            <a:ext cx="54360" cy="4384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27"/>
          <p:cNvSpPr/>
          <p:nvPr/>
        </p:nvSpPr>
        <p:spPr>
          <a:xfrm>
            <a:off x="3447360" y="336492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AIMessage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4864680" y="336492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Python is a programming language...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9" name="Shape 29"/>
          <p:cNvSpPr/>
          <p:nvPr/>
        </p:nvSpPr>
        <p:spPr>
          <a:xfrm>
            <a:off x="3337560" y="3895200"/>
            <a:ext cx="2688120" cy="43848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Shape 30"/>
          <p:cNvSpPr/>
          <p:nvPr/>
        </p:nvSpPr>
        <p:spPr>
          <a:xfrm>
            <a:off x="3337560" y="3895200"/>
            <a:ext cx="54360" cy="438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31"/>
          <p:cNvSpPr/>
          <p:nvPr/>
        </p:nvSpPr>
        <p:spPr>
          <a:xfrm>
            <a:off x="3447360" y="389520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2" name="Text 32"/>
          <p:cNvSpPr/>
          <p:nvPr/>
        </p:nvSpPr>
        <p:spPr>
          <a:xfrm>
            <a:off x="4864680" y="389520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What about libraries?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3" name="Shape 33"/>
          <p:cNvSpPr/>
          <p:nvPr/>
        </p:nvSpPr>
        <p:spPr>
          <a:xfrm>
            <a:off x="6236280" y="1847160"/>
            <a:ext cx="2815920" cy="383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34"/>
          <p:cNvSpPr/>
          <p:nvPr/>
        </p:nvSpPr>
        <p:spPr>
          <a:xfrm>
            <a:off x="6327720" y="18471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Turn 3 — sends: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5" name="Shape 35"/>
          <p:cNvSpPr/>
          <p:nvPr/>
        </p:nvSpPr>
        <p:spPr>
          <a:xfrm>
            <a:off x="6309360" y="2304360"/>
            <a:ext cx="2688120" cy="43848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36"/>
          <p:cNvSpPr/>
          <p:nvPr/>
        </p:nvSpPr>
        <p:spPr>
          <a:xfrm>
            <a:off x="6309360" y="2304360"/>
            <a:ext cx="54360" cy="43848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37"/>
          <p:cNvSpPr/>
          <p:nvPr/>
        </p:nvSpPr>
        <p:spPr>
          <a:xfrm>
            <a:off x="6419160" y="230436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SystemMessage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8" name="Text 38"/>
          <p:cNvSpPr/>
          <p:nvPr/>
        </p:nvSpPr>
        <p:spPr>
          <a:xfrm>
            <a:off x="7836480" y="230436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…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9" name="Shape 39"/>
          <p:cNvSpPr/>
          <p:nvPr/>
        </p:nvSpPr>
        <p:spPr>
          <a:xfrm>
            <a:off x="6309360" y="2834640"/>
            <a:ext cx="2688120" cy="43848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40"/>
          <p:cNvSpPr/>
          <p:nvPr/>
        </p:nvSpPr>
        <p:spPr>
          <a:xfrm>
            <a:off x="6309360" y="2834640"/>
            <a:ext cx="54360" cy="438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41"/>
          <p:cNvSpPr/>
          <p:nvPr/>
        </p:nvSpPr>
        <p:spPr>
          <a:xfrm>
            <a:off x="6419160" y="283464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2" name="Text 42"/>
          <p:cNvSpPr/>
          <p:nvPr/>
        </p:nvSpPr>
        <p:spPr>
          <a:xfrm>
            <a:off x="7836480" y="283464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…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3" name="Shape 43"/>
          <p:cNvSpPr/>
          <p:nvPr/>
        </p:nvSpPr>
        <p:spPr>
          <a:xfrm>
            <a:off x="6309360" y="3364920"/>
            <a:ext cx="2688120" cy="43848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Shape 44"/>
          <p:cNvSpPr/>
          <p:nvPr/>
        </p:nvSpPr>
        <p:spPr>
          <a:xfrm>
            <a:off x="6309360" y="3364920"/>
            <a:ext cx="54360" cy="4384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45"/>
          <p:cNvSpPr/>
          <p:nvPr/>
        </p:nvSpPr>
        <p:spPr>
          <a:xfrm>
            <a:off x="6419160" y="336492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AIMessage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6" name="Text 46"/>
          <p:cNvSpPr/>
          <p:nvPr/>
        </p:nvSpPr>
        <p:spPr>
          <a:xfrm>
            <a:off x="7836480" y="336492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…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7" name="Shape 47"/>
          <p:cNvSpPr/>
          <p:nvPr/>
        </p:nvSpPr>
        <p:spPr>
          <a:xfrm>
            <a:off x="6309360" y="3895200"/>
            <a:ext cx="2688120" cy="43848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48"/>
          <p:cNvSpPr/>
          <p:nvPr/>
        </p:nvSpPr>
        <p:spPr>
          <a:xfrm>
            <a:off x="6309360" y="3895200"/>
            <a:ext cx="54360" cy="438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49"/>
          <p:cNvSpPr/>
          <p:nvPr/>
        </p:nvSpPr>
        <p:spPr>
          <a:xfrm>
            <a:off x="6419160" y="389520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0" name="Text 50"/>
          <p:cNvSpPr/>
          <p:nvPr/>
        </p:nvSpPr>
        <p:spPr>
          <a:xfrm>
            <a:off x="7836480" y="389520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…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1" name="Shape 51"/>
          <p:cNvSpPr/>
          <p:nvPr/>
        </p:nvSpPr>
        <p:spPr>
          <a:xfrm>
            <a:off x="6309360" y="4425840"/>
            <a:ext cx="2688120" cy="43848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52"/>
          <p:cNvSpPr/>
          <p:nvPr/>
        </p:nvSpPr>
        <p:spPr>
          <a:xfrm>
            <a:off x="6309360" y="4425840"/>
            <a:ext cx="54360" cy="4384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53"/>
          <p:cNvSpPr/>
          <p:nvPr/>
        </p:nvSpPr>
        <p:spPr>
          <a:xfrm>
            <a:off x="6419160" y="442584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AIMessage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4" name="Text 54"/>
          <p:cNvSpPr/>
          <p:nvPr/>
        </p:nvSpPr>
        <p:spPr>
          <a:xfrm>
            <a:off x="7836480" y="442584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Libraries include NumPy...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5" name="Shape 55"/>
          <p:cNvSpPr/>
          <p:nvPr/>
        </p:nvSpPr>
        <p:spPr>
          <a:xfrm>
            <a:off x="6309360" y="4956120"/>
            <a:ext cx="2688120" cy="43848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Shape 56"/>
          <p:cNvSpPr/>
          <p:nvPr/>
        </p:nvSpPr>
        <p:spPr>
          <a:xfrm>
            <a:off x="6309360" y="4956120"/>
            <a:ext cx="54360" cy="438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57"/>
          <p:cNvSpPr/>
          <p:nvPr/>
        </p:nvSpPr>
        <p:spPr>
          <a:xfrm>
            <a:off x="6419160" y="4956120"/>
            <a:ext cx="1444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8" name="Text 58"/>
          <p:cNvSpPr/>
          <p:nvPr/>
        </p:nvSpPr>
        <p:spPr>
          <a:xfrm>
            <a:off x="7836480" y="4956120"/>
            <a:ext cx="1115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</a:rPr>
              <a:t>Give me an example?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9" name="Shape 59"/>
          <p:cNvSpPr/>
          <p:nvPr/>
        </p:nvSpPr>
        <p:spPr>
          <a:xfrm>
            <a:off x="6309360" y="4553640"/>
            <a:ext cx="2688120" cy="347040"/>
          </a:xfrm>
          <a:prstGeom prst="rect">
            <a:avLst/>
          </a:prstGeom>
          <a:solidFill>
            <a:srgbClr val="f59e0b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60"/>
          <p:cNvSpPr/>
          <p:nvPr/>
        </p:nvSpPr>
        <p:spPr>
          <a:xfrm>
            <a:off x="6373440" y="45536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59e0b"/>
                </a:solidFill>
                <a:latin typeface="Calibri"/>
              </a:rPr>
              <a:t>Context keeps growing! ↑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1" name="Shape 61"/>
          <p:cNvSpPr/>
          <p:nvPr/>
        </p:nvSpPr>
        <p:spPr>
          <a:xfrm>
            <a:off x="320040" y="4800600"/>
            <a:ext cx="8503560" cy="255600"/>
          </a:xfrm>
          <a:prstGeom prst="rect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62"/>
          <p:cNvSpPr/>
          <p:nvPr/>
        </p:nvSpPr>
        <p:spPr>
          <a:xfrm>
            <a:off x="411480" y="480060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⚠️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Token cost grows each turn. For long conversations consider summarisation strategies to manage context window limits.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PromptTemplate vs ChatPromptTemplate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55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28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7" name="Shape 4"/>
          <p:cNvSpPr/>
          <p:nvPr/>
        </p:nvSpPr>
        <p:spPr>
          <a:xfrm>
            <a:off x="292680" y="1389960"/>
            <a:ext cx="4315680" cy="3584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Shape 5"/>
          <p:cNvSpPr/>
          <p:nvPr/>
        </p:nvSpPr>
        <p:spPr>
          <a:xfrm>
            <a:off x="292680" y="1389960"/>
            <a:ext cx="4315680" cy="4752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6"/>
          <p:cNvSpPr/>
          <p:nvPr/>
        </p:nvSpPr>
        <p:spPr>
          <a:xfrm>
            <a:off x="429840" y="1389960"/>
            <a:ext cx="4132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📝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PromptTemplate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429840" y="1938600"/>
            <a:ext cx="4023000" cy="157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Single-turn messages only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One template string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Simple placeholder substitution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Returns StringPromptValue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Best for one-shot prompts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Use with basic chain: tpl | 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1" name="Shape 8"/>
          <p:cNvSpPr/>
          <p:nvPr/>
        </p:nvSpPr>
        <p:spPr>
          <a:xfrm>
            <a:off x="429840" y="3566160"/>
            <a:ext cx="4023000" cy="12981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9"/>
          <p:cNvSpPr/>
          <p:nvPr/>
        </p:nvSpPr>
        <p:spPr>
          <a:xfrm>
            <a:off x="493920" y="3602880"/>
            <a:ext cx="388584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tpl = PromptTemplate(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template="Summarise {doc}"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= tpl.invoke({"doc":"BERT"})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4883040" y="1389960"/>
            <a:ext cx="4315680" cy="3584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4" name="Shape 11"/>
          <p:cNvSpPr/>
          <p:nvPr/>
        </p:nvSpPr>
        <p:spPr>
          <a:xfrm>
            <a:off x="4883040" y="1389960"/>
            <a:ext cx="4315680" cy="4752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12"/>
          <p:cNvSpPr/>
          <p:nvPr/>
        </p:nvSpPr>
        <p:spPr>
          <a:xfrm>
            <a:off x="5020200" y="1389960"/>
            <a:ext cx="4132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💬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ChatPromptTemplate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5020200" y="1938600"/>
            <a:ext cx="4023000" cy="157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Multi-turn conversation structure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Ordered list of message templates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Dynamic placeholders in any message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Returns ChatPromptValue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Best for chatbots &amp; assistants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Works with chains, agents, tools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7" name="Shape 14"/>
          <p:cNvSpPr/>
          <p:nvPr/>
        </p:nvSpPr>
        <p:spPr>
          <a:xfrm>
            <a:off x="5020200" y="3566160"/>
            <a:ext cx="4023000" cy="12981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15"/>
          <p:cNvSpPr/>
          <p:nvPr/>
        </p:nvSpPr>
        <p:spPr>
          <a:xfrm>
            <a:off x="5083920" y="3602880"/>
            <a:ext cx="388584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tpl = ChatPromptTemplate([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SystemMessage("You are a {role}"),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HumanMessage("Explain {topic}")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= tpl.invoke({...})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69" name="Shape 16"/>
          <p:cNvSpPr/>
          <p:nvPr/>
        </p:nvSpPr>
        <p:spPr>
          <a:xfrm>
            <a:off x="320040" y="5047560"/>
            <a:ext cx="85035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Message Types: Complete Reference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72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29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4" name="Shape 4"/>
          <p:cNvSpPr/>
          <p:nvPr/>
        </p:nvSpPr>
        <p:spPr>
          <a:xfrm>
            <a:off x="320040" y="1389960"/>
            <a:ext cx="8503560" cy="8042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Text 5"/>
          <p:cNvSpPr/>
          <p:nvPr/>
        </p:nvSpPr>
        <p:spPr>
          <a:xfrm>
            <a:off x="457200" y="146304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langchain_core.messages import SystemMessage, HumanMessage, AIMessage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Shape 6"/>
          <p:cNvSpPr/>
          <p:nvPr/>
        </p:nvSpPr>
        <p:spPr>
          <a:xfrm>
            <a:off x="320040" y="2286000"/>
            <a:ext cx="8503560" cy="383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7"/>
          <p:cNvSpPr/>
          <p:nvPr/>
        </p:nvSpPr>
        <p:spPr>
          <a:xfrm>
            <a:off x="457200" y="228600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8" name="Text 8"/>
          <p:cNvSpPr/>
          <p:nvPr/>
        </p:nvSpPr>
        <p:spPr>
          <a:xfrm>
            <a:off x="2084760" y="2286000"/>
            <a:ext cx="1663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Role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Text 9"/>
          <p:cNvSpPr/>
          <p:nvPr/>
        </p:nvSpPr>
        <p:spPr>
          <a:xfrm>
            <a:off x="3913560" y="2286000"/>
            <a:ext cx="1992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When to Use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0" name="Text 10"/>
          <p:cNvSpPr/>
          <p:nvPr/>
        </p:nvSpPr>
        <p:spPr>
          <a:xfrm>
            <a:off x="6053400" y="22860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Example Content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1" name="Shape 11"/>
          <p:cNvSpPr/>
          <p:nvPr/>
        </p:nvSpPr>
        <p:spPr>
          <a:xfrm>
            <a:off x="320040" y="2743200"/>
            <a:ext cx="8503560" cy="585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Shape 12"/>
          <p:cNvSpPr/>
          <p:nvPr/>
        </p:nvSpPr>
        <p:spPr>
          <a:xfrm>
            <a:off x="320040" y="2743200"/>
            <a:ext cx="54360" cy="58500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13"/>
          <p:cNvSpPr/>
          <p:nvPr/>
        </p:nvSpPr>
        <p:spPr>
          <a:xfrm>
            <a:off x="457200" y="2743200"/>
            <a:ext cx="1462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d4ed8"/>
                </a:solidFill>
                <a:latin typeface="Consolas"/>
                <a:ea typeface="Consolas"/>
              </a:rPr>
              <a:t>SystemMessage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Text 14"/>
          <p:cNvSpPr/>
          <p:nvPr/>
        </p:nvSpPr>
        <p:spPr>
          <a:xfrm>
            <a:off x="2084760" y="2743200"/>
            <a:ext cx="16639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Sets AI behaviour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5" name="Text 15"/>
          <p:cNvSpPr/>
          <p:nvPr/>
        </p:nvSpPr>
        <p:spPr>
          <a:xfrm>
            <a:off x="3913560" y="2743200"/>
            <a:ext cx="1992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Once at start of conversation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6" name="Shape 16"/>
          <p:cNvSpPr/>
          <p:nvPr/>
        </p:nvSpPr>
        <p:spPr>
          <a:xfrm>
            <a:off x="6053400" y="2834640"/>
            <a:ext cx="255996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17"/>
          <p:cNvSpPr/>
          <p:nvPr/>
        </p:nvSpPr>
        <p:spPr>
          <a:xfrm>
            <a:off x="6126480" y="2834640"/>
            <a:ext cx="2450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"You are a helpful medical expert"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8" name="Shape 18"/>
          <p:cNvSpPr/>
          <p:nvPr/>
        </p:nvSpPr>
        <p:spPr>
          <a:xfrm>
            <a:off x="320040" y="3401640"/>
            <a:ext cx="8503560" cy="585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Shape 19"/>
          <p:cNvSpPr/>
          <p:nvPr/>
        </p:nvSpPr>
        <p:spPr>
          <a:xfrm>
            <a:off x="320040" y="3401640"/>
            <a:ext cx="54360" cy="585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20"/>
          <p:cNvSpPr/>
          <p:nvPr/>
        </p:nvSpPr>
        <p:spPr>
          <a:xfrm>
            <a:off x="457200" y="3401640"/>
            <a:ext cx="1462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HumanMessage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1" name="Text 21"/>
          <p:cNvSpPr/>
          <p:nvPr/>
        </p:nvSpPr>
        <p:spPr>
          <a:xfrm>
            <a:off x="2084760" y="3401640"/>
            <a:ext cx="16639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User input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2" name="Text 22"/>
          <p:cNvSpPr/>
          <p:nvPr/>
        </p:nvSpPr>
        <p:spPr>
          <a:xfrm>
            <a:off x="3913560" y="3401640"/>
            <a:ext cx="1992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Each time the user speaks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3" name="Shape 23"/>
          <p:cNvSpPr/>
          <p:nvPr/>
        </p:nvSpPr>
        <p:spPr>
          <a:xfrm>
            <a:off x="6053400" y="3493080"/>
            <a:ext cx="255996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24"/>
          <p:cNvSpPr/>
          <p:nvPr/>
        </p:nvSpPr>
        <p:spPr>
          <a:xfrm>
            <a:off x="6126480" y="3493080"/>
            <a:ext cx="2450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"Explain this concept to me"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5" name="Shape 25"/>
          <p:cNvSpPr/>
          <p:nvPr/>
        </p:nvSpPr>
        <p:spPr>
          <a:xfrm>
            <a:off x="320040" y="4060080"/>
            <a:ext cx="8503560" cy="585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Shape 26"/>
          <p:cNvSpPr/>
          <p:nvPr/>
        </p:nvSpPr>
        <p:spPr>
          <a:xfrm>
            <a:off x="320040" y="4060080"/>
            <a:ext cx="54360" cy="5850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27"/>
          <p:cNvSpPr/>
          <p:nvPr/>
        </p:nvSpPr>
        <p:spPr>
          <a:xfrm>
            <a:off x="457200" y="4060080"/>
            <a:ext cx="1462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7c3aed"/>
                </a:solidFill>
                <a:latin typeface="Consolas"/>
                <a:ea typeface="Consolas"/>
              </a:rPr>
              <a:t>AIMessage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8" name="Text 28"/>
          <p:cNvSpPr/>
          <p:nvPr/>
        </p:nvSpPr>
        <p:spPr>
          <a:xfrm>
            <a:off x="2084760" y="4060080"/>
            <a:ext cx="16639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AI response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9" name="Text 29"/>
          <p:cNvSpPr/>
          <p:nvPr/>
        </p:nvSpPr>
        <p:spPr>
          <a:xfrm>
            <a:off x="3913560" y="4060080"/>
            <a:ext cx="1992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After every AI reply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0" name="Shape 30"/>
          <p:cNvSpPr/>
          <p:nvPr/>
        </p:nvSpPr>
        <p:spPr>
          <a:xfrm>
            <a:off x="6053400" y="4151520"/>
            <a:ext cx="2559960" cy="402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31"/>
          <p:cNvSpPr/>
          <p:nvPr/>
        </p:nvSpPr>
        <p:spPr>
          <a:xfrm>
            <a:off x="6126480" y="4151520"/>
            <a:ext cx="2450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"This concept refers to..."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2" name="Shape 32"/>
          <p:cNvSpPr/>
          <p:nvPr/>
        </p:nvSpPr>
        <p:spPr>
          <a:xfrm>
            <a:off x="320040" y="4754880"/>
            <a:ext cx="8503560" cy="255600"/>
          </a:xfrm>
          <a:prstGeom prst="rect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33"/>
          <p:cNvSpPr/>
          <p:nvPr/>
        </p:nvSpPr>
        <p:spPr>
          <a:xfrm>
            <a:off x="411480" y="475488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</a:rPr>
              <a:t>Pattern: [SystemMessage(role)] + [HumanMessage, AIMessage, HumanMessage, ...] — always send the full list to LLM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5943600" y="-914400"/>
            <a:ext cx="5486040" cy="548604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1"/>
          <p:cNvSpPr/>
          <p:nvPr/>
        </p:nvSpPr>
        <p:spPr>
          <a:xfrm>
            <a:off x="7132320" y="2926080"/>
            <a:ext cx="2742840" cy="2742840"/>
          </a:xfrm>
          <a:prstGeom prst="ellipse">
            <a:avLst/>
          </a:prstGeom>
          <a:solidFill>
            <a:srgbClr val="4c1d95">
              <a:alpha val="12000"/>
            </a:srgbClr>
          </a:solidFill>
          <a:ln w="12700">
            <a:solidFill>
              <a:srgbClr val="4c1d95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Shape 2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3"/>
          <p:cNvSpPr/>
          <p:nvPr/>
        </p:nvSpPr>
        <p:spPr>
          <a:xfrm>
            <a:off x="457200" y="109728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78bfa"/>
                </a:solidFill>
                <a:latin typeface="Calibri"/>
                <a:ea typeface="Calibri"/>
              </a:rPr>
              <a:t>Section 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457200" y="1508760"/>
            <a:ext cx="731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Advanced Templates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457200" y="246888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c4b5fd"/>
                </a:solidFill>
                <a:latin typeface="Calibri"/>
                <a:ea typeface="Calibri"/>
              </a:rPr>
              <a:t>&amp; Context Management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310" name="Shape 6"/>
          <p:cNvSpPr/>
          <p:nvPr/>
        </p:nvSpPr>
        <p:spPr>
          <a:xfrm>
            <a:off x="457200" y="3246120"/>
            <a:ext cx="2285640" cy="453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7"/>
          <p:cNvSpPr/>
          <p:nvPr/>
        </p:nvSpPr>
        <p:spPr>
          <a:xfrm>
            <a:off x="457200" y="34016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</a:rPr>
              <a:t>ChatPromptTemplate  •  MessagesPlaceholder  •  Best Practices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2" name="Shape 8"/>
          <p:cNvSpPr/>
          <p:nvPr/>
        </p:nvSpPr>
        <p:spPr>
          <a:xfrm>
            <a:off x="0" y="4773240"/>
            <a:ext cx="9143640" cy="370080"/>
          </a:xfrm>
          <a:prstGeom prst="rect">
            <a:avLst/>
          </a:prstGeom>
          <a:solidFill>
            <a:srgbClr val="0611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9"/>
          <p:cNvSpPr/>
          <p:nvPr/>
        </p:nvSpPr>
        <p:spPr>
          <a:xfrm>
            <a:off x="365760" y="4773240"/>
            <a:ext cx="84121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Coming up: Slides 30–38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2026-03-14T03:18:16Z</dcterms:created>
  <dc:creator>PptxGenJS</dc:creator>
  <dc:description/>
  <dc:language>en-IN</dc:language>
  <cp:lastModifiedBy/>
  <dcterms:modified xsi:type="dcterms:W3CDTF">2026-03-18T19:06:14Z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